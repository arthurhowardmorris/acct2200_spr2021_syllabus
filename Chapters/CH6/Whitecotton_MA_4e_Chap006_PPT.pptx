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5" r:id="rId1"/>
  </p:sldMasterIdLst>
  <p:notesMasterIdLst>
    <p:notesMasterId r:id="rId50"/>
  </p:notesMasterIdLst>
  <p:handoutMasterIdLst>
    <p:handoutMasterId r:id="rId51"/>
  </p:handoutMasterIdLst>
  <p:sldIdLst>
    <p:sldId id="306" r:id="rId2"/>
    <p:sldId id="258" r:id="rId3"/>
    <p:sldId id="259" r:id="rId4"/>
    <p:sldId id="260" r:id="rId5"/>
    <p:sldId id="261" r:id="rId6"/>
    <p:sldId id="262" r:id="rId7"/>
    <p:sldId id="263" r:id="rId8"/>
    <p:sldId id="264" r:id="rId9"/>
    <p:sldId id="266" r:id="rId10"/>
    <p:sldId id="267" r:id="rId11"/>
    <p:sldId id="268" r:id="rId12"/>
    <p:sldId id="269" r:id="rId13"/>
    <p:sldId id="270" r:id="rId14"/>
    <p:sldId id="271" r:id="rId15"/>
    <p:sldId id="272" r:id="rId16"/>
    <p:sldId id="273" r:id="rId17"/>
    <p:sldId id="274" r:id="rId18"/>
    <p:sldId id="30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307" r:id="rId32"/>
    <p:sldId id="289" r:id="rId33"/>
    <p:sldId id="288" r:id="rId34"/>
    <p:sldId id="308" r:id="rId35"/>
    <p:sldId id="290" r:id="rId36"/>
    <p:sldId id="291" r:id="rId37"/>
    <p:sldId id="292" r:id="rId38"/>
    <p:sldId id="293" r:id="rId39"/>
    <p:sldId id="294" r:id="rId40"/>
    <p:sldId id="295" r:id="rId41"/>
    <p:sldId id="296" r:id="rId42"/>
    <p:sldId id="310" r:id="rId43"/>
    <p:sldId id="309" r:id="rId44"/>
    <p:sldId id="299" r:id="rId45"/>
    <p:sldId id="300" r:id="rId46"/>
    <p:sldId id="301" r:id="rId47"/>
    <p:sldId id="302" r:id="rId48"/>
    <p:sldId id="303" r:id="rId49"/>
  </p:sldIdLst>
  <p:sldSz cx="9144000" cy="6858000" type="screen4x3"/>
  <p:notesSz cx="7077075" cy="9363075"/>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36">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2949">
          <p15:clr>
            <a:srgbClr val="A4A3A4"/>
          </p15:clr>
        </p15:guide>
        <p15:guide id="4" pos="2229">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ina S" initials="CS" lastIdx="1" clrIdx="0"/>
  <p:cmAuthor id="2" name="Helen" initials="H" lastIdx="23" clrIdx="1"/>
  <p:cmAuthor id="3" name="Owner" initials="O" lastIdx="44" clrIdx="2"/>
  <p:cmAuthor id="4" name="Ann K Brooks" initials="AKB" lastIdx="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3CC"/>
    <a:srgbClr val="E5E5FF"/>
    <a:srgbClr val="E1E1FF"/>
    <a:srgbClr val="E7A3FF"/>
    <a:srgbClr val="9900CC"/>
    <a:srgbClr val="FFFFCC"/>
    <a:srgbClr val="FFE9BD"/>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55" autoAdjust="0"/>
    <p:restoredTop sz="69184" autoAdjust="0"/>
  </p:normalViewPr>
  <p:slideViewPr>
    <p:cSldViewPr>
      <p:cViewPr varScale="1">
        <p:scale>
          <a:sx n="86" d="100"/>
          <a:sy n="86" d="100"/>
        </p:scale>
        <p:origin x="3456" y="200"/>
      </p:cViewPr>
      <p:guideLst>
        <p:guide orient="horz" pos="2736"/>
        <p:guide pos="2880"/>
      </p:guideLst>
    </p:cSldViewPr>
  </p:slideViewPr>
  <p:outlineViewPr>
    <p:cViewPr>
      <p:scale>
        <a:sx n="33" d="100"/>
        <a:sy n="33" d="100"/>
      </p:scale>
      <p:origin x="0" y="35904"/>
    </p:cViewPr>
  </p:outlineViewPr>
  <p:notesTextViewPr>
    <p:cViewPr>
      <p:scale>
        <a:sx n="125" d="100"/>
        <a:sy n="125" d="100"/>
      </p:scale>
      <p:origin x="0" y="0"/>
    </p:cViewPr>
  </p:notesTextViewPr>
  <p:sorterViewPr>
    <p:cViewPr>
      <p:scale>
        <a:sx n="50" d="100"/>
        <a:sy n="50" d="100"/>
      </p:scale>
      <p:origin x="0" y="0"/>
    </p:cViewPr>
  </p:sorterViewPr>
  <p:notesViewPr>
    <p:cSldViewPr>
      <p:cViewPr>
        <p:scale>
          <a:sx n="50" d="100"/>
          <a:sy n="50" d="100"/>
        </p:scale>
        <p:origin x="3636" y="612"/>
      </p:cViewPr>
      <p:guideLst>
        <p:guide orient="horz" pos="2880"/>
        <p:guide pos="2160"/>
        <p:guide orient="horz" pos="2949"/>
        <p:guide pos="222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3782" name="Text Box 6"/>
          <p:cNvSpPr txBox="1">
            <a:spLocks noChangeArrowheads="1"/>
          </p:cNvSpPr>
          <p:nvPr/>
        </p:nvSpPr>
        <p:spPr bwMode="auto">
          <a:xfrm>
            <a:off x="5740294" y="0"/>
            <a:ext cx="1336781" cy="281218"/>
          </a:xfrm>
          <a:prstGeom prst="rect">
            <a:avLst/>
          </a:prstGeom>
          <a:noFill/>
          <a:ln w="9525">
            <a:noFill/>
            <a:miter lim="800000"/>
            <a:headEnd/>
            <a:tailEnd/>
          </a:ln>
          <a:effectLst/>
        </p:spPr>
        <p:txBody>
          <a:bodyPr lIns="93936" tIns="46968" rIns="93936" bIns="46968">
            <a:spAutoFit/>
          </a:bodyPr>
          <a:lstStyle/>
          <a:p>
            <a:pPr algn="r">
              <a:spcBef>
                <a:spcPct val="50000"/>
              </a:spcBef>
              <a:defRPr/>
            </a:pPr>
            <a:r>
              <a:rPr lang="en-US" sz="1200" dirty="0">
                <a:latin typeface="Verdana" panose="020B0604030504040204" pitchFamily="34" charset="0"/>
              </a:rPr>
              <a:t>1-</a:t>
            </a:r>
            <a:fld id="{429F4DE8-97BF-4536-A244-5A17070E2E89}" type="slidenum">
              <a:rPr lang="en-US" sz="1200">
                <a:latin typeface="Verdana" panose="020B0604030504040204" pitchFamily="34" charset="0"/>
              </a:rPr>
              <a:pPr algn="r">
                <a:spcBef>
                  <a:spcPct val="50000"/>
                </a:spcBef>
                <a:defRPr/>
              </a:pPr>
              <a:t>‹#›</a:t>
            </a:fld>
            <a:endParaRPr lang="en-US" sz="1200" dirty="0">
              <a:latin typeface="Verdana" panose="020B0604030504040204" pitchFamily="34" charset="0"/>
            </a:endParaRPr>
          </a:p>
        </p:txBody>
      </p:sp>
    </p:spTree>
    <p:extLst>
      <p:ext uri="{BB962C8B-B14F-4D97-AF65-F5344CB8AC3E}">
        <p14:creationId xmlns:p14="http://schemas.microsoft.com/office/powerpoint/2010/main" val="11839409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9397"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Box 7"/>
          <p:cNvSpPr txBox="1"/>
          <p:nvPr/>
        </p:nvSpPr>
        <p:spPr>
          <a:xfrm>
            <a:off x="4639416" y="0"/>
            <a:ext cx="2437659" cy="282843"/>
          </a:xfrm>
          <a:prstGeom prst="rect">
            <a:avLst/>
          </a:prstGeom>
          <a:noFill/>
        </p:spPr>
        <p:txBody>
          <a:bodyPr lIns="93936" tIns="46968" rIns="93936" bIns="46968">
            <a:spAutoFit/>
          </a:bodyPr>
          <a:lstStyle/>
          <a:p>
            <a:pPr algn="r">
              <a:defRPr/>
            </a:pPr>
            <a:r>
              <a:rPr lang="en-US" sz="1200" dirty="0">
                <a:latin typeface="Verdana" panose="020B0604030504040204" pitchFamily="34" charset="0"/>
              </a:rPr>
              <a:t>1-</a:t>
            </a:r>
            <a:fld id="{DE4925ED-ED51-4A01-B305-0FEFB3001D7C}" type="slidenum">
              <a:rPr lang="en-US" sz="1200">
                <a:latin typeface="Verdana" panose="020B0604030504040204" pitchFamily="34" charset="0"/>
              </a:rPr>
              <a:pPr algn="r">
                <a:defRPr/>
              </a:pPr>
              <a:t>‹#›</a:t>
            </a:fld>
            <a:endParaRPr lang="en-US" sz="1200" dirty="0">
              <a:latin typeface="Verdana" panose="020B0604030504040204" pitchFamily="34" charset="0"/>
            </a:endParaRPr>
          </a:p>
        </p:txBody>
      </p:sp>
    </p:spTree>
    <p:extLst>
      <p:ext uri="{BB962C8B-B14F-4D97-AF65-F5344CB8AC3E}">
        <p14:creationId xmlns:p14="http://schemas.microsoft.com/office/powerpoint/2010/main" val="352616123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Verdana" panose="020B060403050404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Verdana" panose="020B060403050404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Verdana" panose="020B060403050404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Verdana" panose="020B060403050404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sz="1200" dirty="0">
                <a:latin typeface="Arial" panose="020B0604020202020204" pitchFamily="34" charset="0"/>
                <a:ea typeface="ＭＳ Ｐゴシック"/>
                <a:cs typeface="Arial" panose="020B0604020202020204" pitchFamily="34" charset="0"/>
              </a:rPr>
              <a:t>Chapter 6: Cost-Volume-Profit Analysis</a:t>
            </a:r>
          </a:p>
          <a:p>
            <a:pPr eaLnBrk="1" hangingPunct="1">
              <a:spcBef>
                <a:spcPct val="0"/>
              </a:spcBef>
            </a:pPr>
            <a:endParaRPr lang="en-US" sz="1200" dirty="0">
              <a:latin typeface="Arial" panose="020B0604020202020204" pitchFamily="34" charset="0"/>
              <a:ea typeface="ＭＳ Ｐゴシック"/>
              <a:cs typeface="Arial" panose="020B0604020202020204" pitchFamily="34" charset="0"/>
            </a:endParaRPr>
          </a:p>
          <a:p>
            <a:pPr eaLnBrk="1" hangingPunct="1">
              <a:spcBef>
                <a:spcPct val="0"/>
              </a:spcBef>
            </a:pPr>
            <a:r>
              <a:rPr lang="en-US" sz="1200" dirty="0">
                <a:latin typeface="Arial" panose="020B0604020202020204" pitchFamily="34" charset="0"/>
                <a:cs typeface="Arial" panose="020B0604020202020204" pitchFamily="34" charset="0"/>
              </a:rPr>
              <a:t>Cost-volume-profit (CVP) analysis is a decision-making tool that focuses on the relationship among the volume and mix of units sold, prices, variable costs, fixed costs, and profit. The CVP framework allows managers to evaluate how changing one or more of these key variables will impact profitability, while holding everything else constant.</a:t>
            </a:r>
            <a:endParaRPr lang="en-US" sz="1200" dirty="0">
              <a:latin typeface="Arial" panose="020B0604020202020204" pitchFamily="34" charset="0"/>
              <a:ea typeface="ＭＳ Ｐゴシック"/>
              <a:cs typeface="Arial" panose="020B0604020202020204" pitchFamily="34" charset="0"/>
            </a:endParaRPr>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8968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58404" name="Rectangle 3"/>
          <p:cNvSpPr>
            <a:spLocks noGrp="1" noChangeArrowheads="1"/>
          </p:cNvSpPr>
          <p:nvPr>
            <p:ph type="body" idx="1"/>
          </p:nvPr>
        </p:nvSpPr>
        <p:spPr bwMode="auto">
          <a:ln>
            <a:miter lim="800000"/>
            <a:headEnd/>
            <a:tailEnd/>
          </a:ln>
        </p:spPr>
        <p:txBody>
          <a:bodyPr/>
          <a:lstStyle/>
          <a:p>
            <a:pPr eaLnBrk="1" fontAlgn="auto" hangingPunct="1">
              <a:spcBef>
                <a:spcPts val="0"/>
              </a:spcBef>
              <a:spcAft>
                <a:spcPts val="0"/>
              </a:spcAft>
              <a:defRPr/>
            </a:pPr>
            <a:r>
              <a:rPr lang="en-US" dirty="0">
                <a:cs typeface="Verdana" panose="020B0604030504040204" pitchFamily="34" charset="0"/>
              </a:rPr>
              <a:t>Cost-volume-profit analysis is based on the following assumptions, most of which were introduced in Chapter 5 when we analyzed cost behavior patterns.</a:t>
            </a:r>
          </a:p>
          <a:p>
            <a:pPr marL="234841" indent="-234841" eaLnBrk="1" fontAlgn="auto" hangingPunct="1">
              <a:spcBef>
                <a:spcPts val="0"/>
              </a:spcBef>
              <a:spcAft>
                <a:spcPts val="0"/>
              </a:spcAft>
              <a:buFontTx/>
              <a:buAutoNum type="arabicPeriod"/>
              <a:defRPr/>
            </a:pPr>
            <a:r>
              <a:rPr lang="en-US" dirty="0">
                <a:cs typeface="Verdana" panose="020B0604030504040204" pitchFamily="34" charset="0"/>
              </a:rPr>
              <a:t>Linear cost and revenue functions.  We will use a straight line to approximate the relationship between total cost and sales volume, as well as total revenue and sales volume.</a:t>
            </a:r>
          </a:p>
          <a:p>
            <a:pPr marL="234841" indent="-234841" eaLnBrk="1" fontAlgn="auto" hangingPunct="1">
              <a:spcBef>
                <a:spcPts val="0"/>
              </a:spcBef>
              <a:spcAft>
                <a:spcPts val="0"/>
              </a:spcAft>
              <a:buFontTx/>
              <a:buAutoNum type="arabicPeriod"/>
              <a:defRPr/>
            </a:pPr>
            <a:r>
              <a:rPr lang="en-US" dirty="0">
                <a:cs typeface="Verdana" panose="020B0604030504040204" pitchFamily="34" charset="0"/>
              </a:rPr>
              <a:t>All costs can be classified as either fixed or variable.  For mixed costs, we must determine the total fixed cost and variable cost per unit.  We assume step-fixed costs will remain fixed within the relevant range, though we need to pay attention to the magnitude of our volume adjustment.</a:t>
            </a:r>
          </a:p>
          <a:p>
            <a:pPr marL="234841" indent="-234841" eaLnBrk="1" fontAlgn="auto" hangingPunct="1">
              <a:spcBef>
                <a:spcPts val="0"/>
              </a:spcBef>
              <a:spcAft>
                <a:spcPts val="0"/>
              </a:spcAft>
              <a:buFontTx/>
              <a:buAutoNum type="arabicPeriod"/>
              <a:defRPr/>
            </a:pPr>
            <a:r>
              <a:rPr lang="en-US" dirty="0">
                <a:cs typeface="Verdana" panose="020B0604030504040204" pitchFamily="34" charset="0"/>
              </a:rPr>
              <a:t>Only volume affects total cost and total revenue. We ignore other factors that can affect costs and revenue, such as employee learning curves, productivity gains, and volume discounts for buying in bulk.</a:t>
            </a:r>
          </a:p>
          <a:p>
            <a:pPr marL="234841" indent="-234841" eaLnBrk="1" fontAlgn="auto" hangingPunct="1">
              <a:spcBef>
                <a:spcPts val="0"/>
              </a:spcBef>
              <a:spcAft>
                <a:spcPts val="0"/>
              </a:spcAft>
              <a:buFontTx/>
              <a:buAutoNum type="arabicPeriod"/>
              <a:defRPr/>
            </a:pPr>
            <a:r>
              <a:rPr lang="en-US" dirty="0">
                <a:cs typeface="Verdana" panose="020B0604030504040204" pitchFamily="34" charset="0"/>
              </a:rPr>
              <a:t>Production volume is equal to sales volume. This simplifies the analysis because some costs vary with production while others vary with sales volume. Holding inventory constant also eliminates any differences in operating profit that are due to the costing method used to value inventory for external reporting. This is for convenience more than anything else. </a:t>
            </a:r>
          </a:p>
          <a:p>
            <a:pPr marL="234841" indent="-234841" eaLnBrk="1" fontAlgn="auto" hangingPunct="1">
              <a:spcBef>
                <a:spcPts val="0"/>
              </a:spcBef>
              <a:spcAft>
                <a:spcPts val="0"/>
              </a:spcAft>
              <a:buFontTx/>
              <a:buAutoNum type="arabicPeriod"/>
              <a:defRPr/>
            </a:pPr>
            <a:r>
              <a:rPr lang="en-US" dirty="0">
                <a:cs typeface="Verdana" panose="020B0604030504040204" pitchFamily="34" charset="0"/>
              </a:rPr>
              <a:t>Constant product mix. For companies that sell multiple products and services, we assume that the relative proportion of units sold or sales revenue generated by each product or service line remains constant. This is an assumption we can relax and analyze later.</a:t>
            </a:r>
            <a:endParaRPr lang="en-US" dirty="0">
              <a:ea typeface="ＭＳ Ｐゴシック" pitchFamily="40" charset="-128"/>
              <a:cs typeface="Verdana" panose="020B0604030504040204" pitchFamily="34" charset="0"/>
            </a:endParaRPr>
          </a:p>
        </p:txBody>
      </p:sp>
    </p:spTree>
    <p:extLst>
      <p:ext uri="{BB962C8B-B14F-4D97-AF65-F5344CB8AC3E}">
        <p14:creationId xmlns:p14="http://schemas.microsoft.com/office/powerpoint/2010/main" val="1804800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To illustrate, let’s start with a simple but unrealistic scenario in which Starbucks sells only one type and size of coffee. Assume the price is $2.50 per unit and variable costs are $1.00 per unit. Recall from Chapter 5 that variable costs, such as the cost of coffee beans and supplies, increase in direct proportion to the number of units produced or customers served. Fixed costs are $12,000 per month, including rent, insurance, equipment depreciation, salaries, and other costs that must be paid each month regardless of the number of customers served.</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This data implies a series of curves. Lets plot them.</a:t>
            </a:r>
          </a:p>
        </p:txBody>
      </p:sp>
    </p:spTree>
    <p:extLst>
      <p:ext uri="{BB962C8B-B14F-4D97-AF65-F5344CB8AC3E}">
        <p14:creationId xmlns:p14="http://schemas.microsoft.com/office/powerpoint/2010/main" val="591882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p:txBody>
          <a:bodyPr>
            <a:normAutofit fontScale="92500"/>
          </a:bodyPr>
          <a:lstStyle/>
          <a:p>
            <a:pPr eaLnBrk="1" fontAlgn="auto" hangingPunct="1">
              <a:spcBef>
                <a:spcPts val="0"/>
              </a:spcBef>
              <a:spcAft>
                <a:spcPts val="0"/>
              </a:spcAft>
              <a:defRPr/>
            </a:pPr>
            <a:r>
              <a:rPr lang="en-US" dirty="0">
                <a:latin typeface="Arial" panose="020B0604020202020204" pitchFamily="34" charset="0"/>
                <a:cs typeface="Arial" panose="020B0604020202020204" pitchFamily="34" charset="0"/>
              </a:rPr>
              <a:t>A cost-volume-profit graph, or CVP graph, provides a visual representation of the relationship between total revenue, total costs, volume, and profit. In this graph we have plotted total revenue on the vertical axis and volume in units on the horizontal axis. </a:t>
            </a:r>
          </a:p>
          <a:p>
            <a:pPr eaLnBrk="1" fontAlgn="auto" hangingPunct="1">
              <a:spcBef>
                <a:spcPts val="0"/>
              </a:spcBef>
              <a:spcAft>
                <a:spcPts val="0"/>
              </a:spcAft>
              <a:defRPr/>
            </a:pPr>
            <a:endParaRPr lang="en-US" dirty="0">
              <a:latin typeface="Arial" panose="020B0604020202020204" pitchFamily="34" charset="0"/>
              <a:cs typeface="Arial" panose="020B0604020202020204" pitchFamily="34" charset="0"/>
            </a:endParaRPr>
          </a:p>
          <a:p>
            <a:pPr eaLnBrk="1" fontAlgn="auto" hangingPunct="1">
              <a:spcBef>
                <a:spcPts val="0"/>
              </a:spcBef>
              <a:spcAft>
                <a:spcPts val="0"/>
              </a:spcAft>
              <a:defRPr/>
            </a:pPr>
            <a:r>
              <a:rPr lang="en-US" dirty="0">
                <a:latin typeface="Arial" panose="020B0604020202020204" pitchFamily="34" charset="0"/>
                <a:cs typeface="Arial" panose="020B0604020202020204" pitchFamily="34" charset="0"/>
              </a:rPr>
              <a:t>The total revenue (blue) line is based on the number of units sold multiplied by the unit sales price ($2.50). A higher unit sales price will result in a steeper total revenue line. </a:t>
            </a:r>
          </a:p>
          <a:p>
            <a:pPr eaLnBrk="1" fontAlgn="auto" hangingPunct="1">
              <a:spcBef>
                <a:spcPts val="0"/>
              </a:spcBef>
              <a:spcAft>
                <a:spcPts val="0"/>
              </a:spcAft>
              <a:defRPr/>
            </a:pPr>
            <a:endParaRPr lang="en-US" dirty="0">
              <a:cs typeface="Verdana" panose="020B0604030504040204" pitchFamily="34" charset="0"/>
            </a:endParaRPr>
          </a:p>
          <a:p>
            <a:pPr eaLnBrk="1" fontAlgn="auto" hangingPunct="1">
              <a:spcBef>
                <a:spcPts val="0"/>
              </a:spcBef>
              <a:spcAft>
                <a:spcPts val="0"/>
              </a:spcAft>
              <a:defRPr/>
            </a:pPr>
            <a:r>
              <a:rPr lang="en-US" dirty="0">
                <a:cs typeface="Verdana" panose="020B0604030504040204" pitchFamily="34" charset="0"/>
              </a:rPr>
              <a:t>The total cost (red) line is the sum of the total fixed and total variable costs. Notice that the total cost line intercepts the y-axis at $12,000. This is the total fixed costs, or the total cost that will be incurred regardless of volume. The variable cost per unit ($1) is represented by the slope of the total cost line, which increases by $1 with each additional unit sold.</a:t>
            </a:r>
          </a:p>
          <a:p>
            <a:pPr eaLnBrk="1" fontAlgn="auto" hangingPunct="1">
              <a:spcBef>
                <a:spcPts val="0"/>
              </a:spcBef>
              <a:spcAft>
                <a:spcPts val="0"/>
              </a:spcAft>
              <a:defRPr/>
            </a:pPr>
            <a:endParaRPr lang="en-US" dirty="0">
              <a:cs typeface="Verdana" panose="020B0604030504040204" pitchFamily="34" charset="0"/>
            </a:endParaRPr>
          </a:p>
          <a:p>
            <a:pPr eaLnBrk="1" fontAlgn="auto" hangingPunct="1">
              <a:spcBef>
                <a:spcPts val="0"/>
              </a:spcBef>
              <a:spcAft>
                <a:spcPts val="0"/>
              </a:spcAft>
              <a:defRPr/>
            </a:pPr>
            <a:r>
              <a:rPr lang="en-US" dirty="0">
                <a:cs typeface="Verdana" panose="020B0604030504040204" pitchFamily="34" charset="0"/>
              </a:rPr>
              <a:t>The break-even point is the point at which the total revenue and total cost lines cross (leaving zero profit). In this example, the break-even point corresponds to 8,000 units, or $20,000 in total sales revenue (8,000 units × $2.50). </a:t>
            </a:r>
          </a:p>
          <a:p>
            <a:pPr eaLnBrk="1" fontAlgn="auto" hangingPunct="1">
              <a:spcBef>
                <a:spcPts val="0"/>
              </a:spcBef>
              <a:spcAft>
                <a:spcPts val="0"/>
              </a:spcAft>
              <a:defRPr/>
            </a:pPr>
            <a:endParaRPr lang="en-US" dirty="0">
              <a:cs typeface="Verdana" panose="020B0604030504040204" pitchFamily="34" charset="0"/>
            </a:endParaRPr>
          </a:p>
          <a:p>
            <a:pPr eaLnBrk="1" fontAlgn="auto" hangingPunct="1">
              <a:spcBef>
                <a:spcPts val="0"/>
              </a:spcBef>
              <a:spcAft>
                <a:spcPts val="0"/>
              </a:spcAft>
              <a:defRPr/>
            </a:pPr>
            <a:r>
              <a:rPr lang="en-US" dirty="0">
                <a:cs typeface="Verdana" panose="020B0604030504040204" pitchFamily="34" charset="0"/>
              </a:rPr>
              <a:t>The difference between the total revenue line and the total cost line is profit (loss), reported as net operating income on the income statement. Anything below 8,000 units results in a loss because total cost is higher than total revenue. Anything above 8,000 units results in a profit.</a:t>
            </a:r>
          </a:p>
          <a:p>
            <a:pP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476553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Below the break-even point, we see losses, and above the break-even point, we see profits.   </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If Starbucks sells 20,000 cups of coffee, it will earn a target profit of $18,000. Total revenue will be $50,000 (20,000 cups times $2.50 per cup), total variable costs will be $20,000 (20,000 cups times $1.00 per cup), and fixed costs will be $12,000. So total revenue will be $50,000 and total costs will be $32,000 ($20,000 plus $12,000) resulting in a target profit of $18,000.</a:t>
            </a:r>
          </a:p>
          <a:p>
            <a:pPr eaLnBrk="1" hangingPunct="1">
              <a:spcBef>
                <a:spcPct val="0"/>
              </a:spcBef>
            </a:pPr>
            <a:endParaRPr lang="en-US" dirty="0"/>
          </a:p>
          <a:p>
            <a:pPr eaLnBrk="1" hangingPunct="1">
              <a:spcBef>
                <a:spcPct val="0"/>
              </a:spcBef>
            </a:pPr>
            <a:endParaRPr lang="en-US" dirty="0"/>
          </a:p>
        </p:txBody>
      </p:sp>
    </p:spTree>
    <p:extLst>
      <p:ext uri="{BB962C8B-B14F-4D97-AF65-F5344CB8AC3E}">
        <p14:creationId xmlns:p14="http://schemas.microsoft.com/office/powerpoint/2010/main" val="2144353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Learning objective 6-1 is to use cost-volume-profit analysis to find the break-even point.</a:t>
            </a:r>
          </a:p>
          <a:p>
            <a:pPr eaLnBrk="1" hangingPunct="1">
              <a:spcBef>
                <a:spcPct val="0"/>
              </a:spcBef>
            </a:pPr>
            <a:endParaRPr lang="en-US" dirty="0"/>
          </a:p>
        </p:txBody>
      </p:sp>
    </p:spTree>
    <p:extLst>
      <p:ext uri="{BB962C8B-B14F-4D97-AF65-F5344CB8AC3E}">
        <p14:creationId xmlns:p14="http://schemas.microsoft.com/office/powerpoint/2010/main" val="284289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The cost-volume-profit framework can be used to analyze many different managerial decisions. Two of the simplest types of CVP analysis are break-even analysis and target profit analysis. As you will see shortly, break-even analysis is a special case of target profit analysis, where the target profit is set equal to zero. Once you understand the break-even model, it is very easy to extend it to a target profit other than zero. There are several different approaches or methods we can use to model the relationship between revenues, costs, profit, and volume, including the following:</a:t>
            </a:r>
          </a:p>
          <a:p>
            <a:pPr eaLnBrk="1" hangingPunct="1">
              <a:spcBef>
                <a:spcPct val="0"/>
              </a:spcBef>
            </a:pPr>
            <a:r>
              <a:rPr lang="en-US" dirty="0">
                <a:latin typeface="Arial" panose="020B0604020202020204" pitchFamily="34" charset="0"/>
                <a:cs typeface="Arial" panose="020B0604020202020204" pitchFamily="34" charset="0"/>
              </a:rPr>
              <a:t>• Profit Equation Method</a:t>
            </a:r>
          </a:p>
          <a:p>
            <a:pPr eaLnBrk="1" hangingPunct="1">
              <a:spcBef>
                <a:spcPct val="0"/>
              </a:spcBef>
            </a:pPr>
            <a:r>
              <a:rPr lang="en-US" dirty="0">
                <a:latin typeface="Arial" panose="020B0604020202020204" pitchFamily="34" charset="0"/>
                <a:cs typeface="Arial" panose="020B0604020202020204" pitchFamily="34" charset="0"/>
              </a:rPr>
              <a:t>• Unit Contribution Margin Method</a:t>
            </a:r>
          </a:p>
          <a:p>
            <a:pPr eaLnBrk="1" hangingPunct="1">
              <a:spcBef>
                <a:spcPct val="0"/>
              </a:spcBef>
            </a:pPr>
            <a:r>
              <a:rPr lang="en-US" dirty="0">
                <a:latin typeface="Arial" panose="020B0604020202020204" pitchFamily="34" charset="0"/>
                <a:cs typeface="Arial" panose="020B0604020202020204" pitchFamily="34" charset="0"/>
              </a:rPr>
              <a:t>• Contribution Margin Ratio Method</a:t>
            </a:r>
          </a:p>
          <a:p>
            <a:pPr eaLnBrk="1" hangingPunct="1">
              <a:spcBef>
                <a:spcPct val="0"/>
              </a:spcBef>
            </a:pPr>
            <a:endParaRPr lang="en-US" dirty="0">
              <a:latin typeface="Arial" panose="020B0604020202020204" pitchFamily="34" charset="0"/>
              <a:ea typeface="ＭＳ Ｐゴシック"/>
              <a:cs typeface="Arial" panose="020B0604020202020204" pitchFamily="34" charset="0"/>
            </a:endParaRPr>
          </a:p>
        </p:txBody>
      </p:sp>
    </p:spTree>
    <p:extLst>
      <p:ext uri="{BB962C8B-B14F-4D97-AF65-F5344CB8AC3E}">
        <p14:creationId xmlns:p14="http://schemas.microsoft.com/office/powerpoint/2010/main" val="3132150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4"/>
          <p:cNvSpPr>
            <a:spLocks noGrp="1" noRot="1" noChangeAspect="1" noChangeArrowheads="1" noTextEdit="1"/>
          </p:cNvSpPr>
          <p:nvPr>
            <p:ph type="sldImg"/>
          </p:nvPr>
        </p:nvSpPr>
        <p:spPr bwMode="auto">
          <a:noFill/>
          <a:ln>
            <a:solidFill>
              <a:srgbClr val="000000"/>
            </a:solidFill>
            <a:miter lim="800000"/>
            <a:headEnd/>
            <a:tailEnd/>
          </a:ln>
        </p:spPr>
      </p:sp>
      <p:sp>
        <p:nvSpPr>
          <p:cNvPr id="40962" name="Rectangle 5"/>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The profit equation defines profit as the difference between total sales revenue and total fixed and variable costs.</a:t>
            </a:r>
          </a:p>
          <a:p>
            <a:pPr eaLnBrk="1" hangingPunct="1">
              <a:spcBef>
                <a:spcPct val="0"/>
              </a:spcBef>
            </a:pPr>
            <a:endParaRPr lang="en-US" dirty="0">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dirty="0">
                <a:latin typeface="Arial" panose="020B0604020202020204" pitchFamily="34" charset="0"/>
                <a:cs typeface="Arial" panose="020B0604020202020204" pitchFamily="34" charset="0"/>
              </a:rPr>
              <a:t>Total sales revenue and variable costs are a function of the number of units sold (Q), while total fixed costs are independent of the number of units sold. In CVP analysis, we allow any single factor in the equation to vary, while holding everything else constant, to determine the ultimate effect on profit. We have restated the basic equation at the top of your screen to include the components of total sales revenue (unit price x quantity sold) and total variable costs (unit variable costs x quantity</a:t>
            </a:r>
            <a:r>
              <a:rPr lang="en-US" baseline="0" dirty="0">
                <a:latin typeface="Arial" panose="020B0604020202020204" pitchFamily="34" charset="0"/>
                <a:cs typeface="Arial" panose="020B0604020202020204" pitchFamily="34" charset="0"/>
              </a:rPr>
              <a:t> sold)</a:t>
            </a:r>
            <a:r>
              <a:rPr lang="en-US"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To find the break-even point, we simply set the profit equation equal to zero, and solve for the quantity of units (Q).</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200" dirty="0">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sz="1200" dirty="0">
                <a:latin typeface="Arial" panose="020B0604020202020204" pitchFamily="34" charset="0"/>
                <a:cs typeface="Arial" panose="020B0604020202020204" pitchFamily="34" charset="0"/>
              </a:rPr>
              <a:t>Using the information from our prior example, we know that the sales price is $2.50 per unit, the unit</a:t>
            </a:r>
            <a:r>
              <a:rPr lang="en-US" sz="1200" baseline="0" dirty="0">
                <a:latin typeface="Arial" panose="020B0604020202020204" pitchFamily="34" charset="0"/>
                <a:cs typeface="Arial" panose="020B0604020202020204" pitchFamily="34" charset="0"/>
              </a:rPr>
              <a:t> variable costs are $1 and the total fixed costs are $12,000.  When we use these numbers in the profit equation, we get that $1.50Q = $12,000.  We then solve for Q of 8,000 units.</a:t>
            </a:r>
            <a:endParaRPr lang="en-US" sz="1200"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3112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p:spPr>
      </p:sp>
      <p:sp>
        <p:nvSpPr>
          <p:cNvPr id="4505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Here is the verification of the break-even analysis we just finished. Notice that when we substitute 8,000 cups for Q in the equation, profit is equal to zero.</a:t>
            </a:r>
          </a:p>
        </p:txBody>
      </p:sp>
    </p:spTree>
    <p:extLst>
      <p:ext uri="{BB962C8B-B14F-4D97-AF65-F5344CB8AC3E}">
        <p14:creationId xmlns:p14="http://schemas.microsoft.com/office/powerpoint/2010/main" val="207276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p:spPr>
      </p:sp>
      <p:sp>
        <p:nvSpPr>
          <p:cNvPr id="4710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Learning objective 6-2 is to use cost-volume-profit analysis to determine the sales needed to achieve a target profit.</a:t>
            </a:r>
          </a:p>
          <a:p>
            <a:pPr eaLnBrk="1" hangingPunct="1">
              <a:spcBef>
                <a:spcPct val="0"/>
              </a:spcBef>
            </a:pPr>
            <a:endParaRPr lang="en-US" dirty="0"/>
          </a:p>
        </p:txBody>
      </p:sp>
    </p:spTree>
    <p:extLst>
      <p:ext uri="{BB962C8B-B14F-4D97-AF65-F5344CB8AC3E}">
        <p14:creationId xmlns:p14="http://schemas.microsoft.com/office/powerpoint/2010/main" val="3247107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p:spPr>
      </p:sp>
      <p:sp>
        <p:nvSpPr>
          <p:cNvPr id="491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3363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Rot="1" noChangeAspect="1" noChangeArrowheads="1" noTextEdit="1"/>
          </p:cNvSpPr>
          <p:nvPr>
            <p:ph type="sldImg"/>
          </p:nvPr>
        </p:nvSpPr>
        <p:spPr bwMode="auto">
          <a:xfrm>
            <a:off x="1206500" y="708025"/>
            <a:ext cx="4664075" cy="3498850"/>
          </a:xfrm>
          <a:solidFill>
            <a:srgbClr val="FFFFFF"/>
          </a:solidFill>
          <a:ln>
            <a:solidFill>
              <a:srgbClr val="000000"/>
            </a:solidFill>
            <a:miter lim="800000"/>
            <a:headEnd/>
            <a:tailEnd/>
          </a:ln>
        </p:spPr>
      </p:sp>
      <p:sp>
        <p:nvSpPr>
          <p:cNvPr id="51202" name="Rectangle 3"/>
          <p:cNvSpPr>
            <a:spLocks noGrp="1" noChangeArrowheads="1"/>
          </p:cNvSpPr>
          <p:nvPr>
            <p:ph type="body" idx="1"/>
          </p:nvPr>
        </p:nvSpPr>
        <p:spPr bwMode="auto">
          <a:xfrm>
            <a:off x="714260" y="4447461"/>
            <a:ext cx="5661660" cy="4213384"/>
          </a:xfrm>
          <a:solidFill>
            <a:srgbClr val="FFFFFF"/>
          </a:solid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An alternative tool that can be used to answer most cost-volume-profit questions is the contribution margin income statement. This income statement makes a distinction between variable costs and fixed costs. Recall that contribution margin is the difference between sales revenue and variable costs, or the amount of profit available to cover fixed costs and profit.</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unit contribution margin tells us how much each unit sold contributes toward fixed costs and profit. In our Starbucks example, the unit selling price was $2.50 and the unit variable cost was $1.00, which gives us a unit contribution margin of $1.50. This amount is used first to cover total fixed costs, with the remainder as profit. As with the profit equation approach, we can use the unit contribution margin method for both break-even and target profit analysis.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Should be 8,000</a:t>
            </a:r>
          </a:p>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5468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p:spPr>
      </p:sp>
      <p:sp>
        <p:nvSpPr>
          <p:cNvPr id="5325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Compute the breakeven point in units for Starbucks.  Recall that Starbucks’ total fixed costs are $12,000 and the unit contribution margin is $1.50 per cup. We determine the break-even units by dividing total fixed costs by the unit contribution margin.</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break-even units are 8,000 ($12,000/$1.50) cups of coffee served.</a:t>
            </a:r>
          </a:p>
        </p:txBody>
      </p:sp>
    </p:spTree>
    <p:extLst>
      <p:ext uri="{BB962C8B-B14F-4D97-AF65-F5344CB8AC3E}">
        <p14:creationId xmlns:p14="http://schemas.microsoft.com/office/powerpoint/2010/main" val="1186672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p:spPr>
      </p:sp>
      <p:sp>
        <p:nvSpPr>
          <p:cNvPr id="5529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To translate break-even units into sales revenue, we can multiply by the unit sales prices.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In our example, we multiple the break-even number of cups of coffee, 8,000, times the selling price per cup of $2.50, to arrive at the break-even sales of $20,000. It might be a good idea to check back to our graph of the break-even point and see the 8,000 cups and $20,000.</a:t>
            </a:r>
          </a:p>
        </p:txBody>
      </p:sp>
    </p:spTree>
    <p:extLst>
      <p:ext uri="{BB962C8B-B14F-4D97-AF65-F5344CB8AC3E}">
        <p14:creationId xmlns:p14="http://schemas.microsoft.com/office/powerpoint/2010/main" val="1522425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p:spPr>
      </p:sp>
      <p:sp>
        <p:nvSpPr>
          <p:cNvPr id="5734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The unit contribution margin can also be used for target profit analysis. For example, how many units must be sold to earn $18,000 in profit? In this case, the total contribution margin must be enough to cover $12,000 in total fixed costs, with enough left over to provide $18,000 in target profit.</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We need to generate $30,000 ($12,000 + $18,000) in total contribution margin to reach the target profit. We then divide by the unit contribution margin to determine how many units must be sold to reach this target. We determine that 20,000 units ($30,000/$1.50) are needed to achieve the target profit.</a:t>
            </a:r>
          </a:p>
        </p:txBody>
      </p:sp>
    </p:spTree>
    <p:extLst>
      <p:ext uri="{BB962C8B-B14F-4D97-AF65-F5344CB8AC3E}">
        <p14:creationId xmlns:p14="http://schemas.microsoft.com/office/powerpoint/2010/main" val="1089440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4"/>
          <p:cNvSpPr>
            <a:spLocks noGrp="1" noRot="1" noChangeAspect="1" noChangeArrowheads="1" noTextEdit="1"/>
          </p:cNvSpPr>
          <p:nvPr>
            <p:ph type="sldImg"/>
          </p:nvPr>
        </p:nvSpPr>
        <p:spPr bwMode="auto">
          <a:noFill/>
          <a:ln>
            <a:solidFill>
              <a:srgbClr val="000000"/>
            </a:solidFill>
            <a:miter lim="800000"/>
            <a:headEnd/>
            <a:tailEnd/>
          </a:ln>
        </p:spPr>
      </p:sp>
      <p:sp>
        <p:nvSpPr>
          <p:cNvPr id="59394" name="Rectangle 5"/>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The third way to approach cost-volume-profit problems is based on the contribution margin ratio, or the contribution margin stated as a percentage of sales dollars.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contribution margin ratio tells us how much contribution margin is generated per dollar of sales revenue. In this example, variable costs make up 40 percent of sales revenue ($1.00/$2.50), which leaves 60 percent of every sales dollar as contribution margin ($1.50/$2.50). Because fixed costs do not change with sales volume, each additional $1.00 in sales revenue will add $0.60 to profit.</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We can use the contribution margin ratio to determine the total sales revenue needed to earn a target profit, including a break-even profit of zero.</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45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4"/>
          <p:cNvSpPr>
            <a:spLocks noGrp="1" noRot="1" noChangeAspect="1" noChangeArrowheads="1" noTextEdit="1"/>
          </p:cNvSpPr>
          <p:nvPr>
            <p:ph type="sldImg"/>
          </p:nvPr>
        </p:nvSpPr>
        <p:spPr bwMode="auto">
          <a:noFill/>
          <a:ln>
            <a:solidFill>
              <a:srgbClr val="000000"/>
            </a:solidFill>
            <a:miter lim="800000"/>
            <a:headEnd/>
            <a:tailEnd/>
          </a:ln>
        </p:spPr>
      </p:sp>
      <p:sp>
        <p:nvSpPr>
          <p:cNvPr id="61442" name="Rectangle 5"/>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At break-even, the total contribution margin must equal total fixed costs, with nothing left over as profit. To solve for the break-even point in sales revenue, we simply divide total fixed costs of $12,000 by the 60 percent contribution margin ratio. So, break-even sales is $20,000. The contribution margin ratio simply provides a direct way to calculate the sales revenue needed to break-even.</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Notice that this formula is almost identical to the formula for break-even units, except the denominator is the contribution margin ratio rather than the unit contribution margin. The contribution margin ratio allows us to solve for total sales revenue in one step rather than first solving for units and then multiplying by the unit sales price. The end result is the same.</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7424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4"/>
          <p:cNvSpPr>
            <a:spLocks noGrp="1" noRot="1" noChangeAspect="1" noChangeArrowheads="1" noTextEdit="1"/>
          </p:cNvSpPr>
          <p:nvPr>
            <p:ph type="sldImg"/>
          </p:nvPr>
        </p:nvSpPr>
        <p:spPr bwMode="auto">
          <a:noFill/>
          <a:ln>
            <a:solidFill>
              <a:srgbClr val="000000"/>
            </a:solidFill>
            <a:miter lim="800000"/>
            <a:headEnd/>
            <a:tailEnd/>
          </a:ln>
        </p:spPr>
      </p:sp>
      <p:sp>
        <p:nvSpPr>
          <p:cNvPr id="61442" name="Rectangle 5"/>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We can also use the contribution margin ratio approach</a:t>
            </a:r>
            <a:r>
              <a:rPr lang="en-US" baseline="0" dirty="0">
                <a:latin typeface="Arial" panose="020B0604020202020204" pitchFamily="34" charset="0"/>
                <a:cs typeface="Arial" panose="020B0604020202020204" pitchFamily="34" charset="0"/>
              </a:rPr>
              <a:t> for target profit analysis. </a:t>
            </a:r>
            <a:r>
              <a:rPr lang="en-US" dirty="0">
                <a:latin typeface="Arial" panose="020B0604020202020204" pitchFamily="34" charset="0"/>
                <a:cs typeface="Arial" panose="020B0604020202020204" pitchFamily="34" charset="0"/>
              </a:rPr>
              <a:t>Assume the target profit is $18,000, the total contribution margin must be enough to cover $12,000 in total fixed costs, with enough left over to provide $18,000 in target profit.</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We need to generate $30,000 ($12,000 + $18,000) in total contribution margin to reach the target profit. To determine the target sales needed, we divide by the contribution margin ratio of 60%</a:t>
            </a:r>
            <a:r>
              <a:rPr lang="en-US" baseline="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to determine how</a:t>
            </a:r>
            <a:r>
              <a:rPr lang="en-US" baseline="0" dirty="0">
                <a:latin typeface="Arial" panose="020B0604020202020204" pitchFamily="34" charset="0"/>
                <a:cs typeface="Arial" panose="020B0604020202020204" pitchFamily="34" charset="0"/>
              </a:rPr>
              <a:t> much sales revenue is needed </a:t>
            </a:r>
            <a:r>
              <a:rPr lang="en-US" dirty="0">
                <a:latin typeface="Arial" panose="020B0604020202020204" pitchFamily="34" charset="0"/>
                <a:cs typeface="Arial" panose="020B0604020202020204" pitchFamily="34" charset="0"/>
              </a:rPr>
              <a:t>to reach this target. We determine that $50,000 of sales revenue</a:t>
            </a:r>
            <a:r>
              <a:rPr lang="en-US" baseline="0" dirty="0">
                <a:latin typeface="Arial" panose="020B0604020202020204" pitchFamily="34" charset="0"/>
                <a:cs typeface="Arial" panose="020B0604020202020204" pitchFamily="34" charset="0"/>
              </a:rPr>
              <a:t> is </a:t>
            </a:r>
            <a:r>
              <a:rPr lang="en-US" dirty="0">
                <a:latin typeface="Arial" panose="020B0604020202020204" pitchFamily="34" charset="0"/>
                <a:cs typeface="Arial" panose="020B0604020202020204" pitchFamily="34" charset="0"/>
              </a:rPr>
              <a:t>needed to achieve the target profit.</a:t>
            </a:r>
          </a:p>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7424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Learning objective 6-3 is to compute the margin of safety.</a:t>
            </a:r>
          </a:p>
        </p:txBody>
      </p:sp>
    </p:spTree>
    <p:extLst>
      <p:ext uri="{BB962C8B-B14F-4D97-AF65-F5344CB8AC3E}">
        <p14:creationId xmlns:p14="http://schemas.microsoft.com/office/powerpoint/2010/main" val="30368670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9"/>
          <p:cNvSpPr>
            <a:spLocks noGrp="1" noRot="1" noChangeAspect="1" noChangeArrowheads="1" noTextEdit="1"/>
          </p:cNvSpPr>
          <p:nvPr>
            <p:ph type="sldImg"/>
          </p:nvPr>
        </p:nvSpPr>
        <p:spPr bwMode="auto">
          <a:noFill/>
          <a:ln>
            <a:solidFill>
              <a:srgbClr val="000000"/>
            </a:solidFill>
            <a:miter lim="800000"/>
            <a:headEnd/>
            <a:tailEnd/>
          </a:ln>
        </p:spPr>
      </p:sp>
      <p:sp>
        <p:nvSpPr>
          <p:cNvPr id="67586" name="Rectangle 10"/>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The margin of safety is the difference between actual or budgeted sales and the breakeven point. Think of the margin of safety as a buffer zone that identifies how much sales can drop before the business will suffer a loss. This application of CVP analysis is most relevant to companies that face a significant risk of not making a profit, such as start-up businesses or companies that face extreme competition or abrupt changes in demand. </a:t>
            </a:r>
          </a:p>
        </p:txBody>
      </p:sp>
    </p:spTree>
    <p:extLst>
      <p:ext uri="{BB962C8B-B14F-4D97-AF65-F5344CB8AC3E}">
        <p14:creationId xmlns:p14="http://schemas.microsoft.com/office/powerpoint/2010/main" val="29069531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9"/>
          <p:cNvSpPr>
            <a:spLocks noGrp="1" noRot="1" noChangeAspect="1" noChangeArrowheads="1" noTextEdit="1"/>
          </p:cNvSpPr>
          <p:nvPr>
            <p:ph type="sldImg"/>
          </p:nvPr>
        </p:nvSpPr>
        <p:spPr bwMode="auto">
          <a:noFill/>
          <a:ln>
            <a:solidFill>
              <a:srgbClr val="000000"/>
            </a:solidFill>
            <a:miter lim="800000"/>
            <a:headEnd/>
            <a:tailEnd/>
          </a:ln>
        </p:spPr>
      </p:sp>
      <p:sp>
        <p:nvSpPr>
          <p:cNvPr id="69634" name="Rectangle 10"/>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Let’s assume that our hypothetical Starbucks coffee location operated above the break-even point during February with sales of $37,500. During the month, the company reported a profit of $10,500. Let’s calculate Starbucks’ margin of safety.</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Recall that the break-even point was 8,000 units, or $20,000 in total sales. Subtracting $20,000 from Starbucks’ actual sales of $37,500, we find that Starbucks’ margin of safety in dollars is $17,500. </a:t>
            </a:r>
          </a:p>
          <a:p>
            <a:pPr eaLnBrk="1" hangingPunct="1">
              <a:spcBef>
                <a:spcPct val="0"/>
              </a:spcBef>
            </a:pPr>
            <a:endParaRPr lang="en-US" dirty="0"/>
          </a:p>
        </p:txBody>
      </p:sp>
    </p:spTree>
    <p:extLst>
      <p:ext uri="{BB962C8B-B14F-4D97-AF65-F5344CB8AC3E}">
        <p14:creationId xmlns:p14="http://schemas.microsoft.com/office/powerpoint/2010/main" val="7369918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p:spPr>
      </p:sp>
      <p:sp>
        <p:nvSpPr>
          <p:cNvPr id="7168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Now that we’ve used CVP to characterize costs at a given point. Lets look at costs at </a:t>
            </a:r>
          </a:p>
          <a:p>
            <a:pPr eaLnBrk="1" hangingPunct="1">
              <a:spcBef>
                <a:spcPct val="0"/>
              </a:spcBef>
            </a:pPr>
            <a:r>
              <a:rPr lang="en-US" dirty="0">
                <a:latin typeface="Arial" panose="020B0604020202020204" pitchFamily="34" charset="0"/>
                <a:cs typeface="Arial" panose="020B0604020202020204" pitchFamily="34" charset="0"/>
              </a:rPr>
              <a:t>Learning objective 6-4 is to analyze how changes in prices and cost structure affect cost-volume-profit relationships.</a:t>
            </a:r>
          </a:p>
        </p:txBody>
      </p:sp>
    </p:spTree>
    <p:extLst>
      <p:ext uri="{BB962C8B-B14F-4D97-AF65-F5344CB8AC3E}">
        <p14:creationId xmlns:p14="http://schemas.microsoft.com/office/powerpoint/2010/main" val="28815738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bwMode="auto">
          <a:noFill/>
          <a:ln>
            <a:solidFill>
              <a:srgbClr val="000000"/>
            </a:solidFill>
            <a:miter lim="800000"/>
            <a:headEnd/>
            <a:tailEnd/>
          </a:ln>
        </p:spPr>
      </p:sp>
      <p:sp>
        <p:nvSpPr>
          <p:cNvPr id="7373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Managers can use CVP to analyze many different decisions, such as whether to change the price of the product, buy materials from a different supplier, pay employees a salary instead of commission, spend more on advertising, or invest in automated equipment. The CVP model allows managers to perform “what if” analysis to see how changing one or more variables will affect the others.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Assume Starbucks’ manager is considering increasing the price of coffee to $4.00, with no effect on unit variable cost or total fixed costs. </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click to show table</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Notice that both the unit contribution margin and the contribution margin ratio increased to $3.00</a:t>
            </a:r>
            <a:r>
              <a:rPr lang="en-US" baseline="0" dirty="0">
                <a:latin typeface="Arial" panose="020B0604020202020204" pitchFamily="34" charset="0"/>
                <a:cs typeface="Arial" panose="020B0604020202020204" pitchFamily="34" charset="0"/>
              </a:rPr>
              <a:t> and 75%, respectively, </a:t>
            </a:r>
            <a:r>
              <a:rPr lang="en-US" dirty="0">
                <a:latin typeface="Arial" panose="020B0604020202020204" pitchFamily="34" charset="0"/>
                <a:cs typeface="Arial" panose="020B0604020202020204" pitchFamily="34" charset="0"/>
              </a:rPr>
              <a:t>as a result of the price increase.</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This makes sense - we are charging a </a:t>
            </a:r>
            <a:r>
              <a:rPr lang="en-US" dirty="0" err="1">
                <a:latin typeface="Arial" panose="020B0604020202020204" pitchFamily="34" charset="0"/>
                <a:cs typeface="Arial" panose="020B0604020202020204" pitchFamily="34" charset="0"/>
              </a:rPr>
              <a:t>higer</a:t>
            </a:r>
            <a:r>
              <a:rPr lang="en-US" dirty="0">
                <a:latin typeface="Arial" panose="020B0604020202020204" pitchFamily="34" charset="0"/>
                <a:cs typeface="Arial" panose="020B0604020202020204" pitchFamily="34" charset="0"/>
              </a:rPr>
              <a:t> price for the same thing, so we get to keep the difference</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click again to leave</a:t>
            </a:r>
          </a:p>
        </p:txBody>
      </p:sp>
    </p:spTree>
    <p:extLst>
      <p:ext uri="{BB962C8B-B14F-4D97-AF65-F5344CB8AC3E}">
        <p14:creationId xmlns:p14="http://schemas.microsoft.com/office/powerpoint/2010/main" val="8292376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noTextEdit="1"/>
          </p:cNvSpPr>
          <p:nvPr>
            <p:ph type="sldImg"/>
          </p:nvPr>
        </p:nvSpPr>
        <p:spPr bwMode="auto">
          <a:noFill/>
          <a:ln>
            <a:solidFill>
              <a:srgbClr val="000000"/>
            </a:solidFill>
            <a:miter lim="800000"/>
            <a:headEnd/>
            <a:tailEnd/>
          </a:ln>
        </p:spPr>
      </p:sp>
      <p:sp>
        <p:nvSpPr>
          <p:cNvPr id="7577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To determine the sales level needed to earn a target profit of at least $10,500 at the new price, we can use the contribution margin ratio formula. </a:t>
            </a:r>
          </a:p>
          <a:p>
            <a:pPr eaLnBrk="1" hangingPunct="1">
              <a:spcBef>
                <a:spcPct val="0"/>
              </a:spcBef>
            </a:pPr>
            <a:r>
              <a:rPr lang="en-US" dirty="0">
                <a:latin typeface="Arial" panose="020B0604020202020204" pitchFamily="34" charset="0"/>
                <a:cs typeface="Arial" panose="020B0604020202020204" pitchFamily="34" charset="0"/>
              </a:rPr>
              <a:t>2 clicks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This analysis shows that the company needs to earn $30,000 in total sales revenue</a:t>
            </a:r>
            <a:r>
              <a:rPr lang="en-US" baseline="0" dirty="0">
                <a:latin typeface="Arial" panose="020B0604020202020204" pitchFamily="34" charset="0"/>
                <a:cs typeface="Arial" panose="020B0604020202020204" pitchFamily="34" charset="0"/>
              </a:rPr>
              <a:t> ($22,500/75%, the $22,500 is the $12,000 fixed costs plus the target profit of $10,500)</a:t>
            </a:r>
            <a:r>
              <a:rPr lang="en-US" dirty="0">
                <a:latin typeface="Arial" panose="020B0604020202020204" pitchFamily="34" charset="0"/>
                <a:cs typeface="Arial" panose="020B0604020202020204" pitchFamily="34" charset="0"/>
              </a:rPr>
              <a:t> to earn $10,500 in profit.</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Now lets do this in units: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Because the proposed sales price is $4, this translates into 7,500 units ($30,000 ÷ $4). As we discovered earlier in the chapter, you could get this same number by dividing the total fixed costs plus the target profit by the new unit contribution margin of $3.00.</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Now click through the rest of the slide</a:t>
            </a:r>
          </a:p>
          <a:p>
            <a:pPr eaLnBrk="1" hangingPunct="1">
              <a:spcBef>
                <a:spcPct val="0"/>
              </a:spcBef>
            </a:pPr>
            <a:endParaRPr lang="en-US" dirty="0">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CN" sz="1200" kern="1200" dirty="0">
                <a:solidFill>
                  <a:schemeClr val="tx1"/>
                </a:solidFill>
                <a:effectLst/>
                <a:latin typeface="Verdana" panose="020B0604030504040204" pitchFamily="34" charset="0"/>
                <a:ea typeface="+mn-ea"/>
                <a:cs typeface="+mn-cs"/>
              </a:rPr>
              <a:t>22500/1.50</a:t>
            </a:r>
            <a:r>
              <a:rPr lang="en-US" sz="1200" kern="1200" dirty="0">
                <a:solidFill>
                  <a:schemeClr val="tx1"/>
                </a:solidFill>
                <a:effectLst/>
                <a:latin typeface="Arial" panose="020B0604020202020204" pitchFamily="34" charset="0"/>
                <a:ea typeface="+mn-ea"/>
                <a:cs typeface="Arial" panose="020B0604020202020204" pitchFamily="34" charset="0"/>
              </a:rPr>
              <a:t>=15000</a:t>
            </a:r>
            <a:endParaRPr lang="en-CN" sz="1200" kern="1200" dirty="0">
              <a:solidFill>
                <a:schemeClr val="tx1"/>
              </a:solidFill>
              <a:effectLst/>
              <a:latin typeface="Verdana" panose="020B0604030504040204" pitchFamily="34" charset="0"/>
              <a:ea typeface="+mn-ea"/>
              <a:cs typeface="+mn-cs"/>
            </a:endParaRPr>
          </a:p>
        </p:txBody>
      </p:sp>
    </p:spTree>
    <p:extLst>
      <p:ext uri="{BB962C8B-B14F-4D97-AF65-F5344CB8AC3E}">
        <p14:creationId xmlns:p14="http://schemas.microsoft.com/office/powerpoint/2010/main" val="2540373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noTextEdit="1"/>
          </p:cNvSpPr>
          <p:nvPr>
            <p:ph type="sldImg"/>
          </p:nvPr>
        </p:nvSpPr>
        <p:spPr bwMode="auto">
          <a:noFill/>
          <a:ln>
            <a:solidFill>
              <a:srgbClr val="000000"/>
            </a:solidFill>
            <a:miter lim="800000"/>
            <a:headEnd/>
            <a:tailEnd/>
          </a:ln>
        </p:spPr>
      </p:sp>
      <p:sp>
        <p:nvSpPr>
          <p:cNvPr id="7782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Assume Starbucks’ manager is trying to find a way to increase profit to $16,800 per month. To achieve this goal, he plans to purchase higher quality coffee beans to improve the taste of the product. This will raise variable costs by $0.25 per unit and is expected to increase sales volume by 20 percent. The manager believes that consumers will be willing to pay a higher price for better tasting coffee, but is not sure what price to charge. What unit sales price would be needed to earn a target profit of $16,800?</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In this example, two components in the model are changing at the same time: (CLICK)</a:t>
            </a:r>
          </a:p>
          <a:p>
            <a:pPr eaLnBrk="1" hangingPunct="1">
              <a:spcBef>
                <a:spcPct val="0"/>
              </a:spcBef>
            </a:pPr>
            <a:r>
              <a:rPr lang="en-US" dirty="0">
                <a:latin typeface="Arial" panose="020B0604020202020204" pitchFamily="34" charset="0"/>
                <a:cs typeface="Arial" panose="020B0604020202020204" pitchFamily="34" charset="0"/>
              </a:rPr>
              <a:t>• Unit variable costs will increase from $1.00 to $1.25. (CLICK)</a:t>
            </a:r>
          </a:p>
          <a:p>
            <a:pPr eaLnBrk="1" hangingPunct="1">
              <a:spcBef>
                <a:spcPct val="0"/>
              </a:spcBef>
            </a:pPr>
            <a:r>
              <a:rPr lang="en-US" dirty="0">
                <a:latin typeface="Arial" panose="020B0604020202020204" pitchFamily="34" charset="0"/>
                <a:cs typeface="Arial" panose="020B0604020202020204" pitchFamily="34" charset="0"/>
              </a:rPr>
              <a:t>• Volume will increase from 15,000 units to 18,000 units (15,000 times 120%). (CLICK)</a:t>
            </a:r>
          </a:p>
        </p:txBody>
      </p:sp>
    </p:spTree>
    <p:extLst>
      <p:ext uri="{BB962C8B-B14F-4D97-AF65-F5344CB8AC3E}">
        <p14:creationId xmlns:p14="http://schemas.microsoft.com/office/powerpoint/2010/main" val="16439720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p:cNvSpPr>
            <a:spLocks noGrp="1" noRot="1" noChangeAspect="1" noTextEdit="1"/>
          </p:cNvSpPr>
          <p:nvPr>
            <p:ph type="sldImg"/>
          </p:nvPr>
        </p:nvSpPr>
        <p:spPr bwMode="auto">
          <a:noFill/>
          <a:ln>
            <a:solidFill>
              <a:srgbClr val="000000"/>
            </a:solidFill>
            <a:miter lim="800000"/>
            <a:headEnd/>
            <a:tailEnd/>
          </a:ln>
        </p:spPr>
      </p:sp>
      <p:sp>
        <p:nvSpPr>
          <p:cNvPr id="798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In this example</a:t>
            </a:r>
            <a:r>
              <a:rPr lang="en-US" baseline="0" dirty="0">
                <a:latin typeface="Arial" panose="020B0604020202020204" pitchFamily="34" charset="0"/>
                <a:cs typeface="Arial" panose="020B0604020202020204" pitchFamily="34" charset="0"/>
              </a:rPr>
              <a:t> we are solving for unit price.</a:t>
            </a: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Total fixed costs are assumed to remain unchanged at $12,000, and the target profit is $16,800. In this case, we cannot use the contribution margin to solve the problem because we don’t know the unit sales price. However, we can set up a profit equation with the unit sales price as the unknown variable. The Starbucks manager would need cover</a:t>
            </a:r>
            <a:r>
              <a:rPr lang="en-US" baseline="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$51,300</a:t>
            </a:r>
            <a:r>
              <a:rPr lang="en-US" baseline="0" dirty="0">
                <a:latin typeface="Arial" panose="020B0604020202020204" pitchFamily="34" charset="0"/>
                <a:cs typeface="Arial" panose="020B0604020202020204" pitchFamily="34" charset="0"/>
              </a:rPr>
              <a:t> in costs and target profit (variable costs of $1.25 x 18,000 units + $12,000 fixed costs + $16,800 target profit).  The manager would need to </a:t>
            </a:r>
            <a:r>
              <a:rPr lang="en-US" dirty="0">
                <a:latin typeface="Arial" panose="020B0604020202020204" pitchFamily="34" charset="0"/>
                <a:cs typeface="Arial" panose="020B0604020202020204" pitchFamily="34" charset="0"/>
              </a:rPr>
              <a:t>raise the unit price to $2.85 ($51,300/18,000) to meet the target profit of $16,800, assuming all of the other variables in the CVP model remain the same.</a:t>
            </a:r>
          </a:p>
        </p:txBody>
      </p:sp>
    </p:spTree>
    <p:extLst>
      <p:ext uri="{BB962C8B-B14F-4D97-AF65-F5344CB8AC3E}">
        <p14:creationId xmlns:p14="http://schemas.microsoft.com/office/powerpoint/2010/main" val="1550991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p:cNvSpPr>
            <a:spLocks noGrp="1" noRot="1" noChangeAspect="1" noTextEdit="1"/>
          </p:cNvSpPr>
          <p:nvPr>
            <p:ph type="sldImg"/>
          </p:nvPr>
        </p:nvSpPr>
        <p:spPr bwMode="auto">
          <a:noFill/>
          <a:ln>
            <a:solidFill>
              <a:srgbClr val="000000"/>
            </a:solidFill>
            <a:miter lim="800000"/>
            <a:headEnd/>
            <a:tailEnd/>
          </a:ln>
        </p:spPr>
      </p:sp>
      <p:sp>
        <p:nvSpPr>
          <p:cNvPr id="8192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Assume the Starbucks manager is considering starting a customer appreciation program that would reward customers by giving them their tenth cup of coffee for free. If all customers participated in this program, the average unit selling price would drop from $2.50 to $2.25 per unit [(9 units × $2.50) / 10 ]. In addition, the company would spend an additional $3,000 per month to advertise the rewards program. The manager wants to know how much sales volume is needed to earn a target profit of $16,800.</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In this example, two components in the model are changing at the same time:</a:t>
            </a:r>
          </a:p>
          <a:p>
            <a:pPr eaLnBrk="1" hangingPunct="1">
              <a:spcBef>
                <a:spcPct val="0"/>
              </a:spcBef>
            </a:pPr>
            <a:r>
              <a:rPr lang="en-US" dirty="0">
                <a:latin typeface="Arial" panose="020B0604020202020204" pitchFamily="34" charset="0"/>
                <a:cs typeface="Arial" panose="020B0604020202020204" pitchFamily="34" charset="0"/>
              </a:rPr>
              <a:t>• Price will drop from $2.50 to $2.25 per unit.</a:t>
            </a:r>
          </a:p>
          <a:p>
            <a:pPr eaLnBrk="1" hangingPunct="1">
              <a:spcBef>
                <a:spcPct val="0"/>
              </a:spcBef>
            </a:pPr>
            <a:r>
              <a:rPr lang="en-US" dirty="0">
                <a:latin typeface="Arial" panose="020B0604020202020204" pitchFamily="34" charset="0"/>
                <a:cs typeface="Arial" panose="020B0604020202020204" pitchFamily="34" charset="0"/>
              </a:rPr>
              <a:t>• Fixed costs will increase from $12,000 to $15,000.</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Unit variable costs are assumed to remain the same at $1.00, and the target profit is $16,800. Because the price decreased to $2.25 and variable costs remained at $1.00, the new unit contribution margin is $1.25. We can use the target profit formula from earlier in the chapter to determine the number of units (Q) that must be sold to reach the $16,800 target profit.</a:t>
            </a:r>
          </a:p>
        </p:txBody>
      </p:sp>
    </p:spTree>
    <p:extLst>
      <p:ext uri="{BB962C8B-B14F-4D97-AF65-F5344CB8AC3E}">
        <p14:creationId xmlns:p14="http://schemas.microsoft.com/office/powerpoint/2010/main" val="31544138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p:cNvSpPr>
            <a:spLocks noGrp="1" noRot="1" noChangeAspect="1" noTextEdit="1"/>
          </p:cNvSpPr>
          <p:nvPr>
            <p:ph type="sldImg"/>
          </p:nvPr>
        </p:nvSpPr>
        <p:spPr bwMode="auto">
          <a:noFill/>
          <a:ln>
            <a:solidFill>
              <a:srgbClr val="000000"/>
            </a:solidFill>
            <a:miter lim="800000"/>
            <a:headEnd/>
            <a:tailEnd/>
          </a:ln>
        </p:spPr>
      </p:sp>
      <p:sp>
        <p:nvSpPr>
          <p:cNvPr id="8397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We can use the target profit formula from earlier in the chapter to determine the number of units (Q) that must be sold to reach the $16,800 target profit. </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As noted on the previous slide, fixed costs will increase to $15,000 and the target profit is $16,800.  The average price will drop to $2.25 per unit, but variable costs remain the same at $1.00, so the new unit contribution margin is $1.25.  </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In this case, the Starbucks manager would need to sell 25,440 units  ($31,800/$1.25)</a:t>
            </a:r>
            <a:r>
              <a:rPr lang="en-US" baseline="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at an average sales price of $2.25 in order meet the target profit of $16,800, assuming all of the other variables in the model remain the same.</a:t>
            </a:r>
          </a:p>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58403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bwMode="auto">
          <a:noFill/>
          <a:ln>
            <a:solidFill>
              <a:srgbClr val="000000"/>
            </a:solidFill>
            <a:miter lim="800000"/>
            <a:headEnd/>
            <a:tailEnd/>
          </a:ln>
        </p:spPr>
      </p:sp>
      <p:sp>
        <p:nvSpPr>
          <p:cNvPr id="8601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Next we analyze how a change in cost structure affects the cost-volume-profit relationship. Cost structure refers to how a company uses variable costs versus fixed costs to perform its operations. Some companies have a relatively high proportion of variable costs such as direct materials and direct labor while others have relatively high fixed costs such as facilities, equipment, and salaries. Managers face many decisions that can affect their relative cost structure and have implications for cost-volume-profit analysis.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A common example is the decision to automate a process that is currently done manually. Automation typically reduces variable costs (by reducing direct labor) while increasing fixed costs (by increasing equipment depreciation, maintenance, and supervision).</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Assume that the Starbucks manager is considering investing in equipment that would allow customers to place their own order using a touch screen at the counter. The store could lease the machine for $14,000 per month (increasing monthly fixed costs from $12,000 to $26,000). The automation would save $0.70 in variable costs per unit (from $1.00 to $0.30). The unit sales price will be $2.50 under either alternative. What level of volume would be needed to justify this expenditure?</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88799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noTextEdit="1"/>
          </p:cNvSpPr>
          <p:nvPr>
            <p:ph type="sldImg"/>
          </p:nvPr>
        </p:nvSpPr>
        <p:spPr bwMode="auto">
          <a:noFill/>
          <a:ln>
            <a:solidFill>
              <a:srgbClr val="000000"/>
            </a:solidFill>
            <a:miter lim="800000"/>
            <a:headEnd/>
            <a:tailEnd/>
          </a:ln>
        </p:spPr>
      </p:sp>
      <p:sp>
        <p:nvSpPr>
          <p:cNvPr id="8806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One way to solve this problem is to use the profit equation method. Instead of setting a single profit equation equal to zero (to find the break-even point), we set two profit equations equal to each other so that they yield the same profit. Doing so allows us to find the indifference point, or the point at which managers should be indifferent about which alternative to choose because they yield the same profit.</a:t>
            </a:r>
          </a:p>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7903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noTextEdit="1"/>
          </p:cNvSpPr>
          <p:nvPr>
            <p:ph type="sldImg"/>
          </p:nvPr>
        </p:nvSpPr>
        <p:spPr bwMode="auto">
          <a:noFill/>
          <a:ln>
            <a:solidFill>
              <a:srgbClr val="000000"/>
            </a:solidFill>
            <a:miter lim="800000"/>
            <a:headEnd/>
            <a:tailEnd/>
          </a:ln>
        </p:spPr>
      </p:sp>
      <p:sp>
        <p:nvSpPr>
          <p:cNvPr id="8806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So, the profit equation before automation</a:t>
            </a:r>
            <a:r>
              <a:rPr lang="en-US" baseline="0" dirty="0">
                <a:latin typeface="Arial" panose="020B0604020202020204" pitchFamily="34" charset="0"/>
                <a:cs typeface="Arial" panose="020B0604020202020204" pitchFamily="34" charset="0"/>
              </a:rPr>
              <a:t> must equal the  profit equation after automation.</a:t>
            </a:r>
          </a:p>
          <a:p>
            <a:pPr eaLnBrk="1" hangingPunct="1">
              <a:spcBef>
                <a:spcPct val="0"/>
              </a:spcBef>
            </a:pPr>
            <a:endParaRPr lang="en-US" baseline="0" dirty="0">
              <a:latin typeface="Arial" panose="020B0604020202020204" pitchFamily="34" charset="0"/>
              <a:cs typeface="Arial" panose="020B0604020202020204" pitchFamily="34" charset="0"/>
            </a:endParaRPr>
          </a:p>
          <a:p>
            <a:pPr eaLnBrk="1" hangingPunct="1">
              <a:spcBef>
                <a:spcPct val="0"/>
              </a:spcBef>
            </a:pPr>
            <a:r>
              <a:rPr lang="en-US" baseline="0" dirty="0">
                <a:latin typeface="Arial" panose="020B0604020202020204" pitchFamily="34" charset="0"/>
                <a:cs typeface="Arial" panose="020B0604020202020204" pitchFamily="34" charset="0"/>
              </a:rPr>
              <a:t>$2.50Q -$1.00Q - $12,000 = $2.50Q - $0.30Q - $26,000, when we solve for Q we determine that at a sales volume of 20,000 units, the company will make the same profit with or without automation. I</a:t>
            </a:r>
            <a:r>
              <a:rPr lang="en-US" sz="1200" b="0" i="0" kern="1200" dirty="0">
                <a:solidFill>
                  <a:schemeClr val="tx1"/>
                </a:solidFill>
                <a:effectLst/>
                <a:latin typeface="Arial" panose="020B0604020202020204" pitchFamily="34" charset="0"/>
                <a:ea typeface="+mn-ea"/>
                <a:cs typeface="Arial" panose="020B0604020202020204" pitchFamily="34" charset="0"/>
              </a:rPr>
              <a:t>f volume is more than 20,000 units, the company will make a higher profit with the automated ordering system. But if volume is less than 20,000 units per month, profit will be higher without automation.</a:t>
            </a:r>
          </a:p>
          <a:p>
            <a:pPr eaLnBrk="1" hangingPunct="1">
              <a:spcBef>
                <a:spcPct val="0"/>
              </a:spcBef>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difference in these two curves is driven by the difference in operating leverage.</a:t>
            </a:r>
          </a:p>
        </p:txBody>
      </p:sp>
    </p:spTree>
    <p:extLst>
      <p:ext uri="{BB962C8B-B14F-4D97-AF65-F5344CB8AC3E}">
        <p14:creationId xmlns:p14="http://schemas.microsoft.com/office/powerpoint/2010/main" val="4087903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p:cNvSpPr>
            <a:spLocks noGrp="1" noRot="1" noChangeAspect="1" noTextEdit="1"/>
          </p:cNvSpPr>
          <p:nvPr>
            <p:ph type="sldImg"/>
          </p:nvPr>
        </p:nvSpPr>
        <p:spPr bwMode="auto">
          <a:noFill/>
          <a:ln>
            <a:solidFill>
              <a:srgbClr val="000000"/>
            </a:solidFill>
            <a:miter lim="800000"/>
            <a:headEnd/>
            <a:tailEnd/>
          </a:ln>
        </p:spPr>
      </p:sp>
      <p:sp>
        <p:nvSpPr>
          <p:cNvPr id="921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Learning objective 6-5 is to calculate the degree of operating leverage and use it to predict the effect a change in sales will have on profit.</a:t>
            </a:r>
          </a:p>
          <a:p>
            <a:pPr eaLnBrk="1" hangingPunct="1">
              <a:spcBef>
                <a:spcPct val="0"/>
              </a:spcBef>
            </a:pPr>
            <a:endParaRPr lang="en-US" dirty="0"/>
          </a:p>
        </p:txBody>
      </p:sp>
    </p:spTree>
    <p:extLst>
      <p:ext uri="{BB962C8B-B14F-4D97-AF65-F5344CB8AC3E}">
        <p14:creationId xmlns:p14="http://schemas.microsoft.com/office/powerpoint/2010/main" val="26673484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noTextEdit="1"/>
          </p:cNvSpPr>
          <p:nvPr>
            <p:ph type="sldImg"/>
          </p:nvPr>
        </p:nvSpPr>
        <p:spPr bwMode="auto">
          <a:noFill/>
          <a:ln>
            <a:solidFill>
              <a:srgbClr val="000000"/>
            </a:solidFill>
            <a:miter lim="800000"/>
            <a:headEnd/>
            <a:tailEnd/>
          </a:ln>
        </p:spPr>
      </p:sp>
      <p:sp>
        <p:nvSpPr>
          <p:cNvPr id="9011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At less than 20,000 units, profit is higher before automation. </a:t>
            </a:r>
          </a:p>
        </p:txBody>
      </p:sp>
    </p:spTree>
    <p:extLst>
      <p:ext uri="{BB962C8B-B14F-4D97-AF65-F5344CB8AC3E}">
        <p14:creationId xmlns:p14="http://schemas.microsoft.com/office/powerpoint/2010/main" val="36564684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noTextEdit="1"/>
          </p:cNvSpPr>
          <p:nvPr>
            <p:ph type="sldImg"/>
          </p:nvPr>
        </p:nvSpPr>
        <p:spPr bwMode="auto">
          <a:noFill/>
          <a:ln>
            <a:solidFill>
              <a:srgbClr val="000000"/>
            </a:solidFill>
            <a:miter lim="800000"/>
            <a:headEnd/>
            <a:tailEnd/>
          </a:ln>
        </p:spPr>
      </p:sp>
      <p:sp>
        <p:nvSpPr>
          <p:cNvPr id="9011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Automation increases the break-even point because fixed costs are higher. But each unit adds more profit because of the lower variable cost per unit. Profit is the same at 20,000 units. As long as the manager expects demand to exceed 20,000 units per month, the investment in automation should result in increased profit. However, there is a greater risk with automation in the event that demand is not as large as expected. This risk is reflected in a measure called degree of operating leverage.</a:t>
            </a:r>
          </a:p>
        </p:txBody>
      </p:sp>
    </p:spTree>
    <p:extLst>
      <p:ext uri="{BB962C8B-B14F-4D97-AF65-F5344CB8AC3E}">
        <p14:creationId xmlns:p14="http://schemas.microsoft.com/office/powerpoint/2010/main" val="36564684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p:cNvSpPr>
            <a:spLocks noGrp="1" noRot="1" noChangeAspect="1" noTextEdit="1"/>
          </p:cNvSpPr>
          <p:nvPr>
            <p:ph type="sldImg"/>
          </p:nvPr>
        </p:nvSpPr>
        <p:spPr bwMode="auto">
          <a:noFill/>
          <a:ln>
            <a:solidFill>
              <a:srgbClr val="000000"/>
            </a:solidFill>
            <a:miter lim="800000"/>
            <a:headEnd/>
            <a:tailEnd/>
          </a:ln>
        </p:spPr>
      </p:sp>
      <p:sp>
        <p:nvSpPr>
          <p:cNvPr id="9421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Degree of operating leverage measures the extent to which fixed costs are used to operate the business. In general, high fixed costs indicate that a company is highly leveraged.</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Recall that fixed costs are subtracted from contribution margin to calculate net operating income (profit). If fixed costs are zero, contribution margin (numerator) and net operating income (denominator) are equal, resulting in a degree of operating leverage of one. A degree of operating leverage greater than one means that  managers are using fixed costs for some operations. Fixed costs do not change with volume; as a result, a degree of operating leverage greater than one means that a given change in sales volume will impact profit to a larger degree. </a:t>
            </a:r>
          </a:p>
        </p:txBody>
      </p:sp>
    </p:spTree>
    <p:extLst>
      <p:ext uri="{BB962C8B-B14F-4D97-AF65-F5344CB8AC3E}">
        <p14:creationId xmlns:p14="http://schemas.microsoft.com/office/powerpoint/2010/main" val="31145664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noTextEdit="1"/>
          </p:cNvSpPr>
          <p:nvPr>
            <p:ph type="sldImg"/>
          </p:nvPr>
        </p:nvSpPr>
        <p:spPr bwMode="auto">
          <a:noFill/>
          <a:ln>
            <a:solidFill>
              <a:srgbClr val="000000"/>
            </a:solidFill>
            <a:miter lim="800000"/>
            <a:headEnd/>
            <a:tailEnd/>
          </a:ln>
        </p:spPr>
      </p:sp>
      <p:sp>
        <p:nvSpPr>
          <p:cNvPr id="9625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Let’s see how the trade-off of fixed and variable costs (through automation) affects Starbucks’ degree of operating leverage. As a starting point, we use the indifference point of 20,000 units so that sales revenue and profit will be the same in both scenarios.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Although profit is the same at 20,000 units, the degree of operating leverage is higher with automation 2.44 ($44,000/$18,000) than without it,</a:t>
            </a:r>
            <a:r>
              <a:rPr lang="en-US" baseline="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1.67($30,000/$18,000). The reason is that automation requires an investment in fixed costs. </a:t>
            </a:r>
          </a:p>
        </p:txBody>
      </p:sp>
    </p:spTree>
    <p:extLst>
      <p:ext uri="{BB962C8B-B14F-4D97-AF65-F5344CB8AC3E}">
        <p14:creationId xmlns:p14="http://schemas.microsoft.com/office/powerpoint/2010/main" val="10039162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p:cNvSpPr>
            <a:spLocks noGrp="1" noRot="1" noChangeAspect="1" noTextEdit="1"/>
          </p:cNvSpPr>
          <p:nvPr>
            <p:ph type="sldImg"/>
          </p:nvPr>
        </p:nvSpPr>
        <p:spPr bwMode="auto">
          <a:noFill/>
          <a:ln>
            <a:solidFill>
              <a:srgbClr val="000000"/>
            </a:solidFill>
            <a:miter lim="800000"/>
            <a:headEnd/>
            <a:tailEnd/>
          </a:ln>
        </p:spPr>
      </p:sp>
      <p:sp>
        <p:nvSpPr>
          <p:cNvPr id="9830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The degree of operating leverage is a multiplier that we can use to predict how a percentage change in sales revenue will translate into a percentage change in profit. In this example, if sales revenue increases by 10 percent, profit will increase by 16.7 percent (10% × 1.67) without automation or 24.4 percent (10% × 2.44) with automation.</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Keep in mind that operating leverage works in both directions. It magnifies the effect of both increases and decreases in sales revenue. If sales decrease by 10 percent, the company will experience a more dramatic decline in profit with automation than without it. In general, a company with a high degree of operating leverage (high fixed costs) will experience greater swings in profit as a result of changes in sales revenue and is therefore considered riskier than a comparable company with a smaller degree of operating leverage. In making choices about cost structure, managers must consider both the rewards (potential for increased profit) and amount of risk (upside and downside) they are willing to bear.</a:t>
            </a:r>
          </a:p>
        </p:txBody>
      </p:sp>
    </p:spTree>
    <p:extLst>
      <p:ext uri="{BB962C8B-B14F-4D97-AF65-F5344CB8AC3E}">
        <p14:creationId xmlns:p14="http://schemas.microsoft.com/office/powerpoint/2010/main" val="23637054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4" name="Notes Placeholder 2"/>
          <p:cNvSpPr>
            <a:spLocks noGrp="1"/>
          </p:cNvSpPr>
          <p:nvPr>
            <p:ph type="body" idx="1"/>
          </p:nvPr>
        </p:nvSpPr>
        <p:spPr bwMode="auto">
          <a:noFill/>
        </p:spPr>
        <p:txBody>
          <a:bodyPr wrap="square" numCol="1" anchor="t" anchorCtr="0" compatLnSpc="1">
            <a:prstTxWarp prst="textNoShape">
              <a:avLst/>
            </a:prstTxWarp>
          </a:bodyPr>
          <a:lstStyle/>
          <a:p>
            <a:pPr marL="0" lvl="1" eaLnBrk="1" hangingPunct="1">
              <a:spcBef>
                <a:spcPct val="0"/>
              </a:spcBef>
            </a:pPr>
            <a:r>
              <a:rPr lang="en-US" dirty="0">
                <a:latin typeface="Arial" panose="020B0604020202020204" pitchFamily="34" charset="0"/>
                <a:cs typeface="Arial" panose="020B0604020202020204" pitchFamily="34" charset="0"/>
              </a:rPr>
              <a:t>Learning objective 6-6 is to perform multiproduct cost-volume-profit analysis and explain how the product or sales mix affects the analysis.</a:t>
            </a:r>
          </a:p>
        </p:txBody>
      </p:sp>
    </p:spTree>
    <p:extLst>
      <p:ext uri="{BB962C8B-B14F-4D97-AF65-F5344CB8AC3E}">
        <p14:creationId xmlns:p14="http://schemas.microsoft.com/office/powerpoint/2010/main" val="22648186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1026"/>
          <p:cNvSpPr>
            <a:spLocks noGrp="1" noRot="1" noChangeAspect="1" noChangeArrowheads="1" noTextEdit="1"/>
          </p:cNvSpPr>
          <p:nvPr>
            <p:ph type="sldImg"/>
          </p:nvPr>
        </p:nvSpPr>
        <p:spPr bwMode="auto">
          <a:noFill/>
          <a:ln>
            <a:solidFill>
              <a:srgbClr val="000000"/>
            </a:solidFill>
            <a:miter lim="800000"/>
            <a:headEnd/>
            <a:tailEnd/>
          </a:ln>
        </p:spPr>
      </p:sp>
      <p:sp>
        <p:nvSpPr>
          <p:cNvPr id="102402" name="Rectangle 1027"/>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In the previous examples, we simplified the CVP analysis by assuming that Starbucks sells only one type and size of coffee drink. But we all know that Starbucks, and most other businesses, offer more than one product or service. For example, Starbucks sells coffee, tea, pastries, sandwiches, salads, mugs, T-shirts, and other novelty items. Each of these items is likely to have a different price and unit cost, which makes the CVP analysis more complex.</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key to performing CVP analysis in a multiproduct setting is to make an assumption about the relative mix of products or services sold. The mix can be stated in terms of the number of units sold (called the product mix) or as a percentage of total sales revenue (called the sales mix). The product mix is used to compute the weighted-average contribution margin per unit, while the sales mix is used to compute the weighted-average contribution margin ratio, or contribution margin as a percentage of sales. Either of these numbers can be used for multiproduct cost-volume-profit analysis, including break-even or target profit analysis. Which method you use depends on how the information is presented and whether you are trying to solve for the number of units or total sales revenue. As with the single-product scenarios, both methods will yield the same answer as long as you have complete information about unit sales prices. The only caveat is that the analysis will be valid only for the assumed product or sales mix.</a:t>
            </a:r>
            <a:endParaRPr lang="en-US"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5825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1026"/>
          <p:cNvSpPr>
            <a:spLocks noGrp="1" noRot="1" noChangeAspect="1" noChangeArrowheads="1" noTextEdit="1"/>
          </p:cNvSpPr>
          <p:nvPr>
            <p:ph type="sldImg"/>
          </p:nvPr>
        </p:nvSpPr>
        <p:spPr bwMode="auto">
          <a:noFill/>
          <a:ln>
            <a:solidFill>
              <a:srgbClr val="000000"/>
            </a:solidFill>
            <a:miter lim="800000"/>
            <a:headEnd/>
            <a:tailEnd/>
          </a:ln>
        </p:spPr>
      </p:sp>
      <p:sp>
        <p:nvSpPr>
          <p:cNvPr id="104450" name="Rectangle 1027"/>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Let’s start by stating the product mix in units, which will be used to calculate a weighted-average unit contribution margin. The weighted-average unit contribution margin is then used in place of the single product unit contribution margin in the cost-volume-profit analysis. The weighted-average unit contribution margin is the average unit contribution margin of multiple products weighted according to the percentage of units sold.</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To illustrate, let’s extend our Starbucks example to incorporate two product offerings: coffee and pastries. While unrealistic, this simple example illustrates the concepts and techniques needed to apply CVP to even more product and service offerings. </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Notice that pastries have a higher unit contribution margin ($2.75) than coffee ($1.50). We can calculate a weighted-average of these two numbers, with the weight based on the relative proportion (mix) of units sold.</a:t>
            </a:r>
          </a:p>
        </p:txBody>
      </p:sp>
    </p:spTree>
    <p:extLst>
      <p:ext uri="{BB962C8B-B14F-4D97-AF65-F5344CB8AC3E}">
        <p14:creationId xmlns:p14="http://schemas.microsoft.com/office/powerpoint/2010/main" val="33127588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The management at Starbucks estimates that 60% of units sold are coffee and 40% are pastries. </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We can calculate a weighted-average of these two numbers, with the weight based on the relative proportion (mix) of units sold. The coffee</a:t>
            </a:r>
            <a:r>
              <a:rPr lang="en-US" baseline="0" dirty="0">
                <a:latin typeface="Arial" panose="020B0604020202020204" pitchFamily="34" charset="0"/>
                <a:cs typeface="Arial" panose="020B0604020202020204" pitchFamily="34" charset="0"/>
              </a:rPr>
              <a:t> unit contribution margin of $1.50 x 60% plus the pastries unit contribution margin of $2.75 x 40% gives a weighted-average unit contribution margin of $2.00 ($0.90 + $1.10)</a:t>
            </a: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$2 weighted-average unit contribution margin means that Starbucks will make an average of $2 in contribution margin for each unit sold, but only if 60 percent of the units are coffee and 40 percent are pastries. This weighted-average contribution margin can be used in place of the single product unit contribution margin to complete CVP analysis using the unit contribution margin method.</a:t>
            </a:r>
          </a:p>
        </p:txBody>
      </p:sp>
    </p:spTree>
    <p:extLst>
      <p:ext uri="{BB962C8B-B14F-4D97-AF65-F5344CB8AC3E}">
        <p14:creationId xmlns:p14="http://schemas.microsoft.com/office/powerpoint/2010/main" val="34860566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latin typeface="Arial" panose="020B0604020202020204" pitchFamily="34" charset="0"/>
                <a:cs typeface="Arial" panose="020B0604020202020204" pitchFamily="34" charset="0"/>
              </a:rPr>
              <a:t>At the break-even point, fixed costs must be exactly equal to contribution margin. If we divided the total fixed costs by the weighted-average unit contribution margin, the result tells us how many total units must be sold to break even. We then use the assumed product mix to determine how many units of each product type must be sold.  </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Starbucks' monthly fixed costs are still $12,000, and with the weighted-average unit contribution margin of $2.00, the break-even units are 6,000.  Since the $2.00 weighted-average contribution margin was based on a 60%/40% percent product mix, we must use the same mix to determine the units of each individual product. The company should break-even if it sells 3,600 units of coffee (6,000 x 60%) and 2,400 units of pastries (6,000 x 40%).</a:t>
            </a:r>
          </a:p>
          <a:p>
            <a:pPr eaLnBrk="1" hangingPunct="1">
              <a:spcBef>
                <a:spcPct val="0"/>
              </a:spcBef>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64554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8"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dirty="0">
                <a:latin typeface="Arial" panose="020B0604020202020204" pitchFamily="34" charset="0"/>
                <a:cs typeface="Arial" panose="020B0604020202020204" pitchFamily="34" charset="0"/>
              </a:rPr>
              <a:t>Next, we extend the cost-volume-profit analysis to include a target profit. Assume that Starbucks serves four coffee drinks for every pastry (or a 4:1 ratio). The new product mix is 80 percent coffee units and 20 percent pastry units. The weighted-average unit contribution margin based on this product mix is $1.75 ($1.50 x 80% + 2.75 x 20%). Because the coffee product is weighted more heavily, it will lower the weighted-average contribution margin. </a:t>
            </a:r>
          </a:p>
          <a:p>
            <a:pPr eaLnBrk="1" hangingPunct="1">
              <a:spcBef>
                <a:spcPct val="0"/>
              </a:spcBef>
            </a:pPr>
            <a:endParaRPr lang="en-US" dirty="0">
              <a:cs typeface="Verdana" panose="020B0604030504040204" pitchFamily="34" charset="0"/>
            </a:endParaRPr>
          </a:p>
        </p:txBody>
      </p:sp>
    </p:spTree>
    <p:extLst>
      <p:ext uri="{BB962C8B-B14F-4D97-AF65-F5344CB8AC3E}">
        <p14:creationId xmlns:p14="http://schemas.microsoft.com/office/powerpoint/2010/main" val="34860566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If the Starbucks manager wants to earn a monthly profit of $9,000 and monthly fixed costs remain at $12,000, using the new weighted-average contribution margin</a:t>
            </a:r>
            <a:r>
              <a:rPr lang="en-US" baseline="0" dirty="0">
                <a:latin typeface="Arial" panose="020B0604020202020204" pitchFamily="34" charset="0"/>
                <a:cs typeface="Arial" panose="020B0604020202020204" pitchFamily="34" charset="0"/>
              </a:rPr>
              <a:t> of $1.75, </a:t>
            </a:r>
            <a:r>
              <a:rPr lang="en-US" dirty="0">
                <a:latin typeface="Arial" panose="020B0604020202020204" pitchFamily="34" charset="0"/>
                <a:cs typeface="Arial" panose="020B0604020202020204" pitchFamily="34" charset="0"/>
              </a:rPr>
              <a:t>how many coffee and pastry units must be sold? The break-even</a:t>
            </a:r>
            <a:r>
              <a:rPr lang="en-US" baseline="0" dirty="0">
                <a:latin typeface="Arial" panose="020B0604020202020204" pitchFamily="34" charset="0"/>
                <a:cs typeface="Arial" panose="020B0604020202020204" pitchFamily="34" charset="0"/>
              </a:rPr>
              <a:t> is 12,000 units (($12,000 + $9,000)/$1.75)</a:t>
            </a: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company will earn $9,000 profit if it sells 9,600 coffee drinks (12,000</a:t>
            </a:r>
            <a:r>
              <a:rPr lang="en-US" baseline="0" dirty="0">
                <a:latin typeface="Arial" panose="020B0604020202020204" pitchFamily="34" charset="0"/>
                <a:cs typeface="Arial" panose="020B0604020202020204" pitchFamily="34" charset="0"/>
              </a:rPr>
              <a:t> x 80%)</a:t>
            </a:r>
            <a:r>
              <a:rPr lang="en-US" dirty="0">
                <a:latin typeface="Arial" panose="020B0604020202020204" pitchFamily="34" charset="0"/>
                <a:cs typeface="Arial" panose="020B0604020202020204" pitchFamily="34" charset="0"/>
              </a:rPr>
              <a:t> and 2,400 pastries (12,000 x 20%).</a:t>
            </a:r>
          </a:p>
          <a:p>
            <a:pPr eaLnBrk="1" hangingPunct="1">
              <a:spcBef>
                <a:spcPct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89614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Slide Image Placeholder 1"/>
          <p:cNvSpPr>
            <a:spLocks noGrp="1" noRot="1" noChangeAspect="1" noTextEdit="1"/>
          </p:cNvSpPr>
          <p:nvPr>
            <p:ph type="sldImg"/>
          </p:nvPr>
        </p:nvSpPr>
        <p:spPr bwMode="auto">
          <a:noFill/>
          <a:ln>
            <a:solidFill>
              <a:srgbClr val="000000"/>
            </a:solidFill>
            <a:miter lim="800000"/>
            <a:headEnd/>
            <a:tailEnd/>
          </a:ln>
        </p:spPr>
      </p:sp>
      <p:sp>
        <p:nvSpPr>
          <p:cNvPr id="11469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We can confirm this result by preparing a contribution margin income statement. This statement confirms the results of our target profit analysis. Profit will be $9,000 if the company sells 12,000 units, with 9,600 units of coffee (80 percent) and 2,400 units of pastries (20 percent).</a:t>
            </a:r>
          </a:p>
        </p:txBody>
      </p:sp>
    </p:spTree>
    <p:extLst>
      <p:ext uri="{BB962C8B-B14F-4D97-AF65-F5344CB8AC3E}">
        <p14:creationId xmlns:p14="http://schemas.microsoft.com/office/powerpoint/2010/main" val="5241694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We can also do multiproduct CVP analysis by using the sales mix (stated in terms of total sales dollars) to compute the weighted-average contribution margin ratio. This approach is commonly used in business because managers often have aggregated information about revenue and costs by product line (as opposed to the detailed information about prices, quantities, etc.)</a:t>
            </a:r>
          </a:p>
        </p:txBody>
      </p:sp>
    </p:spTree>
    <p:extLst>
      <p:ext uri="{BB962C8B-B14F-4D97-AF65-F5344CB8AC3E}">
        <p14:creationId xmlns:p14="http://schemas.microsoft.com/office/powerpoint/2010/main" val="35733665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Slide Image Placeholder 1"/>
          <p:cNvSpPr>
            <a:spLocks noGrp="1" noRot="1" noChangeAspect="1" noTextEdit="1"/>
          </p:cNvSpPr>
          <p:nvPr>
            <p:ph type="sldImg"/>
          </p:nvPr>
        </p:nvSpPr>
        <p:spPr bwMode="auto">
          <a:noFill/>
          <a:ln>
            <a:solidFill>
              <a:srgbClr val="000000"/>
            </a:solidFill>
            <a:miter lim="800000"/>
            <a:headEnd/>
            <a:tailEnd/>
          </a:ln>
        </p:spPr>
      </p:sp>
      <p:sp>
        <p:nvSpPr>
          <p:cNvPr id="1187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Consider the following contribution margin statement for Starbucks. This is the same income statement we just prepared for a target profit of $9,000, but the numbers have been restated as a percentage of total sales revenue. The weighted-average contribution margin ratio reflects the contribution margin ratios of the two products weighted according to the relative percentage of total sales revenue.</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In this example, the sales mix is 71.43 percent ($24,000 ÷ $33,600) from coffee and 28.57 percent ($9,600 ÷ $33,600) from pastries. The sales mix is based on total sales revenue (dollars) not units. The 62.5 percent ($21,000/$33,600) means overall or weighted-average contribution margin ratio that every dollar of sales revenue will generate an average of $0.625 in contribution margin. But this number only holds if the sales mix is 71.43 percent coffee and 28.57 percent pastries.</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Managers can use the 62.5 percent weighted-average contribution margin ratio to determine how much total sales revenue is needed to break even or earn a target profit.</a:t>
            </a:r>
          </a:p>
        </p:txBody>
      </p:sp>
    </p:spTree>
    <p:extLst>
      <p:ext uri="{BB962C8B-B14F-4D97-AF65-F5344CB8AC3E}">
        <p14:creationId xmlns:p14="http://schemas.microsoft.com/office/powerpoint/2010/main" val="30216293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Slide Image Placeholder 1"/>
          <p:cNvSpPr>
            <a:spLocks noGrp="1" noRot="1" noChangeAspect="1"/>
          </p:cNvSpPr>
          <p:nvPr>
            <p:ph type="sldImg"/>
          </p:nvPr>
        </p:nvSpPr>
        <p:spPr bwMode="auto">
          <a:noFill/>
          <a:ln>
            <a:solidFill>
              <a:srgbClr val="000000"/>
            </a:solidFill>
            <a:miter lim="800000"/>
            <a:headEnd/>
            <a:tailEnd/>
          </a:ln>
        </p:spPr>
      </p:sp>
      <p:sp>
        <p:nvSpPr>
          <p:cNvPr id="1208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latin typeface="Arial" panose="020B0604020202020204" pitchFamily="34" charset="0"/>
                <a:cs typeface="Arial" panose="020B0604020202020204" pitchFamily="34" charset="0"/>
              </a:rPr>
              <a:t>Assume that the Starbucks’ manager wants to earn a target profit of $15,000. Given the assumed sales mix, what is the total sales revenue needed to achieve this target profit?</a:t>
            </a: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To answer this question, we can use the target sales formula, with the weighted-average contribution margin ratio as the denominator</a:t>
            </a:r>
            <a:r>
              <a:rPr lang="en-US" baseline="0"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To determine how much of the $43,200 ($12,000</a:t>
            </a:r>
            <a:r>
              <a:rPr lang="en-US" baseline="0" dirty="0">
                <a:latin typeface="Arial" panose="020B0604020202020204" pitchFamily="34" charset="0"/>
                <a:cs typeface="Arial" panose="020B0604020202020204" pitchFamily="34" charset="0"/>
              </a:rPr>
              <a:t> + $15,000)/62.5%)</a:t>
            </a:r>
            <a:r>
              <a:rPr lang="en-US" dirty="0">
                <a:latin typeface="Arial" panose="020B0604020202020204" pitchFamily="34" charset="0"/>
                <a:cs typeface="Arial" panose="020B0604020202020204" pitchFamily="34" charset="0"/>
              </a:rPr>
              <a:t> in target sales revenue must come from each product line, we multiply by the assumed sales mix. Notice that we used the total sales mix (not the unit sales mix) to determine how much of the total sales revenue must come from coffee and pastries. Remember that the 62.5% weighted-average contribution margin ratio was weighted according to the sales mix, not the product mix.  Coffee sales would need</a:t>
            </a:r>
            <a:r>
              <a:rPr lang="en-US" baseline="0" dirty="0">
                <a:latin typeface="Arial" panose="020B0604020202020204" pitchFamily="34" charset="0"/>
                <a:cs typeface="Arial" panose="020B0604020202020204" pitchFamily="34" charset="0"/>
              </a:rPr>
              <a:t> to be $30,858 ($43,200 x 71.43%) and pastry sales would need to be $12,342 ($43,200 x 28.57%)</a:t>
            </a:r>
            <a:endParaRPr lang="en-US" dirty="0">
              <a:latin typeface="Arial" panose="020B0604020202020204" pitchFamily="34" charset="0"/>
              <a:cs typeface="Arial" panose="020B0604020202020204" pitchFamily="34" charset="0"/>
            </a:endParaRPr>
          </a:p>
          <a:p>
            <a:pPr eaLnBrk="1" hangingPunct="1">
              <a:spcBef>
                <a:spcPct val="0"/>
              </a:spcBef>
            </a:pPr>
            <a:endParaRPr lang="en-US" dirty="0">
              <a:latin typeface="Arial" panose="020B0604020202020204" pitchFamily="34" charset="0"/>
              <a:cs typeface="Arial" panose="020B0604020202020204" pitchFamily="34" charset="0"/>
            </a:endParaRPr>
          </a:p>
          <a:p>
            <a:pPr eaLnBrk="1" hangingPunct="1">
              <a:spcBef>
                <a:spcPct val="0"/>
              </a:spcBef>
            </a:pPr>
            <a:r>
              <a:rPr lang="en-US" dirty="0">
                <a:latin typeface="Arial" panose="020B0604020202020204" pitchFamily="34" charset="0"/>
                <a:cs typeface="Arial" panose="020B0604020202020204" pitchFamily="34" charset="0"/>
              </a:rPr>
              <a:t>The most important thing to remember when performing cost-volume-profit analysis in a multiproduct setting is to assume and maintain a constant product or sales mix. The mix can be stated in terms of the number of units sold or as a percentage of total sales revenue. The only difference between the two is the unit sales price (which is excluded from the product mix but included in the sales mix). Either approach provides the same end result.</a:t>
            </a:r>
          </a:p>
        </p:txBody>
      </p:sp>
    </p:spTree>
    <p:extLst>
      <p:ext uri="{BB962C8B-B14F-4D97-AF65-F5344CB8AC3E}">
        <p14:creationId xmlns:p14="http://schemas.microsoft.com/office/powerpoint/2010/main" val="2727107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DB14D-2B79-4743-8E04-BB98281AAE4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CN"/>
          </a:p>
        </p:txBody>
      </p:sp>
      <p:sp>
        <p:nvSpPr>
          <p:cNvPr id="3" name="Subtitle 2">
            <a:extLst>
              <a:ext uri="{FF2B5EF4-FFF2-40B4-BE49-F238E27FC236}">
                <a16:creationId xmlns:a16="http://schemas.microsoft.com/office/drawing/2014/main" id="{08D33E19-1631-8347-A53A-FAC797D0C6D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794C8E6E-D0CF-4345-8E84-78374F6DE7E6}"/>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5" name="Footer Placeholder 4">
            <a:extLst>
              <a:ext uri="{FF2B5EF4-FFF2-40B4-BE49-F238E27FC236}">
                <a16:creationId xmlns:a16="http://schemas.microsoft.com/office/drawing/2014/main" id="{520A4499-5BF1-734C-B6EA-610B670D1D76}"/>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23F60BC-EFDE-1846-9F04-60362B995D4A}"/>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2507699802"/>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7D502-A234-9648-B4BD-97F05584DAEF}"/>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79C855F-8117-324D-A6E8-BA2A181047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836EDB9F-0EB6-2C48-9953-904A9EBB82DB}"/>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5" name="Footer Placeholder 4">
            <a:extLst>
              <a:ext uri="{FF2B5EF4-FFF2-40B4-BE49-F238E27FC236}">
                <a16:creationId xmlns:a16="http://schemas.microsoft.com/office/drawing/2014/main" id="{6A85BAF7-113B-E141-AB10-2B9F25237A94}"/>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C2D70A86-35A1-4745-95FE-E32E50331624}"/>
              </a:ext>
            </a:extLst>
          </p:cNvPr>
          <p:cNvSpPr>
            <a:spLocks noGrp="1"/>
          </p:cNvSpPr>
          <p:nvPr>
            <p:ph type="sldNum" sz="quarter" idx="12"/>
          </p:nvPr>
        </p:nvSpPr>
        <p:spPr/>
        <p:txBody>
          <a:bodyPr/>
          <a:lstStyle/>
          <a:p>
            <a:fld id="{A682718D-BA77-1D4D-B42F-A49234578B8E}" type="slidenum">
              <a:rPr lang="en-CN" smtClean="0"/>
              <a:t>‹#›</a:t>
            </a:fld>
            <a:endParaRPr lang="en-CN"/>
          </a:p>
        </p:txBody>
      </p:sp>
      <p:sp>
        <p:nvSpPr>
          <p:cNvPr id="7" name="TextBox 6">
            <a:extLst>
              <a:ext uri="{FF2B5EF4-FFF2-40B4-BE49-F238E27FC236}">
                <a16:creationId xmlns:a16="http://schemas.microsoft.com/office/drawing/2014/main" id="{823940A4-6FE1-BD47-928B-4826631F358C}"/>
              </a:ext>
            </a:extLst>
          </p:cNvPr>
          <p:cNvSpPr txBox="1"/>
          <p:nvPr userDrawn="1"/>
        </p:nvSpPr>
        <p:spPr>
          <a:xfrm>
            <a:off x="8520007" y="6611779"/>
            <a:ext cx="623993" cy="246221"/>
          </a:xfrm>
          <a:prstGeom prst="rect">
            <a:avLst/>
          </a:prstGeom>
          <a:noFill/>
        </p:spPr>
        <p:txBody>
          <a:bodyPr wrap="square">
            <a:spAutoFit/>
          </a:bodyPr>
          <a:lstStyle/>
          <a:p>
            <a:pPr algn="r">
              <a:defRPr/>
            </a:pPr>
            <a:r>
              <a:rPr lang="en-US" sz="10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000" smtClean="0">
                <a:latin typeface="Verdana" panose="020B0604030504040204" pitchFamily="34" charset="0"/>
                <a:ea typeface="Verdana" panose="020B0604030504040204" pitchFamily="34" charset="0"/>
                <a:cs typeface="Verdana" panose="020B0604030504040204" pitchFamily="34" charset="0"/>
              </a:rPr>
              <a:pPr algn="r">
                <a:defRPr/>
              </a:pPr>
              <a:t>‹#›</a:t>
            </a:fld>
            <a:endParaRPr lang="en-US" sz="1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974763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3B58-0527-6647-97CB-3FCD1003040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D8ED2A67-1248-394E-9FFE-930AD5C2EB8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756A89-D6C6-2947-A7CE-36843500B238}"/>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5" name="Footer Placeholder 4">
            <a:extLst>
              <a:ext uri="{FF2B5EF4-FFF2-40B4-BE49-F238E27FC236}">
                <a16:creationId xmlns:a16="http://schemas.microsoft.com/office/drawing/2014/main" id="{ABEF9591-D8AF-9348-97A7-A93AC1985CA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76680D23-5E1C-294A-A772-26035CEA7078}"/>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3242311553"/>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C73AC-7D9B-514C-AEF8-AF26C273F21B}"/>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CBB91642-F9C7-DA4A-98A1-F66DCDDF2A5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0392D0B3-7438-FE4E-BEB9-38346DECFF19}"/>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F6386883-28D2-CE45-9A27-70FF309CF9B1}"/>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6" name="Footer Placeholder 5">
            <a:extLst>
              <a:ext uri="{FF2B5EF4-FFF2-40B4-BE49-F238E27FC236}">
                <a16:creationId xmlns:a16="http://schemas.microsoft.com/office/drawing/2014/main" id="{F4FCDE14-6433-FD48-9C00-CEE6A03E7DBB}"/>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2F68EEDC-1DB2-4E44-98E1-3F83843AE628}"/>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2380037222"/>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C0EDE-8FDD-724C-B727-F7F72062B25C}"/>
              </a:ext>
            </a:extLst>
          </p:cNvPr>
          <p:cNvSpPr>
            <a:spLocks noGrp="1"/>
          </p:cNvSpPr>
          <p:nvPr>
            <p:ph type="title"/>
          </p:nvPr>
        </p:nvSpPr>
        <p:spPr>
          <a:xfrm>
            <a:off x="629841" y="365126"/>
            <a:ext cx="78867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40AAC751-6704-4349-92B6-7CD4D668125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9A73D94-AB61-0C44-A221-4FF74AF07EE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23491E90-F38D-2244-A3EC-0E6E96109FF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EB8FE2A-036B-2545-8585-8FADBB7D6E1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3087BDC3-DE27-D349-AC7E-086A0A31A9D9}"/>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8" name="Footer Placeholder 7">
            <a:extLst>
              <a:ext uri="{FF2B5EF4-FFF2-40B4-BE49-F238E27FC236}">
                <a16:creationId xmlns:a16="http://schemas.microsoft.com/office/drawing/2014/main" id="{B1CE304C-C3EA-0B40-BEE8-087CD7415A35}"/>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B91BC38E-A58E-1F4A-AA8F-ADD71F405A37}"/>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2511978725"/>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82F3E-7A87-4149-AC2F-00778EB7C30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900772D4-23C7-3A43-B314-EB73086CC01E}"/>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4" name="Footer Placeholder 3">
            <a:extLst>
              <a:ext uri="{FF2B5EF4-FFF2-40B4-BE49-F238E27FC236}">
                <a16:creationId xmlns:a16="http://schemas.microsoft.com/office/drawing/2014/main" id="{8F532091-D9F0-3143-9EF5-4285D3A3F20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186230A-CD09-0245-B706-B0CA4FC8E0E0}"/>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2567597536"/>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936583-9070-B942-9DAA-2FC56281D889}"/>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3" name="Footer Placeholder 2">
            <a:extLst>
              <a:ext uri="{FF2B5EF4-FFF2-40B4-BE49-F238E27FC236}">
                <a16:creationId xmlns:a16="http://schemas.microsoft.com/office/drawing/2014/main" id="{1B60540B-6D6F-8D4B-8105-5D3C430E89E5}"/>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5AE6F3B-FB9C-1348-A10E-C3A28A0DAE49}"/>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255494902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B7149-B886-1346-8E49-B53820C09AB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437C08B7-34C6-A04D-8B33-01DBB9697C0E}"/>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0710E979-F44F-8A45-8EF4-0537493CC80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20CCAEE-7240-174E-9FB2-77B6FA7A58F3}"/>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6" name="Footer Placeholder 5">
            <a:extLst>
              <a:ext uri="{FF2B5EF4-FFF2-40B4-BE49-F238E27FC236}">
                <a16:creationId xmlns:a16="http://schemas.microsoft.com/office/drawing/2014/main" id="{497DF06C-BCFD-F34D-A662-F2D7CD3455E2}"/>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4EC66A1A-B62E-3040-89D3-55642F78EBE5}"/>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3145014935"/>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31AFD-419E-7C47-A75C-B716AFE3CF5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608BFED5-0F2D-2940-A108-511DF18147A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N"/>
          </a:p>
        </p:txBody>
      </p:sp>
      <p:sp>
        <p:nvSpPr>
          <p:cNvPr id="4" name="Text Placeholder 3">
            <a:extLst>
              <a:ext uri="{FF2B5EF4-FFF2-40B4-BE49-F238E27FC236}">
                <a16:creationId xmlns:a16="http://schemas.microsoft.com/office/drawing/2014/main" id="{F98BE782-A935-144B-86C4-70C20667BFB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78D630C-1BCA-9846-B105-3A580404EDF7}"/>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6" name="Footer Placeholder 5">
            <a:extLst>
              <a:ext uri="{FF2B5EF4-FFF2-40B4-BE49-F238E27FC236}">
                <a16:creationId xmlns:a16="http://schemas.microsoft.com/office/drawing/2014/main" id="{68208483-08D9-104F-BC15-C41EA823B8AB}"/>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3B31EE87-CD68-1F47-8D5C-55D67A2CAA11}"/>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2647665816"/>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484F0-8FD8-4142-8B95-25ABE1072743}"/>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C62E1297-B1B2-894C-98FA-6CCF6CBEF3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03BA61FA-E1B6-AF48-B3C8-83B99626A43D}"/>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5" name="Footer Placeholder 4">
            <a:extLst>
              <a:ext uri="{FF2B5EF4-FFF2-40B4-BE49-F238E27FC236}">
                <a16:creationId xmlns:a16="http://schemas.microsoft.com/office/drawing/2014/main" id="{7F4A8E3A-131E-6743-B7D2-97A3FD5BEE00}"/>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4561066E-6D1C-384D-BC55-19CEDB77DD0E}"/>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4022053834"/>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9F71FF-9C18-DF4C-B57C-AEB2B1338B3A}"/>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22E1C24B-E3B0-EA40-9FF2-2257329A965E}"/>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12366E8E-3687-804D-A5C0-D817011D813A}"/>
              </a:ext>
            </a:extLst>
          </p:cNvPr>
          <p:cNvSpPr>
            <a:spLocks noGrp="1"/>
          </p:cNvSpPr>
          <p:nvPr>
            <p:ph type="dt" sz="half" idx="10"/>
          </p:nvPr>
        </p:nvSpPr>
        <p:spPr/>
        <p:txBody>
          <a:bodyPr/>
          <a:lstStyle/>
          <a:p>
            <a:fld id="{45F5C393-339C-124A-B26B-FB91BBD61A2C}" type="datetimeFigureOut">
              <a:rPr lang="en-CN" smtClean="0"/>
              <a:t>2021/3/8</a:t>
            </a:fld>
            <a:endParaRPr lang="en-CN"/>
          </a:p>
        </p:txBody>
      </p:sp>
      <p:sp>
        <p:nvSpPr>
          <p:cNvPr id="5" name="Footer Placeholder 4">
            <a:extLst>
              <a:ext uri="{FF2B5EF4-FFF2-40B4-BE49-F238E27FC236}">
                <a16:creationId xmlns:a16="http://schemas.microsoft.com/office/drawing/2014/main" id="{1DE14D7C-4061-C24B-9AE8-AB60E2E44530}"/>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B0C0910-9DFE-4946-A0BB-FA9B07C5A973}"/>
              </a:ext>
            </a:extLst>
          </p:cNvPr>
          <p:cNvSpPr>
            <a:spLocks noGrp="1"/>
          </p:cNvSpPr>
          <p:nvPr>
            <p:ph type="sldNum" sz="quarter" idx="12"/>
          </p:nvPr>
        </p:nvSpPr>
        <p:spPr/>
        <p:txBody>
          <a:bodyPr/>
          <a:lstStyle/>
          <a:p>
            <a:fld id="{A682718D-BA77-1D4D-B42F-A49234578B8E}" type="slidenum">
              <a:rPr lang="en-CN" smtClean="0"/>
              <a:t>‹#›</a:t>
            </a:fld>
            <a:endParaRPr lang="en-CN"/>
          </a:p>
        </p:txBody>
      </p:sp>
    </p:spTree>
    <p:extLst>
      <p:ext uri="{BB962C8B-B14F-4D97-AF65-F5344CB8AC3E}">
        <p14:creationId xmlns:p14="http://schemas.microsoft.com/office/powerpoint/2010/main" val="3764883661"/>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4"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US" dirty="0">
              <a:latin typeface="Arial" charset="0"/>
            </a:endParaRPr>
          </a:p>
        </p:txBody>
      </p:sp>
      <p:sp>
        <p:nvSpPr>
          <p:cNvPr id="6" name="Rounded Rectangle 5"/>
          <p:cNvSpPr/>
          <p:nvPr/>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5042" name="Rectangle 2"/>
          <p:cNvSpPr>
            <a:spLocks noGrp="1" noChangeArrowheads="1"/>
          </p:cNvSpPr>
          <p:nvPr>
            <p:ph type="ctrTitle"/>
          </p:nvPr>
        </p:nvSpPr>
        <p:spPr>
          <a:xfrm>
            <a:off x="838200" y="1447800"/>
            <a:ext cx="7623175" cy="1752600"/>
          </a:xfrm>
        </p:spPr>
        <p:txBody>
          <a:bodyPr/>
          <a:lstStyle>
            <a:lvl1pPr>
              <a:defRPr sz="5000">
                <a:solidFill>
                  <a:schemeClr val="tx1"/>
                </a:solidFill>
              </a:defRPr>
            </a:lvl1pPr>
          </a:lstStyle>
          <a:p>
            <a:r>
              <a:rPr lang="en-US" altLang="en-US" dirty="0"/>
              <a:t>Click to edit Master title style</a:t>
            </a:r>
          </a:p>
        </p:txBody>
      </p:sp>
      <p:sp>
        <p:nvSpPr>
          <p:cNvPr id="21504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solidFill>
                  <a:schemeClr val="tx1"/>
                </a:solidFill>
                <a:latin typeface="Arial Rounded MT Bold" pitchFamily="34" charset="0"/>
              </a:defRPr>
            </a:lvl1pPr>
          </a:lstStyle>
          <a:p>
            <a:r>
              <a:rPr lang="en-US" altLang="en-US"/>
              <a:t>Click to edit Master subtitle style</a:t>
            </a:r>
            <a:endParaRPr lang="en-US" altLang="en-US" dirty="0"/>
          </a:p>
        </p:txBody>
      </p:sp>
      <p:sp>
        <p:nvSpPr>
          <p:cNvPr id="7" name="Rounded Rectangle 6"/>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 name="Text Placeholder 2"/>
          <p:cNvSpPr>
            <a:spLocks noGrp="1"/>
          </p:cNvSpPr>
          <p:nvPr>
            <p:ph type="body" sz="quarter" idx="10"/>
          </p:nvPr>
        </p:nvSpPr>
        <p:spPr>
          <a:xfrm>
            <a:off x="2743200" y="5943600"/>
            <a:ext cx="2362200" cy="304800"/>
          </a:xfrm>
        </p:spPr>
        <p:txBody>
          <a:bodyPr/>
          <a:lstStyle>
            <a:lvl1pPr marL="0" indent="0">
              <a:buNone/>
              <a:defRPr/>
            </a:lvl1pPr>
          </a:lstStyle>
          <a:p>
            <a:pPr lvl="0"/>
            <a:endParaRPr lang="en-US" dirty="0"/>
          </a:p>
        </p:txBody>
      </p:sp>
      <p:sp>
        <p:nvSpPr>
          <p:cNvPr id="8" name="Text Placeholder 6"/>
          <p:cNvSpPr>
            <a:spLocks noGrp="1"/>
          </p:cNvSpPr>
          <p:nvPr>
            <p:ph type="body" sz="quarter" idx="11" hasCustomPrompt="1"/>
          </p:nvPr>
        </p:nvSpPr>
        <p:spPr>
          <a:xfrm>
            <a:off x="609600" y="6629400"/>
            <a:ext cx="8077200" cy="228600"/>
          </a:xfrm>
        </p:spPr>
        <p:txBody>
          <a:bodyPr/>
          <a:lstStyle>
            <a:lvl1pPr marL="0" indent="0">
              <a:buNone/>
              <a:defRPr/>
            </a:lvl1pPr>
          </a:lstStyle>
          <a:p>
            <a:pPr algn="ctr"/>
            <a:r>
              <a:rPr lang="en-US" sz="800" dirty="0"/>
              <a:t>Copyright ©2020 McGraw-Hill Education. All rights reserved. No reproduction or distribution without the prior written consent of McGraw-Hill Education. </a:t>
            </a:r>
          </a:p>
        </p:txBody>
      </p:sp>
    </p:spTree>
    <p:extLst>
      <p:ext uri="{BB962C8B-B14F-4D97-AF65-F5344CB8AC3E}">
        <p14:creationId xmlns:p14="http://schemas.microsoft.com/office/powerpoint/2010/main" val="1028869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9" name="Rounded Rectangle 8"/>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latin typeface="Verdana" panose="020B0604030504040204" pitchFamily="34" charset="0"/>
            </a:endParaRPr>
          </a:p>
        </p:txBody>
      </p:sp>
      <p:sp>
        <p:nvSpPr>
          <p:cNvPr id="14" name="Title 1"/>
          <p:cNvSpPr>
            <a:spLocks noGrp="1"/>
          </p:cNvSpPr>
          <p:nvPr>
            <p:ph type="title"/>
          </p:nvPr>
        </p:nvSpPr>
        <p:spPr>
          <a:xfrm>
            <a:off x="457200" y="277813"/>
            <a:ext cx="8229600" cy="1139825"/>
          </a:xfrm>
        </p:spPr>
        <p:txBody>
          <a:bodyPr anchor="ctr"/>
          <a:lstStyle>
            <a:lvl1pPr algn="ctr">
              <a:defRPr sz="3600">
                <a:solidFill>
                  <a:srgbClr val="000000"/>
                </a:solidFill>
              </a:defRPr>
            </a:lvl1pPr>
          </a:lstStyle>
          <a:p>
            <a:r>
              <a:rPr lang="en-US" dirty="0"/>
              <a:t>Click to edit Master title style</a:t>
            </a:r>
          </a:p>
        </p:txBody>
      </p:sp>
      <p:sp>
        <p:nvSpPr>
          <p:cNvPr id="15" name="Text Placeholder 3"/>
          <p:cNvSpPr>
            <a:spLocks noGrp="1"/>
          </p:cNvSpPr>
          <p:nvPr>
            <p:ph type="body" sz="quarter" idx="10"/>
          </p:nvPr>
        </p:nvSpPr>
        <p:spPr>
          <a:xfrm>
            <a:off x="457200" y="1524000"/>
            <a:ext cx="7696200" cy="381000"/>
          </a:xfrm>
        </p:spPr>
        <p:txBody>
          <a:bodyPr/>
          <a:lstStyle>
            <a:lvl1pPr marL="0" indent="0">
              <a:buNone/>
              <a:defRPr sz="2600"/>
            </a:lvl1pPr>
          </a:lstStyle>
          <a:p>
            <a:pPr lvl="0"/>
            <a:r>
              <a:rPr lang="en-US" dirty="0"/>
              <a:t>Click to edit Master text styles</a:t>
            </a:r>
          </a:p>
        </p:txBody>
      </p:sp>
      <p:sp>
        <p:nvSpPr>
          <p:cNvPr id="16" name="Text Placeholder 3"/>
          <p:cNvSpPr>
            <a:spLocks noGrp="1"/>
          </p:cNvSpPr>
          <p:nvPr>
            <p:ph type="body" sz="quarter" idx="11"/>
          </p:nvPr>
        </p:nvSpPr>
        <p:spPr>
          <a:xfrm>
            <a:off x="457200" y="5867400"/>
            <a:ext cx="7696200" cy="381000"/>
          </a:xfrm>
        </p:spPr>
        <p:txBody>
          <a:bodyPr/>
          <a:lstStyle>
            <a:lvl1pPr marL="0" indent="0">
              <a:buNone/>
              <a:defRPr sz="2600"/>
            </a:lvl1pPr>
          </a:lstStyle>
          <a:p>
            <a:pPr lvl="0"/>
            <a:r>
              <a:rPr lang="en-US" dirty="0"/>
              <a:t>Click to edit Master text styles</a:t>
            </a:r>
          </a:p>
        </p:txBody>
      </p:sp>
      <p:sp>
        <p:nvSpPr>
          <p:cNvPr id="8" name="TextBox 7"/>
          <p:cNvSpPr txBox="1"/>
          <p:nvPr userDrawn="1"/>
        </p:nvSpPr>
        <p:spPr>
          <a:xfrm>
            <a:off x="8520007" y="6611779"/>
            <a:ext cx="623993" cy="246221"/>
          </a:xfrm>
          <a:prstGeom prst="rect">
            <a:avLst/>
          </a:prstGeom>
          <a:noFill/>
        </p:spPr>
        <p:txBody>
          <a:bodyPr wrap="square">
            <a:spAutoFit/>
          </a:bodyPr>
          <a:lstStyle/>
          <a:p>
            <a:pPr algn="r">
              <a:defRPr/>
            </a:pPr>
            <a:r>
              <a:rPr lang="en-US" sz="1000" dirty="0">
                <a:latin typeface="Verdana" panose="020B0604030504040204" pitchFamily="34" charset="0"/>
                <a:ea typeface="Verdana" panose="020B0604030504040204" pitchFamily="34" charset="0"/>
                <a:cs typeface="Verdana" panose="020B0604030504040204" pitchFamily="34" charset="0"/>
              </a:rPr>
              <a:t>6-</a:t>
            </a:r>
            <a:fld id="{4EA64432-D7FB-474E-9793-C1F507CC04A8}" type="slidenum">
              <a:rPr lang="en-US" sz="1000" smtClean="0">
                <a:latin typeface="Verdana" panose="020B0604030504040204" pitchFamily="34" charset="0"/>
                <a:ea typeface="Verdana" panose="020B0604030504040204" pitchFamily="34" charset="0"/>
                <a:cs typeface="Verdana" panose="020B0604030504040204" pitchFamily="34" charset="0"/>
              </a:rPr>
              <a:pPr algn="r">
                <a:defRPr/>
              </a:pPr>
              <a:t>‹#›</a:t>
            </a:fld>
            <a:endParaRPr lang="en-US" sz="1000" dirty="0">
              <a:latin typeface="Verdana" panose="020B0604030504040204" pitchFamily="34" charset="0"/>
              <a:ea typeface="Verdana" panose="020B0604030504040204" pitchFamily="34" charset="0"/>
              <a:cs typeface="Verdana" panose="020B0604030504040204" pitchFamily="34" charset="0"/>
            </a:endParaRPr>
          </a:p>
        </p:txBody>
      </p:sp>
      <p:sp>
        <p:nvSpPr>
          <p:cNvPr id="10" name="Text Placeholder 6"/>
          <p:cNvSpPr>
            <a:spLocks noGrp="1"/>
          </p:cNvSpPr>
          <p:nvPr>
            <p:ph type="body" sz="quarter" idx="12" hasCustomPrompt="1"/>
          </p:nvPr>
        </p:nvSpPr>
        <p:spPr>
          <a:xfrm>
            <a:off x="609600" y="6629400"/>
            <a:ext cx="8077200" cy="228600"/>
          </a:xfrm>
        </p:spPr>
        <p:txBody>
          <a:bodyPr/>
          <a:lstStyle>
            <a:lvl1pPr marL="0" indent="0">
              <a:buNone/>
              <a:defRPr/>
            </a:lvl1pPr>
          </a:lstStyle>
          <a:p>
            <a:pPr algn="ctr"/>
            <a:r>
              <a:rPr lang="en-US" sz="800" dirty="0"/>
              <a:t>Copyright ©2020 McGraw-Hill Education. All rights reserved. No reproduction or distribution without the prior written consent of McGraw-Hill Education. </a:t>
            </a:r>
          </a:p>
        </p:txBody>
      </p:sp>
    </p:spTree>
    <p:extLst>
      <p:ext uri="{BB962C8B-B14F-4D97-AF65-F5344CB8AC3E}">
        <p14:creationId xmlns:p14="http://schemas.microsoft.com/office/powerpoint/2010/main" val="2537313827"/>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lgn="ctr">
              <a:defRPr sz="3600">
                <a:solidFill>
                  <a:srgbClr val="000000"/>
                </a:solidFill>
              </a:defRPr>
            </a:lvl1pPr>
          </a:lstStyle>
          <a:p>
            <a:r>
              <a:rPr lang="en-US" dirty="0"/>
              <a:t>Click to edit Master title style</a:t>
            </a:r>
          </a:p>
        </p:txBody>
      </p:sp>
      <p:sp>
        <p:nvSpPr>
          <p:cNvPr id="4" name="Text Placeholder 3"/>
          <p:cNvSpPr>
            <a:spLocks noGrp="1"/>
          </p:cNvSpPr>
          <p:nvPr>
            <p:ph type="body" sz="quarter" idx="10"/>
          </p:nvPr>
        </p:nvSpPr>
        <p:spPr>
          <a:xfrm>
            <a:off x="457200" y="1524000"/>
            <a:ext cx="7696200" cy="381000"/>
          </a:xfrm>
        </p:spPr>
        <p:txBody>
          <a:bodyPr/>
          <a:lstStyle>
            <a:lvl1pPr marL="0" indent="0">
              <a:buNone/>
              <a:defRPr sz="2600"/>
            </a:lvl1pPr>
          </a:lstStyle>
          <a:p>
            <a:pPr lvl="0"/>
            <a:r>
              <a:rPr lang="en-US" dirty="0"/>
              <a:t>Click to edit Master text styles</a:t>
            </a:r>
          </a:p>
        </p:txBody>
      </p:sp>
      <p:sp>
        <p:nvSpPr>
          <p:cNvPr id="5" name="Text Placeholder 3"/>
          <p:cNvSpPr>
            <a:spLocks noGrp="1"/>
          </p:cNvSpPr>
          <p:nvPr>
            <p:ph type="body" sz="quarter" idx="11"/>
          </p:nvPr>
        </p:nvSpPr>
        <p:spPr>
          <a:xfrm>
            <a:off x="457200" y="5867400"/>
            <a:ext cx="7696200" cy="381000"/>
          </a:xfrm>
        </p:spPr>
        <p:txBody>
          <a:bodyPr/>
          <a:lstStyle>
            <a:lvl1pPr marL="0" indent="0">
              <a:buNone/>
              <a:defRPr sz="2600"/>
            </a:lvl1pPr>
          </a:lstStyle>
          <a:p>
            <a:pPr lvl="0"/>
            <a:r>
              <a:rPr lang="en-US" dirty="0"/>
              <a:t>Click to edit Master text styles</a:t>
            </a:r>
          </a:p>
        </p:txBody>
      </p:sp>
    </p:spTree>
    <p:extLst>
      <p:ext uri="{BB962C8B-B14F-4D97-AF65-F5344CB8AC3E}">
        <p14:creationId xmlns:p14="http://schemas.microsoft.com/office/powerpoint/2010/main" val="1345138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lgn="ctr">
              <a:defRPr sz="3600">
                <a:solidFill>
                  <a:srgbClr val="000000"/>
                </a:solidFill>
              </a:defRPr>
            </a:lvl1pPr>
          </a:lstStyle>
          <a:p>
            <a:r>
              <a:rPr lang="en-US" dirty="0"/>
              <a:t>Click to edit Master title style</a:t>
            </a:r>
          </a:p>
        </p:txBody>
      </p:sp>
      <p:sp>
        <p:nvSpPr>
          <p:cNvPr id="4" name="Text Placeholder 3"/>
          <p:cNvSpPr>
            <a:spLocks noGrp="1"/>
          </p:cNvSpPr>
          <p:nvPr>
            <p:ph type="body" sz="quarter" idx="10"/>
          </p:nvPr>
        </p:nvSpPr>
        <p:spPr>
          <a:xfrm>
            <a:off x="457200" y="1524000"/>
            <a:ext cx="7696200" cy="381000"/>
          </a:xfrm>
        </p:spPr>
        <p:txBody>
          <a:bodyPr/>
          <a:lstStyle>
            <a:lvl1pPr marL="0" indent="0">
              <a:buNone/>
              <a:defRPr sz="2600"/>
            </a:lvl1pPr>
          </a:lstStyle>
          <a:p>
            <a:pPr lvl="0"/>
            <a:r>
              <a:rPr lang="en-US" dirty="0"/>
              <a:t>Click to edit Master text styles</a:t>
            </a:r>
          </a:p>
        </p:txBody>
      </p:sp>
      <p:sp>
        <p:nvSpPr>
          <p:cNvPr id="5" name="Text Placeholder 3"/>
          <p:cNvSpPr>
            <a:spLocks noGrp="1"/>
          </p:cNvSpPr>
          <p:nvPr>
            <p:ph type="body" sz="quarter" idx="11"/>
          </p:nvPr>
        </p:nvSpPr>
        <p:spPr>
          <a:xfrm>
            <a:off x="457200" y="5867400"/>
            <a:ext cx="7696200" cy="381000"/>
          </a:xfrm>
        </p:spPr>
        <p:txBody>
          <a:bodyPr/>
          <a:lstStyle>
            <a:lvl1pPr marL="0" indent="0">
              <a:buNone/>
              <a:defRPr sz="2600"/>
            </a:lvl1pPr>
          </a:lstStyle>
          <a:p>
            <a:pPr lvl="0"/>
            <a:r>
              <a:rPr lang="en-US" dirty="0"/>
              <a:t>Click to edit Master text styles</a:t>
            </a:r>
          </a:p>
        </p:txBody>
      </p:sp>
    </p:spTree>
    <p:extLst>
      <p:ext uri="{BB962C8B-B14F-4D97-AF65-F5344CB8AC3E}">
        <p14:creationId xmlns:p14="http://schemas.microsoft.com/office/powerpoint/2010/main" val="2388837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4" name="Line 8"/>
          <p:cNvSpPr>
            <a:spLocks noChangeShapeType="1"/>
          </p:cNvSpPr>
          <p:nvPr/>
        </p:nvSpPr>
        <p:spPr bwMode="auto">
          <a:xfrm>
            <a:off x="1371600" y="3962400"/>
            <a:ext cx="6511925" cy="0"/>
          </a:xfrm>
          <a:prstGeom prst="line">
            <a:avLst/>
          </a:prstGeom>
          <a:noFill/>
          <a:ln w="19050">
            <a:solidFill>
              <a:schemeClr val="accent1"/>
            </a:solidFill>
            <a:round/>
            <a:headEnd/>
            <a:tailEnd/>
          </a:ln>
          <a:effectLst/>
        </p:spPr>
        <p:txBody>
          <a:bodyPr/>
          <a:lstStyle/>
          <a:p>
            <a:pPr>
              <a:defRPr/>
            </a:pPr>
            <a:endParaRPr lang="en-US" dirty="0">
              <a:latin typeface="Verdana" panose="020B0604030504040204" pitchFamily="34" charset="0"/>
            </a:endParaRPr>
          </a:p>
        </p:txBody>
      </p:sp>
      <p:sp>
        <p:nvSpPr>
          <p:cNvPr id="6" name="Rounded Rectangle 5"/>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latin typeface="Verdana" panose="020B0604030504040204" pitchFamily="34" charset="0"/>
            </a:endParaRPr>
          </a:p>
        </p:txBody>
      </p:sp>
      <p:sp>
        <p:nvSpPr>
          <p:cNvPr id="215042" name="Rectangle 2"/>
          <p:cNvSpPr>
            <a:spLocks noGrp="1" noChangeArrowheads="1"/>
          </p:cNvSpPr>
          <p:nvPr>
            <p:ph type="ctrTitle"/>
          </p:nvPr>
        </p:nvSpPr>
        <p:spPr>
          <a:xfrm>
            <a:off x="838200" y="1447800"/>
            <a:ext cx="7623175" cy="1752600"/>
          </a:xfrm>
        </p:spPr>
        <p:txBody>
          <a:bodyPr/>
          <a:lstStyle>
            <a:lvl1pPr>
              <a:defRPr sz="5000"/>
            </a:lvl1pPr>
          </a:lstStyle>
          <a:p>
            <a:r>
              <a:rPr lang="en-US" altLang="en-US"/>
              <a:t>Click to edit Master title style</a:t>
            </a:r>
          </a:p>
        </p:txBody>
      </p:sp>
      <p:sp>
        <p:nvSpPr>
          <p:cNvPr id="215043" name="Rectangle 3"/>
          <p:cNvSpPr>
            <a:spLocks noGrp="1" noChangeArrowheads="1"/>
          </p:cNvSpPr>
          <p:nvPr>
            <p:ph type="subTitle" idx="1"/>
          </p:nvPr>
        </p:nvSpPr>
        <p:spPr>
          <a:xfrm>
            <a:off x="1981200" y="4191000"/>
            <a:ext cx="6553200" cy="1752600"/>
          </a:xfrm>
        </p:spPr>
        <p:txBody>
          <a:bodyPr/>
          <a:lstStyle>
            <a:lvl1pPr marL="0" indent="0">
              <a:buFont typeface="Wingdings" pitchFamily="2" charset="2"/>
              <a:buNone/>
              <a:defRPr sz="2800">
                <a:latin typeface="Verdana" panose="020B0604030504040204" pitchFamily="34" charset="0"/>
              </a:defRPr>
            </a:lvl1pPr>
          </a:lstStyle>
          <a:p>
            <a:r>
              <a:rPr lang="en-US" altLang="en-US" dirty="0"/>
              <a:t>Click to edit Master subtitle style</a:t>
            </a:r>
          </a:p>
        </p:txBody>
      </p:sp>
      <p:sp>
        <p:nvSpPr>
          <p:cNvPr id="7" name="Text Placeholder 6"/>
          <p:cNvSpPr>
            <a:spLocks noGrp="1"/>
          </p:cNvSpPr>
          <p:nvPr>
            <p:ph type="body" sz="quarter" idx="10" hasCustomPrompt="1"/>
          </p:nvPr>
        </p:nvSpPr>
        <p:spPr>
          <a:xfrm>
            <a:off x="609600" y="6629400"/>
            <a:ext cx="8077200" cy="228600"/>
          </a:xfrm>
        </p:spPr>
        <p:txBody>
          <a:bodyPr/>
          <a:lstStyle>
            <a:lvl1pPr marL="0" indent="0">
              <a:buNone/>
              <a:defRPr/>
            </a:lvl1pPr>
          </a:lstStyle>
          <a:p>
            <a:pPr algn="ctr"/>
            <a:r>
              <a:rPr lang="en-US" sz="800" dirty="0"/>
              <a:t>Copyright ©2020 McGraw-Hill Education. All rights reserved. No reproduction or distribution without the prior written consent of McGraw-Hill Education. </a:t>
            </a:r>
          </a:p>
        </p:txBody>
      </p:sp>
    </p:spTree>
    <p:extLst>
      <p:ext uri="{BB962C8B-B14F-4D97-AF65-F5344CB8AC3E}">
        <p14:creationId xmlns:p14="http://schemas.microsoft.com/office/powerpoint/2010/main" val="3690098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1530A6-507F-264C-8ED0-0E874FF814B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CE97F326-AFFD-6640-B504-854D3E923D9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87588DE9-985E-104C-AE45-5B3F1BC3D4BD}"/>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5F5C393-339C-124A-B26B-FB91BBD61A2C}" type="datetimeFigureOut">
              <a:rPr lang="en-CN" smtClean="0"/>
              <a:t>2021/3/8</a:t>
            </a:fld>
            <a:endParaRPr lang="en-CN"/>
          </a:p>
        </p:txBody>
      </p:sp>
      <p:sp>
        <p:nvSpPr>
          <p:cNvPr id="5" name="Footer Placeholder 4">
            <a:extLst>
              <a:ext uri="{FF2B5EF4-FFF2-40B4-BE49-F238E27FC236}">
                <a16:creationId xmlns:a16="http://schemas.microsoft.com/office/drawing/2014/main" id="{BA150E53-4D6B-504C-AF23-58267330846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F11708A2-4EC6-3A4D-97F8-5C7A53C00CA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682718D-BA77-1D4D-B42F-A49234578B8E}" type="slidenum">
              <a:rPr lang="en-CN" smtClean="0"/>
              <a:t>‹#›</a:t>
            </a:fld>
            <a:endParaRPr lang="en-CN"/>
          </a:p>
        </p:txBody>
      </p:sp>
      <p:sp>
        <p:nvSpPr>
          <p:cNvPr id="7" name="Rounded Rectangle 6">
            <a:extLst>
              <a:ext uri="{FF2B5EF4-FFF2-40B4-BE49-F238E27FC236}">
                <a16:creationId xmlns:a16="http://schemas.microsoft.com/office/drawing/2014/main" id="{58798529-C901-C44A-B754-EE17A54F47C1}"/>
              </a:ext>
            </a:extLst>
          </p:cNvPr>
          <p:cNvSpPr/>
          <p:nvPr userDrawn="1"/>
        </p:nvSpPr>
        <p:spPr>
          <a:xfrm>
            <a:off x="98425" y="84138"/>
            <a:ext cx="8929688" cy="6545262"/>
          </a:xfrm>
          <a:prstGeom prst="roundRect">
            <a:avLst>
              <a:gd name="adj" fmla="val 722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latin typeface="Verdana" panose="020B0604030504040204" pitchFamily="34" charset="0"/>
            </a:endParaRPr>
          </a:p>
        </p:txBody>
      </p:sp>
      <p:sp>
        <p:nvSpPr>
          <p:cNvPr id="8" name="Text Placeholder 6">
            <a:extLst>
              <a:ext uri="{FF2B5EF4-FFF2-40B4-BE49-F238E27FC236}">
                <a16:creationId xmlns:a16="http://schemas.microsoft.com/office/drawing/2014/main" id="{23907481-C60E-E140-8EB5-12C968D4DE39}"/>
              </a:ext>
            </a:extLst>
          </p:cNvPr>
          <p:cNvSpPr txBox="1">
            <a:spLocks/>
          </p:cNvSpPr>
          <p:nvPr userDrawn="1"/>
        </p:nvSpPr>
        <p:spPr>
          <a:xfrm>
            <a:off x="609600" y="6629400"/>
            <a:ext cx="8077200" cy="228600"/>
          </a:xfrm>
          <a:prstGeom prst="rect">
            <a:avLst/>
          </a:prstGeom>
        </p:spPr>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Verdana" panose="020B0604030504040204" pitchFamily="34" charset="0"/>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Verdana" panose="020B0604030504040204" pitchFamily="34" charset="0"/>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Verdana" panose="020B0604030504040204" pitchFamily="34" charset="0"/>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Verdana" panose="020B0604030504040204" pitchFamily="34" charset="0"/>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Verdana" panose="020B0604030504040204" pitchFamily="34" charset="0"/>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0" indent="0" algn="ctr">
              <a:buNone/>
            </a:pPr>
            <a:r>
              <a:rPr lang="en-US" sz="800" dirty="0"/>
              <a:t>Copyright ©2020 McGraw-Hill Education. All rights reserved. No reproduction or distribution without the prior written consent of McGraw-Hill Education. </a:t>
            </a:r>
          </a:p>
        </p:txBody>
      </p:sp>
    </p:spTree>
    <p:extLst>
      <p:ext uri="{BB962C8B-B14F-4D97-AF65-F5344CB8AC3E}">
        <p14:creationId xmlns:p14="http://schemas.microsoft.com/office/powerpoint/2010/main" val="99973695"/>
      </p:ext>
    </p:extLst>
  </p:cSld>
  <p:clrMap bg1="lt1" tx1="dk1" bg2="lt2" tx2="dk2" accent1="accent1" accent2="accent2" accent3="accent3" accent4="accent4" accent5="accent5" accent6="accent6" hlink="hlink" folHlink="folHlink"/>
  <p:sldLayoutIdLst>
    <p:sldLayoutId id="2147483926" r:id="rId1"/>
    <p:sldLayoutId id="2147483927" r:id="rId2"/>
    <p:sldLayoutId id="2147483928" r:id="rId3"/>
    <p:sldLayoutId id="2147483929" r:id="rId4"/>
    <p:sldLayoutId id="2147483930" r:id="rId5"/>
    <p:sldLayoutId id="2147483931" r:id="rId6"/>
    <p:sldLayoutId id="2147483932" r:id="rId7"/>
    <p:sldLayoutId id="2147483933" r:id="rId8"/>
    <p:sldLayoutId id="2147483934" r:id="rId9"/>
    <p:sldLayoutId id="2147483935" r:id="rId10"/>
    <p:sldLayoutId id="2147483936" r:id="rId11"/>
    <p:sldLayoutId id="2147483937" r:id="rId12"/>
    <p:sldLayoutId id="2147483938" r:id="rId13"/>
    <p:sldLayoutId id="2147483939" r:id="rId14"/>
    <p:sldLayoutId id="2147483940" r:id="rId15"/>
    <p:sldLayoutId id="2147483920" r:id="rId16"/>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9.w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4.wmf"/><Relationship Id="rId4" Type="http://schemas.openxmlformats.org/officeDocument/2006/relationships/oleObject" Target="../embeddings/oleObject3.bin"/></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vmlDrawing" Target="../drawings/vmlDrawing4.vml"/><Relationship Id="rId5" Type="http://schemas.openxmlformats.org/officeDocument/2006/relationships/image" Target="../media/image15.wmf"/><Relationship Id="rId4" Type="http://schemas.openxmlformats.org/officeDocument/2006/relationships/oleObject" Target="../embeddings/oleObject4.bin"/></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981200" y="2971800"/>
            <a:ext cx="6477000" cy="914400"/>
          </a:xfrm>
        </p:spPr>
        <p:txBody>
          <a:bodyPr anchor="ctr"/>
          <a:lstStyle/>
          <a:p>
            <a:pPr algn="ctr"/>
            <a:r>
              <a:rPr lang="en-US" sz="4000" b="1" dirty="0">
                <a:latin typeface="Verdana" panose="020B0604030504040204" pitchFamily="34" charset="0"/>
                <a:ea typeface="Verdana" panose="020B0604030504040204" pitchFamily="34" charset="0"/>
                <a:cs typeface="Verdana" panose="020B0604030504040204" pitchFamily="34" charset="0"/>
              </a:rPr>
              <a:t>Chapter </a:t>
            </a:r>
            <a:r>
              <a:rPr lang="en-US" sz="4000" b="1" dirty="0">
                <a:ea typeface="Verdana" panose="020B0604030504040204" pitchFamily="34" charset="0"/>
                <a:cs typeface="Verdana" panose="020B0604030504040204" pitchFamily="34" charset="0"/>
              </a:rPr>
              <a:t>6</a:t>
            </a:r>
            <a:endParaRPr lang="en-US" sz="4000" b="1" dirty="0">
              <a:latin typeface="Verdana" panose="020B0604030504040204" pitchFamily="34" charset="0"/>
              <a:ea typeface="Verdana" panose="020B0604030504040204" pitchFamily="34" charset="0"/>
              <a:cs typeface="Verdana" panose="020B0604030504040204" pitchFamily="34" charset="0"/>
            </a:endParaRPr>
          </a:p>
        </p:txBody>
      </p:sp>
      <p:sp>
        <p:nvSpPr>
          <p:cNvPr id="6" name="Subtitle 5"/>
          <p:cNvSpPr>
            <a:spLocks noGrp="1"/>
          </p:cNvSpPr>
          <p:nvPr>
            <p:ph type="subTitle" idx="1"/>
          </p:nvPr>
        </p:nvSpPr>
        <p:spPr>
          <a:xfrm>
            <a:off x="2000496" y="4038600"/>
            <a:ext cx="6457704" cy="1219200"/>
          </a:xfrm>
        </p:spPr>
        <p:txBody>
          <a:bodyPr anchor="ctr"/>
          <a:lstStyle/>
          <a:p>
            <a:pPr algn="ctr" eaLnBrk="1" hangingPunct="1"/>
            <a:r>
              <a:rPr lang="en-US" sz="3600" dirty="0">
                <a:latin typeface="Verdana" panose="020B0604030504040204" pitchFamily="34" charset="0"/>
                <a:ea typeface="Verdana" panose="020B0604030504040204" pitchFamily="34" charset="0"/>
                <a:cs typeface="Verdana" panose="020B0604030504040204" pitchFamily="34" charset="0"/>
              </a:rPr>
              <a:t>Cost-Volume-Profit Analysis</a:t>
            </a:r>
          </a:p>
        </p:txBody>
      </p:sp>
      <p:sp>
        <p:nvSpPr>
          <p:cNvPr id="2" name="TextBox 1"/>
          <p:cNvSpPr txBox="1"/>
          <p:nvPr/>
        </p:nvSpPr>
        <p:spPr>
          <a:xfrm>
            <a:off x="8763000" y="6629400"/>
            <a:ext cx="457200" cy="261610"/>
          </a:xfrm>
          <a:prstGeom prst="rect">
            <a:avLst/>
          </a:prstGeom>
          <a:noFill/>
        </p:spPr>
        <p:txBody>
          <a:bodyPr wrap="square" rtlCol="0">
            <a:spAutoFit/>
          </a:bodyPr>
          <a:lstStyle/>
          <a:p>
            <a:r>
              <a:rPr lang="en-US" sz="1100" dirty="0"/>
              <a:t>6-1</a:t>
            </a:r>
          </a:p>
        </p:txBody>
      </p:sp>
      <p:sp>
        <p:nvSpPr>
          <p:cNvPr id="8" name="Text Placeholder 6"/>
          <p:cNvSpPr txBox="1">
            <a:spLocks/>
          </p:cNvSpPr>
          <p:nvPr/>
        </p:nvSpPr>
        <p:spPr bwMode="auto">
          <a:xfrm>
            <a:off x="609600" y="6629400"/>
            <a:ext cx="807720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Clr>
                <a:schemeClr val="accent1"/>
              </a:buClr>
              <a:buSzPct val="65000"/>
              <a:buFont typeface="Wingdings" pitchFamily="2" charset="2"/>
              <a:buNone/>
              <a:defRPr sz="3000">
                <a:solidFill>
                  <a:schemeClr val="tx1"/>
                </a:solidFill>
                <a:latin typeface="Verdana" panose="020B0604030504040204" pitchFamily="34" charset="0"/>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Verdana" panose="020B0604030504040204" pitchFamily="34" charset="0"/>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Verdana" panose="020B0604030504040204" pitchFamily="34" charset="0"/>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Verdana" panose="020B0604030504040204" pitchFamily="34" charset="0"/>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Verdana" panose="020B0604030504040204" pitchFamily="34" charset="0"/>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ctr"/>
            <a:r>
              <a:rPr lang="en-US" sz="800" dirty="0"/>
              <a:t>Copyright ©2020 McGraw-Hill Education. All rights reserved. No reproduction or distribution without the prior written consent of McGraw-Hill Education. </a:t>
            </a:r>
          </a:p>
        </p:txBody>
      </p:sp>
    </p:spTree>
    <p:extLst>
      <p:ext uri="{BB962C8B-B14F-4D97-AF65-F5344CB8AC3E}">
        <p14:creationId xmlns:p14="http://schemas.microsoft.com/office/powerpoint/2010/main" val="4050128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9144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394554" y="489439"/>
            <a:ext cx="8354891" cy="930447"/>
          </a:xfrm>
        </p:spPr>
        <p:txBody>
          <a:bodyPr vert="horz" lIns="91440" tIns="45720" rIns="91440" bIns="45720" rtlCol="0" anchor="b">
            <a:normAutofit/>
          </a:bodyPr>
          <a:lstStyle/>
          <a:p>
            <a:pPr defTabSz="914400"/>
            <a:r>
              <a:rPr lang="en-US" sz="4700" kern="1200">
                <a:solidFill>
                  <a:schemeClr val="bg1"/>
                </a:solidFill>
                <a:latin typeface="+mj-lt"/>
                <a:ea typeface="+mj-ea"/>
                <a:cs typeface="+mj-cs"/>
              </a:rPr>
              <a:t>Assumptions of CVP</a:t>
            </a:r>
          </a:p>
        </p:txBody>
      </p:sp>
      <p:cxnSp>
        <p:nvCxnSpPr>
          <p:cNvPr id="14" name="Straight Connector 13">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3300" y="1479733"/>
            <a:ext cx="20574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Table 4" descr="This table breaks down common assumptions with Cost-Volume-Profit and explanations for them.&#10;Linear cost and revenue functions - we will use a straight line to approximate the relationship between total cost and sales volume, as well as total revenue sales volume.&#10;All costs can be classified as either fixed or variable - For mixed costs, we must determine the total fixed cost and variable cost per unit. (Refer to chapter 5 for a review of the methods used to estimate cost behavior.) We assume step costs will remain fixed within the relevant range. &#10;Only volume affects total cost and total revenue - We ignore other factors that can affect costs and revenue, such as employee learning curves, productivity gains, and volume discounts for buying in bulk.&#10;Production volume is equal to sales volume - This simplifies the analysis because some costs vary with production while others vary with sales volume. Holding inventory constant also eliminates any differences in operating profit that are due to the costing method used to value inventory for external reporting. (See the supplement to Chapter 5 for further discussion of the effect of changing inventory levels on profit.)&#10;Constant product mix - For companies that sell multiple products and services, we assume that the relative proportion of units sold under sales revenue generated by each product or service line remains constant.&#10;" title="Assumptions and Explanations"/>
          <p:cNvGraphicFramePr>
            <a:graphicFrameLocks noGrp="1"/>
          </p:cNvGraphicFramePr>
          <p:nvPr>
            <p:extLst>
              <p:ext uri="{D42A27DB-BD31-4B8C-83A1-F6EECF244321}">
                <p14:modId xmlns:p14="http://schemas.microsoft.com/office/powerpoint/2010/main" val="1101499198"/>
              </p:ext>
            </p:extLst>
          </p:nvPr>
        </p:nvGraphicFramePr>
        <p:xfrm>
          <a:off x="240030" y="2655331"/>
          <a:ext cx="8622616" cy="3548727"/>
        </p:xfrm>
        <a:graphic>
          <a:graphicData uri="http://schemas.openxmlformats.org/drawingml/2006/table">
            <a:tbl>
              <a:tblPr firstRow="1" bandRow="1">
                <a:noFill/>
                <a:tableStyleId>{5940675A-B579-460E-94D1-54222C63F5DA}</a:tableStyleId>
              </a:tblPr>
              <a:tblGrid>
                <a:gridCol w="1959655">
                  <a:extLst>
                    <a:ext uri="{9D8B030D-6E8A-4147-A177-3AD203B41FA5}">
                      <a16:colId xmlns:a16="http://schemas.microsoft.com/office/drawing/2014/main" val="20000"/>
                    </a:ext>
                  </a:extLst>
                </a:gridCol>
                <a:gridCol w="6662961">
                  <a:extLst>
                    <a:ext uri="{9D8B030D-6E8A-4147-A177-3AD203B41FA5}">
                      <a16:colId xmlns:a16="http://schemas.microsoft.com/office/drawing/2014/main" val="20001"/>
                    </a:ext>
                  </a:extLst>
                </a:gridCol>
              </a:tblGrid>
              <a:tr h="314697">
                <a:tc>
                  <a:txBody>
                    <a:bodyPr/>
                    <a:lstStyle/>
                    <a:p>
                      <a:pPr algn="ctr"/>
                      <a:r>
                        <a:rPr lang="en-US" sz="1200" b="0" cap="none" spc="60">
                          <a:solidFill>
                            <a:schemeClr val="bg1"/>
                          </a:solidFill>
                          <a:latin typeface="Verdana" panose="020B0604030504040204" pitchFamily="34" charset="0"/>
                          <a:ea typeface="Verdana" panose="020B0604030504040204" pitchFamily="34" charset="0"/>
                          <a:cs typeface="Verdana" panose="020B0604030504040204" pitchFamily="34" charset="0"/>
                        </a:rPr>
                        <a:t>Assumption</a:t>
                      </a:r>
                    </a:p>
                  </a:txBody>
                  <a:tcPr marL="68912" marR="68912" marT="68912" marB="34456" anchor="ctr">
                    <a:lnL w="12700" cmpd="sng">
                      <a:noFill/>
                    </a:lnL>
                    <a:lnR w="12700" cmpd="sng">
                      <a:noFill/>
                    </a:lnR>
                    <a:lnT w="19050" cap="flat" cmpd="sng" algn="ctr">
                      <a:noFill/>
                      <a:prstDash val="solid"/>
                    </a:lnT>
                    <a:lnB w="38100" cmpd="sng">
                      <a:noFill/>
                    </a:lnB>
                    <a:solidFill>
                      <a:schemeClr val="accent1"/>
                    </a:solidFill>
                  </a:tcPr>
                </a:tc>
                <a:tc>
                  <a:txBody>
                    <a:bodyPr/>
                    <a:lstStyle/>
                    <a:p>
                      <a:pPr algn="ctr"/>
                      <a:r>
                        <a:rPr lang="en-US" sz="1200" b="0" cap="none" spc="60">
                          <a:solidFill>
                            <a:schemeClr val="bg1"/>
                          </a:solidFill>
                          <a:latin typeface="Verdana" panose="020B0604030504040204" pitchFamily="34" charset="0"/>
                          <a:ea typeface="Verdana" panose="020B0604030504040204" pitchFamily="34" charset="0"/>
                          <a:cs typeface="Verdana" panose="020B0604030504040204" pitchFamily="34" charset="0"/>
                        </a:rPr>
                        <a:t>Explanation</a:t>
                      </a:r>
                    </a:p>
                  </a:txBody>
                  <a:tcPr marL="68912" marR="68912" marT="68912" marB="34456"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10000"/>
                  </a:ext>
                </a:extLst>
              </a:tr>
              <a:tr h="452520">
                <a:tc>
                  <a:txBody>
                    <a:bodyPr/>
                    <a:lstStyle/>
                    <a:p>
                      <a:pPr marL="228600" indent="-228600">
                        <a:buFont typeface="+mj-lt"/>
                        <a:buAutoNum type="arabicPeriod"/>
                      </a:pPr>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Linear cost and revenue functions</a:t>
                      </a:r>
                    </a:p>
                  </a:txBody>
                  <a:tcPr marL="68912" marR="68912" marT="68912" marB="34456" anchor="ctr">
                    <a:lnL w="12700" cmpd="sng">
                      <a:noFill/>
                      <a:prstDash val="solid"/>
                    </a:lnL>
                    <a:lnR w="12700" cmpd="sng">
                      <a:noFill/>
                      <a:prstDash val="solid"/>
                    </a:lnR>
                    <a:lnT w="38100" cmpd="sng">
                      <a:noFill/>
                    </a:lnT>
                    <a:lnB w="12700" cap="flat" cmpd="sng" algn="ctr">
                      <a:noFill/>
                      <a:prstDash val="solid"/>
                    </a:lnB>
                    <a:noFill/>
                  </a:tcPr>
                </a:tc>
                <a:tc>
                  <a:txBody>
                    <a:bodyPr/>
                    <a:lstStyle/>
                    <a:p>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We will use a straight line to approximate the relationship between total cost and sales volume, as well as total revenue and sales volume.</a:t>
                      </a:r>
                    </a:p>
                  </a:txBody>
                  <a:tcPr marL="68912" marR="68912" marT="68912" marB="34456"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10001"/>
                  </a:ext>
                </a:extLst>
              </a:tr>
              <a:tr h="613314">
                <a:tc>
                  <a:txBody>
                    <a:bodyPr/>
                    <a:lstStyle/>
                    <a:p>
                      <a:pPr marL="228600" indent="-228600">
                        <a:buFont typeface="+mj-lt"/>
                        <a:buAutoNum type="arabicPeriod" startAt="2"/>
                      </a:pPr>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All costs can be classified as either fixed or variable</a:t>
                      </a:r>
                    </a:p>
                  </a:txBody>
                  <a:tcPr marL="68912" marR="68912" marT="68912" marB="344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For mixed costs, we must determine the total fixed cost and variable cost per unit.(Refer to Chapter 5 for a review of the methods used to estimate cost behavior.)  We assume step costs will remain fixed within the relevant range</a:t>
                      </a:r>
                    </a:p>
                  </a:txBody>
                  <a:tcPr marL="68912" marR="68912" marT="68912" marB="344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613314">
                <a:tc>
                  <a:txBody>
                    <a:bodyPr/>
                    <a:lstStyle/>
                    <a:p>
                      <a:pPr marL="228600" indent="-228600">
                        <a:buFont typeface="+mj-lt"/>
                        <a:buAutoNum type="arabicPeriod" startAt="3"/>
                      </a:pPr>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Only volume affects total cost and total revenue</a:t>
                      </a:r>
                    </a:p>
                  </a:txBody>
                  <a:tcPr marL="68912" marR="68912" marT="68912" marB="3445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We ignore other factors that can affect costs and revenue, such as employee learning curves, productivity gains, and volume discounts for buying in bulk.</a:t>
                      </a:r>
                    </a:p>
                  </a:txBody>
                  <a:tcPr marL="68912" marR="68912" marT="68912" marB="34456"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0003"/>
                  </a:ext>
                </a:extLst>
              </a:tr>
              <a:tr h="934902">
                <a:tc>
                  <a:txBody>
                    <a:bodyPr/>
                    <a:lstStyle/>
                    <a:p>
                      <a:pPr marL="228600" indent="-228600">
                        <a:buFont typeface="+mj-lt"/>
                        <a:buAutoNum type="arabicPeriod" startAt="4"/>
                      </a:pPr>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Production volume is equal to sales volume</a:t>
                      </a:r>
                    </a:p>
                  </a:txBody>
                  <a:tcPr marL="68912" marR="68912" marT="68912" marB="344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This simplifies the analysis because some costs vary with production while others vary with sales volume. Holding inventory constant also eliminates any differences in operating profit that are due to the costing method used to value inventory for external reporting.(See the supplement to Chapter 5 for further discussion of the effect</a:t>
                      </a:r>
                      <a:r>
                        <a:rPr lang="en-US" sz="1100" cap="none" spc="0" baseline="0">
                          <a:solidFill>
                            <a:schemeClr val="tx1"/>
                          </a:solidFill>
                          <a:latin typeface="Verdana" panose="020B0604030504040204" pitchFamily="34" charset="0"/>
                          <a:ea typeface="Verdana" panose="020B0604030504040204" pitchFamily="34" charset="0"/>
                          <a:cs typeface="Verdana" panose="020B0604030504040204" pitchFamily="34" charset="0"/>
                        </a:rPr>
                        <a:t> of changing inventory levels on profit.)</a:t>
                      </a:r>
                      <a:endPar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68912" marR="68912" marT="68912" marB="344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613314">
                <a:tc>
                  <a:txBody>
                    <a:bodyPr/>
                    <a:lstStyle/>
                    <a:p>
                      <a:pPr marL="228600" indent="-228600">
                        <a:buFont typeface="+mj-lt"/>
                        <a:buAutoNum type="arabicPeriod" startAt="5"/>
                      </a:pPr>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Constant product mix</a:t>
                      </a:r>
                    </a:p>
                  </a:txBody>
                  <a:tcPr marL="68912" marR="68912" marT="68912" marB="34456"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latin typeface="Verdana" panose="020B0604030504040204" pitchFamily="34" charset="0"/>
                          <a:ea typeface="Verdana" panose="020B0604030504040204" pitchFamily="34" charset="0"/>
                          <a:cs typeface="Verdana" panose="020B0604030504040204" pitchFamily="34" charset="0"/>
                        </a:rPr>
                        <a:t>For companies that sell multiple products and services, we assume that the relative proportion of units sold or sales revenue generated by each product or service line remains constant. (to analyze changes in volume, we can analyze changes in mix separately).</a:t>
                      </a:r>
                    </a:p>
                  </a:txBody>
                  <a:tcPr marL="68912" marR="68912" marT="68912" marB="3445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743796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latin typeface="Verdana" panose="020B0604030504040204" pitchFamily="34" charset="0"/>
                <a:ea typeface="Verdana" panose="020B0604030504040204" pitchFamily="34" charset="0"/>
                <a:cs typeface="Verdana" panose="020B0604030504040204" pitchFamily="34" charset="0"/>
              </a:rPr>
              <a:t>Cost-Volume-Profit Graph</a:t>
            </a:r>
          </a:p>
        </p:txBody>
      </p:sp>
      <p:sp>
        <p:nvSpPr>
          <p:cNvPr id="4" name="Content Placeholder 3"/>
          <p:cNvSpPr>
            <a:spLocks noGrp="1"/>
          </p:cNvSpPr>
          <p:nvPr>
            <p:ph idx="1"/>
          </p:nvPr>
        </p:nvSpPr>
        <p:spPr>
          <a:xfrm>
            <a:off x="3607694" y="649480"/>
            <a:ext cx="4916510" cy="5546047"/>
          </a:xfrm>
        </p:spPr>
        <p:txBody>
          <a:bodyPr anchor="ctr">
            <a:normAutofit/>
          </a:bodyPr>
          <a:lstStyle/>
          <a:p>
            <a:pPr marL="0" indent="0" eaLnBrk="1" fontAlgn="auto" hangingPunct="1">
              <a:spcAft>
                <a:spcPts val="0"/>
              </a:spcAft>
              <a:buClrTx/>
              <a:buNone/>
              <a:defRPr/>
            </a:pPr>
            <a:r>
              <a:rPr lang="en-US" sz="1700" dirty="0">
                <a:latin typeface="Verdana" panose="020B0604030504040204" pitchFamily="34" charset="0"/>
                <a:ea typeface="Verdana" panose="020B0604030504040204" pitchFamily="34" charset="0"/>
                <a:cs typeface="Verdana" panose="020B0604030504040204" pitchFamily="34" charset="0"/>
              </a:rPr>
              <a:t>A Simplified Example</a:t>
            </a:r>
          </a:p>
          <a:p>
            <a:pPr marL="400050" indent="-400050" eaLnBrk="1" fontAlgn="auto" hangingPunct="1">
              <a:spcAft>
                <a:spcPts val="0"/>
              </a:spcAft>
              <a:buClrTx/>
              <a:defRPr/>
            </a:pPr>
            <a:r>
              <a:rPr lang="en-US" sz="1700" dirty="0">
                <a:latin typeface="Verdana" panose="020B0604030504040204" pitchFamily="34" charset="0"/>
                <a:ea typeface="Verdana" panose="020B0604030504040204" pitchFamily="34" charset="0"/>
                <a:cs typeface="Verdana" panose="020B0604030504040204" pitchFamily="34" charset="0"/>
              </a:rPr>
              <a:t>Only one type and one size of coffee </a:t>
            </a:r>
          </a:p>
          <a:p>
            <a:pPr marL="400050" indent="-400050" eaLnBrk="1" fontAlgn="auto" hangingPunct="1">
              <a:spcAft>
                <a:spcPts val="0"/>
              </a:spcAft>
              <a:buClrTx/>
              <a:defRPr/>
            </a:pPr>
            <a:r>
              <a:rPr lang="en-US" sz="1700" dirty="0">
                <a:latin typeface="Verdana" panose="020B0604030504040204" pitchFamily="34" charset="0"/>
                <a:ea typeface="Verdana" panose="020B0604030504040204" pitchFamily="34" charset="0"/>
                <a:cs typeface="Verdana" panose="020B0604030504040204" pitchFamily="34" charset="0"/>
              </a:rPr>
              <a:t>Price is $2.50 per unit </a:t>
            </a:r>
          </a:p>
          <a:p>
            <a:pPr marL="400050" indent="-400050" eaLnBrk="1" fontAlgn="auto" hangingPunct="1">
              <a:spcAft>
                <a:spcPts val="0"/>
              </a:spcAft>
              <a:buClrTx/>
              <a:defRPr/>
            </a:pPr>
            <a:r>
              <a:rPr lang="en-US" sz="1700" dirty="0">
                <a:latin typeface="Verdana" panose="020B0604030504040204" pitchFamily="34" charset="0"/>
                <a:ea typeface="Verdana" panose="020B0604030504040204" pitchFamily="34" charset="0"/>
                <a:cs typeface="Verdana" panose="020B0604030504040204" pitchFamily="34" charset="0"/>
              </a:rPr>
              <a:t>Variable costs are $1.00 per unit</a:t>
            </a:r>
          </a:p>
          <a:p>
            <a:pPr marL="400050" indent="-400050" eaLnBrk="1" fontAlgn="auto" hangingPunct="1">
              <a:spcAft>
                <a:spcPts val="0"/>
              </a:spcAft>
              <a:buClrTx/>
              <a:defRPr/>
            </a:pPr>
            <a:r>
              <a:rPr lang="en-US" sz="1700" dirty="0">
                <a:latin typeface="Verdana" panose="020B0604030504040204" pitchFamily="34" charset="0"/>
                <a:ea typeface="Verdana" panose="020B0604030504040204" pitchFamily="34" charset="0"/>
                <a:cs typeface="Verdana" panose="020B0604030504040204" pitchFamily="34" charset="0"/>
              </a:rPr>
              <a:t>Fixed costs are $12,000 per month</a:t>
            </a:r>
          </a:p>
        </p:txBody>
      </p:sp>
    </p:spTree>
    <p:extLst>
      <p:ext uri="{BB962C8B-B14F-4D97-AF65-F5344CB8AC3E}">
        <p14:creationId xmlns:p14="http://schemas.microsoft.com/office/powerpoint/2010/main" val="4043334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228600"/>
            <a:ext cx="8534400" cy="685800"/>
          </a:xfrm>
        </p:spPr>
        <p:txBody>
          <a:bodyPr/>
          <a:lstStyle/>
          <a:p>
            <a:r>
              <a:rPr lang="en-US" dirty="0"/>
              <a:t>Cost-Volume-Profit Graph</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24000" y="1724192"/>
            <a:ext cx="6127662" cy="3975963"/>
          </a:xfrm>
          <a:prstGeom prst="rect">
            <a:avLst/>
          </a:prstGeom>
          <a:noFill/>
          <a:extLst>
            <a:ext uri="{909E8E84-426E-40dd-AFC4-6F175D3DCCD1}">
              <a14:hiddenFill xmlns="" xmlns:a14="http://schemas.microsoft.com/office/drawing/2010/main">
                <a:solidFill>
                  <a:srgbClr val="FFFFFF"/>
                </a:solidFill>
              </a14:hiddenFill>
            </a:ext>
          </a:extLst>
        </p:spPr>
      </p:pic>
      <p:sp>
        <p:nvSpPr>
          <p:cNvPr id="5" name="Text Placeholder 4">
            <a:extLst>
              <a:ext uri="{FF2B5EF4-FFF2-40B4-BE49-F238E27FC236}">
                <a16:creationId xmlns:a16="http://schemas.microsoft.com/office/drawing/2014/main" id="{B7A474F6-65F1-1549-89E3-B6D5DFDAAA71}"/>
              </a:ext>
            </a:extLst>
          </p:cNvPr>
          <p:cNvSpPr>
            <a:spLocks noGrp="1"/>
          </p:cNvSpPr>
          <p:nvPr>
            <p:ph type="body" sz="quarter" idx="10"/>
          </p:nvPr>
        </p:nvSpPr>
        <p:spPr/>
        <p:txBody>
          <a:bodyPr>
            <a:normAutofit fontScale="92500" lnSpcReduction="20000"/>
          </a:bodyPr>
          <a:lstStyle/>
          <a:p>
            <a:endParaRPr lang="en-CN"/>
          </a:p>
        </p:txBody>
      </p:sp>
    </p:spTree>
    <p:extLst>
      <p:ext uri="{BB962C8B-B14F-4D97-AF65-F5344CB8AC3E}">
        <p14:creationId xmlns:p14="http://schemas.microsoft.com/office/powerpoint/2010/main" val="28221500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252013" y="228600"/>
            <a:ext cx="8587187" cy="609600"/>
          </a:xfrm>
        </p:spPr>
        <p:txBody>
          <a:bodyPr/>
          <a:lstStyle/>
          <a:p>
            <a:pPr algn="ctr" eaLnBrk="1" hangingPunct="1"/>
            <a:r>
              <a:rPr lang="en-US" dirty="0"/>
              <a:t>Cost-Volume-Profit in Graph</a:t>
            </a:r>
          </a:p>
        </p:txBody>
      </p:sp>
      <p:sp>
        <p:nvSpPr>
          <p:cNvPr id="4" name="Text Placeholder 6"/>
          <p:cNvSpPr>
            <a:spLocks noGrp="1"/>
          </p:cNvSpPr>
          <p:nvPr>
            <p:ph type="body" sz="quarter" idx="10"/>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67119" y="1447800"/>
            <a:ext cx="5730047" cy="425222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2645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616" y="0"/>
            <a:ext cx="818271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2"/>
          <p:cNvSpPr>
            <a:spLocks noGrp="1"/>
          </p:cNvSpPr>
          <p:nvPr>
            <p:ph type="title"/>
          </p:nvPr>
        </p:nvSpPr>
        <p:spPr>
          <a:xfrm>
            <a:off x="2284026" y="2043663"/>
            <a:ext cx="4578895" cy="2031055"/>
          </a:xfrm>
        </p:spPr>
        <p:txBody>
          <a:bodyPr vert="horz" lIns="91440" tIns="45720" rIns="91440" bIns="45720" rtlCol="0" anchor="b">
            <a:normAutofit/>
          </a:bodyPr>
          <a:lstStyle/>
          <a:p>
            <a:pPr algn="ctr" defTabSz="914400"/>
            <a:r>
              <a:rPr lang="en-US" sz="6000" kern="1200">
                <a:solidFill>
                  <a:srgbClr val="FFFFFF"/>
                </a:solidFill>
                <a:latin typeface="+mj-lt"/>
                <a:ea typeface="+mj-ea"/>
                <a:cs typeface="+mj-cs"/>
              </a:rPr>
              <a:t>Learning Objective 6-1</a:t>
            </a:r>
          </a:p>
        </p:txBody>
      </p:sp>
      <p:sp>
        <p:nvSpPr>
          <p:cNvPr id="2" name="Content Placeholder 1"/>
          <p:cNvSpPr>
            <a:spLocks noGrp="1"/>
          </p:cNvSpPr>
          <p:nvPr>
            <p:ph idx="1"/>
          </p:nvPr>
        </p:nvSpPr>
        <p:spPr>
          <a:xfrm>
            <a:off x="2284026" y="4074718"/>
            <a:ext cx="4578895" cy="682079"/>
          </a:xfrm>
        </p:spPr>
        <p:txBody>
          <a:bodyPr vert="horz" lIns="91440" tIns="45720" rIns="91440" bIns="45720" rtlCol="0">
            <a:normAutofit/>
          </a:bodyPr>
          <a:lstStyle/>
          <a:p>
            <a:pPr marL="0" indent="0" algn="ctr" defTabSz="914400">
              <a:spcBef>
                <a:spcPts val="1000"/>
              </a:spcBef>
              <a:buNone/>
            </a:pPr>
            <a:r>
              <a:rPr lang="en-US" sz="2000" kern="1200">
                <a:solidFill>
                  <a:srgbClr val="FFFFFF"/>
                </a:solidFill>
                <a:latin typeface="+mn-lt"/>
                <a:ea typeface="+mn-ea"/>
                <a:cs typeface="+mn-cs"/>
              </a:rPr>
              <a:t>Use cost-volume-profit analysis to find the break-even point.</a:t>
            </a:r>
          </a:p>
        </p:txBody>
      </p:sp>
    </p:spTree>
    <p:extLst>
      <p:ext uri="{BB962C8B-B14F-4D97-AF65-F5344CB8AC3E}">
        <p14:creationId xmlns:p14="http://schemas.microsoft.com/office/powerpoint/2010/main" val="236224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2"/>
          <p:cNvSpPr>
            <a:spLocks noGrp="1"/>
          </p:cNvSpPr>
          <p:nvPr>
            <p:ph type="title"/>
          </p:nvPr>
        </p:nvSpPr>
        <p:spPr>
          <a:xfrm>
            <a:off x="480059" y="2053641"/>
            <a:ext cx="2751871" cy="2760098"/>
          </a:xfrm>
        </p:spPr>
        <p:txBody>
          <a:bodyPr>
            <a:normAutofit/>
          </a:bodyPr>
          <a:lstStyle/>
          <a:p>
            <a:r>
              <a:rPr lang="en-US">
                <a:solidFill>
                  <a:srgbClr val="FFFFFF"/>
                </a:solidFill>
              </a:rPr>
              <a:t>Basic CVP Analysis</a:t>
            </a:r>
          </a:p>
        </p:txBody>
      </p:sp>
      <p:sp>
        <p:nvSpPr>
          <p:cNvPr id="2" name="Content Placeholder 1"/>
          <p:cNvSpPr>
            <a:spLocks noGrp="1"/>
          </p:cNvSpPr>
          <p:nvPr>
            <p:ph idx="1"/>
          </p:nvPr>
        </p:nvSpPr>
        <p:spPr>
          <a:xfrm>
            <a:off x="4567930" y="801866"/>
            <a:ext cx="3979563" cy="5230634"/>
          </a:xfrm>
        </p:spPr>
        <p:txBody>
          <a:bodyPr anchor="ctr">
            <a:normAutofit/>
          </a:bodyPr>
          <a:lstStyle/>
          <a:p>
            <a:pPr marL="0" indent="0">
              <a:buNone/>
            </a:pPr>
            <a:r>
              <a:rPr lang="en-US">
                <a:solidFill>
                  <a:srgbClr val="000000"/>
                </a:solidFill>
                <a:ea typeface="ＭＳ Ｐゴシック"/>
                <a:cs typeface="ＭＳ Ｐゴシック"/>
              </a:rPr>
              <a:t>Break-even analysis is a special case of the simplest form of cost-volume-profit analysis. The goal of break-even analysis is to determine the level of sales (in either units or total sales dollars) needed to break even, or earn zero profit.</a:t>
            </a:r>
          </a:p>
          <a:p>
            <a:pPr marL="0" indent="0">
              <a:buNone/>
            </a:pPr>
            <a:r>
              <a:rPr lang="en-US" b="1" u="sng">
                <a:solidFill>
                  <a:srgbClr val="000000"/>
                </a:solidFill>
                <a:ea typeface="ＭＳ Ｐゴシック"/>
                <a:cs typeface="ＭＳ Ｐゴシック"/>
              </a:rPr>
              <a:t>Methods</a:t>
            </a:r>
          </a:p>
          <a:p>
            <a:pPr marL="514350" indent="-514350" eaLnBrk="1" hangingPunct="1">
              <a:spcBef>
                <a:spcPct val="0"/>
              </a:spcBef>
              <a:buFont typeface="+mj-lt"/>
              <a:buAutoNum type="arabicPeriod"/>
            </a:pPr>
            <a:r>
              <a:rPr lang="en-US">
                <a:solidFill>
                  <a:srgbClr val="000000"/>
                </a:solidFill>
              </a:rPr>
              <a:t>Profit Equation Method</a:t>
            </a:r>
          </a:p>
          <a:p>
            <a:pPr marL="514350" indent="-514350" eaLnBrk="1" hangingPunct="1">
              <a:spcBef>
                <a:spcPct val="0"/>
              </a:spcBef>
              <a:buFont typeface="+mj-lt"/>
              <a:buAutoNum type="arabicPeriod"/>
            </a:pPr>
            <a:r>
              <a:rPr lang="en-US">
                <a:solidFill>
                  <a:srgbClr val="000000"/>
                </a:solidFill>
              </a:rPr>
              <a:t>Unit Contribution Margin Method</a:t>
            </a:r>
          </a:p>
          <a:p>
            <a:pPr marL="514350" indent="-514350" eaLnBrk="1" hangingPunct="1">
              <a:spcBef>
                <a:spcPct val="0"/>
              </a:spcBef>
              <a:buFont typeface="+mj-lt"/>
              <a:buAutoNum type="arabicPeriod"/>
            </a:pPr>
            <a:r>
              <a:rPr lang="en-US">
                <a:solidFill>
                  <a:srgbClr val="000000"/>
                </a:solidFill>
              </a:rPr>
              <a:t>Contribution Margin Ratio Method</a:t>
            </a:r>
          </a:p>
        </p:txBody>
      </p:sp>
    </p:spTree>
    <p:extLst>
      <p:ext uri="{BB962C8B-B14F-4D97-AF65-F5344CB8AC3E}">
        <p14:creationId xmlns:p14="http://schemas.microsoft.com/office/powerpoint/2010/main" val="3896568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Title 3"/>
          <p:cNvSpPr>
            <a:spLocks noGrp="1"/>
          </p:cNvSpPr>
          <p:nvPr>
            <p:ph type="title"/>
          </p:nvPr>
        </p:nvSpPr>
        <p:spPr>
          <a:xfrm>
            <a:off x="480059" y="2053641"/>
            <a:ext cx="2751871" cy="2760098"/>
          </a:xfrm>
        </p:spPr>
        <p:txBody>
          <a:bodyPr>
            <a:normAutofit/>
          </a:bodyPr>
          <a:lstStyle/>
          <a:p>
            <a:r>
              <a:rPr lang="en-US" dirty="0">
                <a:solidFill>
                  <a:srgbClr val="FFFFFF"/>
                </a:solidFill>
              </a:rPr>
              <a:t>Profit Equation Method</a:t>
            </a:r>
          </a:p>
        </p:txBody>
      </p:sp>
      <p:sp>
        <p:nvSpPr>
          <p:cNvPr id="2" name="Content Placeholder 1"/>
          <p:cNvSpPr>
            <a:spLocks noGrp="1"/>
          </p:cNvSpPr>
          <p:nvPr>
            <p:ph idx="1"/>
          </p:nvPr>
        </p:nvSpPr>
        <p:spPr>
          <a:xfrm>
            <a:off x="4567930" y="801866"/>
            <a:ext cx="3979563" cy="5230634"/>
          </a:xfrm>
        </p:spPr>
        <p:txBody>
          <a:bodyPr anchor="ctr">
            <a:normAutofit/>
          </a:bodyPr>
          <a:lstStyle/>
          <a:p>
            <a:pPr marL="0" indent="0">
              <a:spcBef>
                <a:spcPts val="300"/>
              </a:spcBef>
              <a:buNone/>
            </a:pPr>
            <a:r>
              <a:rPr lang="en-US" sz="1900">
                <a:solidFill>
                  <a:srgbClr val="000000"/>
                </a:solidFill>
              </a:rPr>
              <a:t>Sales revenue – Variable cost – Fixed costs = Profit</a:t>
            </a:r>
          </a:p>
          <a:p>
            <a:pPr marL="0" indent="0">
              <a:spcBef>
                <a:spcPts val="300"/>
              </a:spcBef>
              <a:buNone/>
            </a:pPr>
            <a:r>
              <a:rPr lang="en-US" sz="1900">
                <a:solidFill>
                  <a:srgbClr val="000000"/>
                </a:solidFill>
              </a:rPr>
              <a:t>(Unit price × Q) - (Unit VC× Q) - FC = Profit</a:t>
            </a:r>
          </a:p>
          <a:p>
            <a:pPr marL="0" indent="0">
              <a:spcBef>
                <a:spcPts val="300"/>
              </a:spcBef>
              <a:buNone/>
            </a:pPr>
            <a:r>
              <a:rPr lang="en-US" sz="1900">
                <a:solidFill>
                  <a:srgbClr val="000000"/>
                </a:solidFill>
              </a:rPr>
              <a:t>Q = Quantity of unit sold</a:t>
            </a:r>
          </a:p>
          <a:p>
            <a:pPr marL="0" indent="0">
              <a:spcBef>
                <a:spcPts val="300"/>
              </a:spcBef>
              <a:buNone/>
            </a:pPr>
            <a:endParaRPr lang="en-US" sz="1900">
              <a:solidFill>
                <a:srgbClr val="000000"/>
              </a:solidFill>
            </a:endParaRPr>
          </a:p>
          <a:p>
            <a:pPr marL="0" indent="0">
              <a:spcBef>
                <a:spcPts val="300"/>
              </a:spcBef>
              <a:buNone/>
            </a:pPr>
            <a:r>
              <a:rPr lang="en-US" sz="1900">
                <a:solidFill>
                  <a:srgbClr val="000000"/>
                </a:solidFill>
              </a:rPr>
              <a:t>To find the break-even point, we simply set the profit equation equal to zero, and solve for the quantity of units (Q).</a:t>
            </a:r>
          </a:p>
          <a:p>
            <a:pPr marL="0" indent="0">
              <a:spcBef>
                <a:spcPts val="300"/>
              </a:spcBef>
              <a:buNone/>
            </a:pPr>
            <a:r>
              <a:rPr lang="en-US" sz="1900" b="1">
                <a:solidFill>
                  <a:srgbClr val="000000"/>
                </a:solidFill>
              </a:rPr>
              <a:t>Break–Even Analysis</a:t>
            </a:r>
          </a:p>
          <a:p>
            <a:pPr marL="0" indent="0">
              <a:spcBef>
                <a:spcPts val="300"/>
              </a:spcBef>
              <a:buNone/>
            </a:pPr>
            <a:r>
              <a:rPr lang="en-US" sz="1900">
                <a:solidFill>
                  <a:srgbClr val="000000"/>
                </a:solidFill>
              </a:rPr>
              <a:t>(Unit price × Q) - (Unit VC× Q) – FC = Profit</a:t>
            </a:r>
          </a:p>
          <a:p>
            <a:pPr marL="0" indent="0">
              <a:spcBef>
                <a:spcPts val="300"/>
              </a:spcBef>
              <a:buNone/>
            </a:pPr>
            <a:r>
              <a:rPr lang="en-US" sz="1900">
                <a:solidFill>
                  <a:srgbClr val="000000"/>
                </a:solidFill>
              </a:rPr>
              <a:t>($2.50× Q) - ($1.00 × Q) - $12,000 = 0</a:t>
            </a:r>
          </a:p>
          <a:p>
            <a:pPr marL="0" indent="0">
              <a:spcBef>
                <a:spcPts val="300"/>
              </a:spcBef>
              <a:buNone/>
            </a:pPr>
            <a:r>
              <a:rPr lang="en-US" sz="1900">
                <a:solidFill>
                  <a:srgbClr val="000000"/>
                </a:solidFill>
              </a:rPr>
              <a:t>$1.50Q = $12,000</a:t>
            </a:r>
          </a:p>
          <a:p>
            <a:pPr marL="0" indent="0">
              <a:spcBef>
                <a:spcPts val="300"/>
              </a:spcBef>
              <a:buNone/>
            </a:pPr>
            <a:r>
              <a:rPr lang="en-US" sz="1900">
                <a:solidFill>
                  <a:srgbClr val="000000"/>
                </a:solidFill>
              </a:rPr>
              <a:t>Q = $12,000 ÷ $1.50</a:t>
            </a:r>
          </a:p>
          <a:p>
            <a:pPr marL="0" indent="0">
              <a:spcBef>
                <a:spcPts val="300"/>
              </a:spcBef>
              <a:buNone/>
            </a:pPr>
            <a:r>
              <a:rPr lang="en-US" sz="1900">
                <a:solidFill>
                  <a:srgbClr val="000000"/>
                </a:solidFill>
              </a:rPr>
              <a:t>Q = 8,000</a:t>
            </a:r>
          </a:p>
        </p:txBody>
      </p:sp>
    </p:spTree>
    <p:extLst>
      <p:ext uri="{BB962C8B-B14F-4D97-AF65-F5344CB8AC3E}">
        <p14:creationId xmlns:p14="http://schemas.microsoft.com/office/powerpoint/2010/main" val="76163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2"/>
          <p:cNvSpPr>
            <a:spLocks noGrp="1"/>
          </p:cNvSpPr>
          <p:nvPr>
            <p:ph type="title"/>
          </p:nvPr>
        </p:nvSpPr>
        <p:spPr>
          <a:xfrm>
            <a:off x="480059" y="2053641"/>
            <a:ext cx="2751871" cy="2760098"/>
          </a:xfrm>
        </p:spPr>
        <p:txBody>
          <a:bodyPr>
            <a:normAutofit/>
          </a:bodyPr>
          <a:lstStyle/>
          <a:p>
            <a:r>
              <a:rPr lang="en-US">
                <a:solidFill>
                  <a:srgbClr val="FFFFFF"/>
                </a:solidFill>
              </a:rPr>
              <a:t>Profit Equation Method (2 of 2)</a:t>
            </a:r>
          </a:p>
        </p:txBody>
      </p:sp>
      <p:sp>
        <p:nvSpPr>
          <p:cNvPr id="2" name="Content Placeholder 1"/>
          <p:cNvSpPr>
            <a:spLocks noGrp="1"/>
          </p:cNvSpPr>
          <p:nvPr>
            <p:ph idx="1"/>
          </p:nvPr>
        </p:nvSpPr>
        <p:spPr>
          <a:xfrm>
            <a:off x="4567930" y="801866"/>
            <a:ext cx="3979563" cy="5230634"/>
          </a:xfrm>
        </p:spPr>
        <p:txBody>
          <a:bodyPr anchor="ctr">
            <a:normAutofit/>
          </a:bodyPr>
          <a:lstStyle/>
          <a:p>
            <a:pPr marL="0" indent="0">
              <a:buNone/>
            </a:pPr>
            <a:r>
              <a:rPr lang="en-US">
                <a:solidFill>
                  <a:srgbClr val="000000"/>
                </a:solidFill>
              </a:rPr>
              <a:t>Let’s verify our break-even analysis.</a:t>
            </a:r>
          </a:p>
          <a:p>
            <a:pPr marL="0" indent="0">
              <a:buNone/>
            </a:pPr>
            <a:r>
              <a:rPr lang="en-US" b="1">
                <a:solidFill>
                  <a:srgbClr val="000000"/>
                </a:solidFill>
              </a:rPr>
              <a:t>Break–Even Analysis</a:t>
            </a:r>
          </a:p>
          <a:p>
            <a:pPr marL="0" indent="0">
              <a:buNone/>
            </a:pPr>
            <a:r>
              <a:rPr lang="en-US">
                <a:solidFill>
                  <a:srgbClr val="000000"/>
                </a:solidFill>
              </a:rPr>
              <a:t>(Unit price × Q) - (Unit VC× Q) – FC = Profit</a:t>
            </a:r>
          </a:p>
          <a:p>
            <a:pPr marL="0" indent="0">
              <a:buNone/>
            </a:pPr>
            <a:r>
              <a:rPr lang="en-US">
                <a:solidFill>
                  <a:srgbClr val="000000"/>
                </a:solidFill>
              </a:rPr>
              <a:t>($2.20 × 8,000) - ($100 × 8,000) - $12,000 = 0</a:t>
            </a:r>
          </a:p>
          <a:p>
            <a:pPr marL="0" indent="0">
              <a:buNone/>
            </a:pPr>
            <a:r>
              <a:rPr lang="en-US">
                <a:solidFill>
                  <a:srgbClr val="000000"/>
                </a:solidFill>
              </a:rPr>
              <a:t>$20,000 - $8,000 - $12,000 = 0</a:t>
            </a:r>
          </a:p>
        </p:txBody>
      </p:sp>
    </p:spTree>
    <p:extLst>
      <p:ext uri="{BB962C8B-B14F-4D97-AF65-F5344CB8AC3E}">
        <p14:creationId xmlns:p14="http://schemas.microsoft.com/office/powerpoint/2010/main" val="244327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616" y="0"/>
            <a:ext cx="818271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2"/>
          <p:cNvSpPr>
            <a:spLocks noGrp="1"/>
          </p:cNvSpPr>
          <p:nvPr>
            <p:ph type="title"/>
          </p:nvPr>
        </p:nvSpPr>
        <p:spPr>
          <a:xfrm>
            <a:off x="2284026" y="2043663"/>
            <a:ext cx="4578895" cy="2031055"/>
          </a:xfrm>
        </p:spPr>
        <p:txBody>
          <a:bodyPr vert="horz" lIns="91440" tIns="45720" rIns="91440" bIns="45720" rtlCol="0" anchor="b">
            <a:normAutofit/>
          </a:bodyPr>
          <a:lstStyle/>
          <a:p>
            <a:pPr algn="ctr" defTabSz="914400"/>
            <a:r>
              <a:rPr lang="en-US" sz="6000" kern="1200">
                <a:solidFill>
                  <a:srgbClr val="FFFFFF"/>
                </a:solidFill>
                <a:latin typeface="+mj-lt"/>
                <a:ea typeface="+mj-ea"/>
                <a:cs typeface="+mj-cs"/>
              </a:rPr>
              <a:t>Learning Objective 6-2</a:t>
            </a:r>
          </a:p>
        </p:txBody>
      </p:sp>
      <p:sp>
        <p:nvSpPr>
          <p:cNvPr id="2" name="Content Placeholder 1"/>
          <p:cNvSpPr>
            <a:spLocks noGrp="1"/>
          </p:cNvSpPr>
          <p:nvPr>
            <p:ph idx="1"/>
          </p:nvPr>
        </p:nvSpPr>
        <p:spPr>
          <a:xfrm>
            <a:off x="2284026" y="4074718"/>
            <a:ext cx="4578895" cy="682079"/>
          </a:xfrm>
        </p:spPr>
        <p:txBody>
          <a:bodyPr vert="horz" lIns="91440" tIns="45720" rIns="91440" bIns="45720" rtlCol="0">
            <a:normAutofit/>
          </a:bodyPr>
          <a:lstStyle/>
          <a:p>
            <a:pPr marL="0" indent="0" algn="ctr" defTabSz="914400">
              <a:spcBef>
                <a:spcPts val="1000"/>
              </a:spcBef>
              <a:buNone/>
            </a:pPr>
            <a:r>
              <a:rPr lang="en-US" sz="1700" kern="1200">
                <a:solidFill>
                  <a:srgbClr val="FFFFFF"/>
                </a:solidFill>
                <a:latin typeface="+mn-lt"/>
                <a:ea typeface="+mn-ea"/>
                <a:cs typeface="+mn-cs"/>
              </a:rPr>
              <a:t>Use cost-volume-profit analysis to determine the sales needed to achieve a target profit.</a:t>
            </a:r>
          </a:p>
        </p:txBody>
      </p:sp>
    </p:spTree>
    <p:extLst>
      <p:ext uri="{BB962C8B-B14F-4D97-AF65-F5344CB8AC3E}">
        <p14:creationId xmlns:p14="http://schemas.microsoft.com/office/powerpoint/2010/main" val="332999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Title 3"/>
          <p:cNvSpPr>
            <a:spLocks noGrp="1"/>
          </p:cNvSpPr>
          <p:nvPr>
            <p:ph type="title"/>
          </p:nvPr>
        </p:nvSpPr>
        <p:spPr>
          <a:xfrm>
            <a:off x="480059" y="2053641"/>
            <a:ext cx="2751871" cy="2760098"/>
          </a:xfrm>
        </p:spPr>
        <p:txBody>
          <a:bodyPr>
            <a:normAutofit/>
          </a:bodyPr>
          <a:lstStyle/>
          <a:p>
            <a:r>
              <a:rPr lang="en-US">
                <a:solidFill>
                  <a:srgbClr val="FFFFFF"/>
                </a:solidFill>
              </a:rPr>
              <a:t>Profit Equation Method</a:t>
            </a:r>
          </a:p>
        </p:txBody>
      </p:sp>
      <p:sp>
        <p:nvSpPr>
          <p:cNvPr id="2" name="Content Placeholder 1"/>
          <p:cNvSpPr>
            <a:spLocks noGrp="1"/>
          </p:cNvSpPr>
          <p:nvPr>
            <p:ph idx="1"/>
          </p:nvPr>
        </p:nvSpPr>
        <p:spPr>
          <a:xfrm>
            <a:off x="4567930" y="801866"/>
            <a:ext cx="3979563" cy="5230634"/>
          </a:xfrm>
        </p:spPr>
        <p:txBody>
          <a:bodyPr anchor="ctr">
            <a:normAutofit/>
          </a:bodyPr>
          <a:lstStyle/>
          <a:p>
            <a:pPr marL="0" indent="0">
              <a:buNone/>
            </a:pPr>
            <a:r>
              <a:rPr lang="en-US">
                <a:solidFill>
                  <a:srgbClr val="000000"/>
                </a:solidFill>
              </a:rPr>
              <a:t>Assume that the target profit was $18,000.</a:t>
            </a:r>
          </a:p>
          <a:p>
            <a:pPr marL="0" indent="0">
              <a:buNone/>
            </a:pPr>
            <a:endParaRPr lang="en-US">
              <a:solidFill>
                <a:srgbClr val="000000"/>
              </a:solidFill>
            </a:endParaRPr>
          </a:p>
          <a:p>
            <a:pPr marL="0" indent="0">
              <a:buNone/>
            </a:pPr>
            <a:r>
              <a:rPr lang="en-US" b="1">
                <a:solidFill>
                  <a:srgbClr val="000000"/>
                </a:solidFill>
              </a:rPr>
              <a:t>Target Profit Analysis</a:t>
            </a:r>
          </a:p>
          <a:p>
            <a:pPr marL="0" indent="0">
              <a:buNone/>
            </a:pPr>
            <a:endParaRPr lang="en-US">
              <a:solidFill>
                <a:srgbClr val="000000"/>
              </a:solidFill>
            </a:endParaRPr>
          </a:p>
          <a:p>
            <a:pPr marL="0" indent="0">
              <a:buNone/>
            </a:pPr>
            <a:r>
              <a:rPr lang="en-US">
                <a:solidFill>
                  <a:srgbClr val="000000"/>
                </a:solidFill>
              </a:rPr>
              <a:t>(Unit price × Q) - (Unit VC × Q) – FC = Profit</a:t>
            </a:r>
          </a:p>
          <a:p>
            <a:pPr marL="0" indent="0">
              <a:buNone/>
            </a:pPr>
            <a:r>
              <a:rPr lang="en-US">
                <a:solidFill>
                  <a:srgbClr val="000000"/>
                </a:solidFill>
              </a:rPr>
              <a:t>($2.50 × Q) - ($1.00 × Q) - $12,000 = $18,000</a:t>
            </a:r>
          </a:p>
          <a:p>
            <a:pPr marL="0" indent="0">
              <a:buNone/>
            </a:pPr>
            <a:r>
              <a:rPr lang="en-US">
                <a:solidFill>
                  <a:srgbClr val="000000"/>
                </a:solidFill>
              </a:rPr>
              <a:t>$1.50 Q = $30,000</a:t>
            </a:r>
          </a:p>
          <a:p>
            <a:pPr marL="0" indent="0">
              <a:buNone/>
            </a:pPr>
            <a:r>
              <a:rPr lang="en-US">
                <a:solidFill>
                  <a:srgbClr val="000000"/>
                </a:solidFill>
              </a:rPr>
              <a:t>Q = 20,000 units</a:t>
            </a:r>
          </a:p>
        </p:txBody>
      </p:sp>
    </p:spTree>
    <p:extLst>
      <p:ext uri="{BB962C8B-B14F-4D97-AF65-F5344CB8AC3E}">
        <p14:creationId xmlns:p14="http://schemas.microsoft.com/office/powerpoint/2010/main" val="1372264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538A7B5-B32D-421E-B110-AB5B1A7CC2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D36999-26F8-45E4-AB41-D485D0B0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40012"/>
            <a:ext cx="9143999" cy="2803359"/>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0F8DA27-CE91-4AEB-B854-6F06B5485E3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35" t="23563" r="8214" b="45501"/>
          <a:stretch/>
        </p:blipFill>
        <p:spPr>
          <a:xfrm flipV="1">
            <a:off x="0" y="2404067"/>
            <a:ext cx="9144000" cy="2539327"/>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3" name="Title 2"/>
          <p:cNvSpPr>
            <a:spLocks noGrp="1"/>
          </p:cNvSpPr>
          <p:nvPr>
            <p:ph type="title"/>
          </p:nvPr>
        </p:nvSpPr>
        <p:spPr>
          <a:xfrm>
            <a:off x="566928" y="4494130"/>
            <a:ext cx="7980565" cy="775845"/>
          </a:xfrm>
        </p:spPr>
        <p:txBody>
          <a:bodyPr vert="horz" lIns="91440" tIns="45720" rIns="91440" bIns="45720" rtlCol="0" anchor="b">
            <a:normAutofit/>
          </a:bodyPr>
          <a:lstStyle/>
          <a:p>
            <a:pPr defTabSz="914400"/>
            <a:r>
              <a:rPr lang="en-US" sz="3800" kern="1200" dirty="0">
                <a:solidFill>
                  <a:srgbClr val="FFFFFF"/>
                </a:solidFill>
                <a:latin typeface="+mj-lt"/>
                <a:ea typeface="+mj-ea"/>
                <a:cs typeface="+mj-cs"/>
              </a:rPr>
              <a:t>Unit Contribution Margin Method</a:t>
            </a:r>
          </a:p>
        </p:txBody>
      </p:sp>
      <p:pic>
        <p:nvPicPr>
          <p:cNvPr id="15" name="Picture 14">
            <a:extLst>
              <a:ext uri="{FF2B5EF4-FFF2-40B4-BE49-F238E27FC236}">
                <a16:creationId xmlns:a16="http://schemas.microsoft.com/office/drawing/2014/main" id="{F7AF4E20-3DDE-4998-96BE-44EE182540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35" t="-1" r="8214" b="86237"/>
          <a:stretch/>
        </p:blipFill>
        <p:spPr>
          <a:xfrm flipV="1">
            <a:off x="0" y="5616534"/>
            <a:ext cx="9143999" cy="1129775"/>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graphicFrame>
        <p:nvGraphicFramePr>
          <p:cNvPr id="4" name="Table 3" descr="Sales Revenue: $2.50 per unit. Number of Units and Total is empty.&#10;Less Variable Costs: $1.00 per unit. Number of Units and Total is empty.&#10;Contribution margin is $1.50 per unit, multiplied by Q units is $12,000.&#10;Less Fixed Costs of $12,000&#10;Net Operating Income is $0." title="Table of Unit Contribution"/>
          <p:cNvGraphicFramePr>
            <a:graphicFrameLocks noGrp="1"/>
          </p:cNvGraphicFramePr>
          <p:nvPr>
            <p:extLst>
              <p:ext uri="{D42A27DB-BD31-4B8C-83A1-F6EECF244321}">
                <p14:modId xmlns:p14="http://schemas.microsoft.com/office/powerpoint/2010/main" val="415879892"/>
              </p:ext>
            </p:extLst>
          </p:nvPr>
        </p:nvGraphicFramePr>
        <p:xfrm>
          <a:off x="600376" y="442513"/>
          <a:ext cx="7943250" cy="3060074"/>
        </p:xfrm>
        <a:graphic>
          <a:graphicData uri="http://schemas.openxmlformats.org/drawingml/2006/table">
            <a:tbl>
              <a:tblPr firstRow="1" bandRow="1">
                <a:noFill/>
                <a:tableStyleId>{5940675A-B579-460E-94D1-54222C63F5DA}</a:tableStyleId>
              </a:tblPr>
              <a:tblGrid>
                <a:gridCol w="2598555">
                  <a:extLst>
                    <a:ext uri="{9D8B030D-6E8A-4147-A177-3AD203B41FA5}">
                      <a16:colId xmlns:a16="http://schemas.microsoft.com/office/drawing/2014/main" val="20000"/>
                    </a:ext>
                  </a:extLst>
                </a:gridCol>
                <a:gridCol w="1447607">
                  <a:extLst>
                    <a:ext uri="{9D8B030D-6E8A-4147-A177-3AD203B41FA5}">
                      <a16:colId xmlns:a16="http://schemas.microsoft.com/office/drawing/2014/main" val="20001"/>
                    </a:ext>
                  </a:extLst>
                </a:gridCol>
                <a:gridCol w="2622670">
                  <a:extLst>
                    <a:ext uri="{9D8B030D-6E8A-4147-A177-3AD203B41FA5}">
                      <a16:colId xmlns:a16="http://schemas.microsoft.com/office/drawing/2014/main" val="20002"/>
                    </a:ext>
                  </a:extLst>
                </a:gridCol>
                <a:gridCol w="1274418">
                  <a:extLst>
                    <a:ext uri="{9D8B030D-6E8A-4147-A177-3AD203B41FA5}">
                      <a16:colId xmlns:a16="http://schemas.microsoft.com/office/drawing/2014/main" val="20003"/>
                    </a:ext>
                  </a:extLst>
                </a:gridCol>
              </a:tblGrid>
              <a:tr h="597704">
                <a:tc>
                  <a:txBody>
                    <a:bodyPr/>
                    <a:lstStyle/>
                    <a:p>
                      <a:endParaRPr lang="en-US" sz="1900" b="1" cap="none" spc="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marL="88393" marR="63138" marT="126275" marB="126275" anchor="ctr">
                    <a:lnL w="12700" cmpd="sng">
                      <a:noFill/>
                    </a:lnL>
                    <a:lnR w="12700" cmpd="sng">
                      <a:noFill/>
                    </a:lnR>
                    <a:lnT w="19050" cap="flat" cmpd="sng" algn="ctr">
                      <a:noFill/>
                      <a:prstDash val="solid"/>
                    </a:lnT>
                    <a:lnB w="38100" cmpd="sng">
                      <a:noFill/>
                    </a:lnB>
                    <a:solidFill>
                      <a:schemeClr val="tx1"/>
                    </a:solidFill>
                  </a:tcPr>
                </a:tc>
                <a:tc>
                  <a:txBody>
                    <a:bodyPr/>
                    <a:lstStyle/>
                    <a:p>
                      <a:pPr algn="ctr"/>
                      <a:r>
                        <a:rPr lang="en-US" sz="1900" b="1" cap="none" spc="0">
                          <a:solidFill>
                            <a:schemeClr val="bg1"/>
                          </a:solidFill>
                          <a:latin typeface="Verdana" panose="020B0604030504040204" pitchFamily="34" charset="0"/>
                          <a:ea typeface="Verdana" panose="020B0604030504040204" pitchFamily="34" charset="0"/>
                          <a:cs typeface="Verdana" panose="020B0604030504040204" pitchFamily="34" charset="0"/>
                        </a:rPr>
                        <a:t>Per Unit</a:t>
                      </a:r>
                    </a:p>
                  </a:txBody>
                  <a:tcPr marL="88393" marR="63138" marT="126275" marB="126275" anchor="ctr">
                    <a:lnL w="12700" cmpd="sng">
                      <a:noFill/>
                    </a:lnL>
                    <a:lnR w="12700" cmpd="sng">
                      <a:noFill/>
                    </a:lnR>
                    <a:lnT w="19050" cap="flat" cmpd="sng" algn="ctr">
                      <a:noFill/>
                      <a:prstDash val="solid"/>
                    </a:lnT>
                    <a:lnB w="38100" cmpd="sng">
                      <a:noFill/>
                    </a:lnB>
                    <a:solidFill>
                      <a:schemeClr val="tx1"/>
                    </a:solidFill>
                  </a:tcPr>
                </a:tc>
                <a:tc>
                  <a:txBody>
                    <a:bodyPr/>
                    <a:lstStyle/>
                    <a:p>
                      <a:pPr algn="ctr"/>
                      <a:r>
                        <a:rPr lang="en-US" sz="1900" b="1" cap="none" spc="0">
                          <a:solidFill>
                            <a:schemeClr val="bg1"/>
                          </a:solidFill>
                          <a:latin typeface="Verdana" panose="020B0604030504040204" pitchFamily="34" charset="0"/>
                          <a:ea typeface="Verdana" panose="020B0604030504040204" pitchFamily="34" charset="0"/>
                          <a:cs typeface="Verdana" panose="020B0604030504040204" pitchFamily="34" charset="0"/>
                        </a:rPr>
                        <a:t>Number</a:t>
                      </a:r>
                      <a:r>
                        <a:rPr lang="en-US" sz="1900" b="1" cap="none" spc="0" baseline="0">
                          <a:solidFill>
                            <a:schemeClr val="bg1"/>
                          </a:solidFill>
                          <a:latin typeface="Verdana" panose="020B0604030504040204" pitchFamily="34" charset="0"/>
                          <a:ea typeface="Verdana" panose="020B0604030504040204" pitchFamily="34" charset="0"/>
                          <a:cs typeface="Verdana" panose="020B0604030504040204" pitchFamily="34" charset="0"/>
                        </a:rPr>
                        <a:t> Of Units</a:t>
                      </a:r>
                      <a:endParaRPr lang="en-US" sz="1900" b="1" cap="none" spc="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marL="88393" marR="63138" marT="126275" marB="126275" anchor="ctr">
                    <a:lnL w="12700" cmpd="sng">
                      <a:noFill/>
                    </a:lnL>
                    <a:lnR w="12700" cmpd="sng">
                      <a:noFill/>
                    </a:lnR>
                    <a:lnT w="19050" cap="flat" cmpd="sng" algn="ctr">
                      <a:noFill/>
                      <a:prstDash val="solid"/>
                    </a:lnT>
                    <a:lnB w="38100" cmpd="sng">
                      <a:noFill/>
                    </a:lnB>
                    <a:solidFill>
                      <a:schemeClr val="tx1"/>
                    </a:solidFill>
                  </a:tcPr>
                </a:tc>
                <a:tc>
                  <a:txBody>
                    <a:bodyPr/>
                    <a:lstStyle/>
                    <a:p>
                      <a:pPr algn="ctr"/>
                      <a:r>
                        <a:rPr lang="en-US" sz="1900" b="1" cap="none" spc="0">
                          <a:solidFill>
                            <a:schemeClr val="bg1"/>
                          </a:solidFill>
                          <a:latin typeface="Verdana" panose="020B0604030504040204" pitchFamily="34" charset="0"/>
                          <a:ea typeface="Verdana" panose="020B0604030504040204" pitchFamily="34" charset="0"/>
                          <a:cs typeface="Verdana" panose="020B0604030504040204" pitchFamily="34" charset="0"/>
                        </a:rPr>
                        <a:t>Total</a:t>
                      </a:r>
                    </a:p>
                  </a:txBody>
                  <a:tcPr marL="88393" marR="63138" marT="126275" marB="126275"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0000"/>
                  </a:ext>
                </a:extLst>
              </a:tr>
              <a:tr h="492474">
                <a:tc>
                  <a:txBody>
                    <a:bodyPr/>
                    <a:lstStyle/>
                    <a:p>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Sales revenue</a:t>
                      </a:r>
                    </a:p>
                  </a:txBody>
                  <a:tcPr marL="88393" marR="63138" marT="63138" marB="126275"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r"/>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$2.50</a:t>
                      </a:r>
                    </a:p>
                  </a:txBody>
                  <a:tcPr marL="88393" marR="63138" marT="63138" marB="126275"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ctr"/>
                      <a:endPar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8393" marR="63138" marT="63138" marB="126275"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r"/>
                      <a:endPar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8393" marR="63138" marT="63138" marB="126275" anchor="ctr">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10001"/>
                  </a:ext>
                </a:extLst>
              </a:tr>
              <a:tr h="492474">
                <a:tc>
                  <a:txBody>
                    <a:bodyPr/>
                    <a:lstStyle/>
                    <a:p>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Less: Variable costs</a:t>
                      </a:r>
                    </a:p>
                  </a:txBody>
                  <a:tcPr marL="88393" marR="63138" marT="63138" marB="12627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r"/>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  1.00</a:t>
                      </a:r>
                    </a:p>
                  </a:txBody>
                  <a:tcPr marL="88393" marR="63138" marT="63138" marB="12627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ctr"/>
                      <a:endPar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8393" marR="63138" marT="63138" marB="12627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r"/>
                      <a:endPar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8393" marR="63138" marT="63138" marB="12627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492474">
                <a:tc>
                  <a:txBody>
                    <a:bodyPr/>
                    <a:lstStyle/>
                    <a:p>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Contribution margin</a:t>
                      </a:r>
                    </a:p>
                  </a:txBody>
                  <a:tcPr marL="88393" marR="63138" marT="63138" marB="12627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r"/>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$1.50</a:t>
                      </a:r>
                    </a:p>
                  </a:txBody>
                  <a:tcPr marL="88393" marR="63138" marT="63138" marB="12627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ctr"/>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 Q =</a:t>
                      </a:r>
                    </a:p>
                  </a:txBody>
                  <a:tcPr marL="88393" marR="63138" marT="63138" marB="12627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r"/>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$12,000</a:t>
                      </a:r>
                    </a:p>
                  </a:txBody>
                  <a:tcPr marL="88393" marR="63138" marT="63138" marB="12627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0003"/>
                  </a:ext>
                </a:extLst>
              </a:tr>
              <a:tr h="492474">
                <a:tc>
                  <a:txBody>
                    <a:bodyPr/>
                    <a:lstStyle/>
                    <a:p>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Less: Fixed costs</a:t>
                      </a:r>
                    </a:p>
                  </a:txBody>
                  <a:tcPr marL="88393" marR="63138" marT="63138" marB="12627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r"/>
                      <a:endPar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8393" marR="63138" marT="63138" marB="12627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endPar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8393" marR="63138" marT="63138" marB="12627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r"/>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  12,000</a:t>
                      </a:r>
                    </a:p>
                  </a:txBody>
                  <a:tcPr marL="88393" marR="63138" marT="63138" marB="12627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492474">
                <a:tc>
                  <a:txBody>
                    <a:bodyPr/>
                    <a:lstStyle/>
                    <a:p>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Net operating income</a:t>
                      </a:r>
                    </a:p>
                  </a:txBody>
                  <a:tcPr marL="88393" marR="63138" marT="63138" marB="12627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r"/>
                      <a:endPar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8393" marR="63138" marT="63138" marB="126275" anchor="ctr">
                    <a:lnL w="12700" cmpd="sng">
                      <a:noFill/>
                      <a:prstDash val="solid"/>
                    </a:lnL>
                    <a:lnR w="12700" cmpd="sng">
                      <a:noFill/>
                      <a:prstDash val="solid"/>
                    </a:lnR>
                    <a:lnT w="12700" cmpd="sng">
                      <a:noFill/>
                      <a:prstDash val="solid"/>
                    </a:lnT>
                    <a:lnB w="12700" cmpd="sng">
                      <a:noFill/>
                      <a:prstDash val="solid"/>
                    </a:lnB>
                    <a:noFill/>
                  </a:tcPr>
                </a:tc>
                <a:tc>
                  <a:txBody>
                    <a:bodyPr/>
                    <a:lstStyle/>
                    <a:p>
                      <a:endPar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8393" marR="63138" marT="63138" marB="12627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r"/>
                      <a:r>
                        <a:rPr lang="en-US" sz="1700" cap="none" spc="0">
                          <a:solidFill>
                            <a:schemeClr val="tx1"/>
                          </a:solidFill>
                          <a:latin typeface="Verdana" panose="020B0604030504040204" pitchFamily="34" charset="0"/>
                          <a:ea typeface="Verdana" panose="020B0604030504040204" pitchFamily="34" charset="0"/>
                          <a:cs typeface="Verdana" panose="020B0604030504040204" pitchFamily="34" charset="0"/>
                        </a:rPr>
                        <a:t>           0</a:t>
                      </a:r>
                    </a:p>
                  </a:txBody>
                  <a:tcPr marL="88393" marR="63138" marT="63138" marB="12627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157735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p:cNvSpPr>
            <a:spLocks noGrp="1"/>
          </p:cNvSpPr>
          <p:nvPr>
            <p:ph type="title"/>
          </p:nvPr>
        </p:nvSpPr>
        <p:spPr>
          <a:xfrm>
            <a:off x="628650" y="963507"/>
            <a:ext cx="2620771" cy="4930986"/>
          </a:xfrm>
        </p:spPr>
        <p:txBody>
          <a:bodyPr vert="horz" lIns="91440" tIns="45720" rIns="91440" bIns="45720" rtlCol="0" anchor="ctr">
            <a:normAutofit/>
          </a:bodyPr>
          <a:lstStyle/>
          <a:p>
            <a:pPr algn="r" defTabSz="914400"/>
            <a:r>
              <a:rPr lang="en-US" sz="3700" kern="1200">
                <a:solidFill>
                  <a:schemeClr val="accent1"/>
                </a:solidFill>
                <a:latin typeface="+mj-lt"/>
                <a:ea typeface="+mj-ea"/>
                <a:cs typeface="+mj-cs"/>
              </a:rPr>
              <a:t>Unit Contribution Margin Method</a:t>
            </a:r>
          </a:p>
        </p:txBody>
      </p:sp>
      <p:cxnSp>
        <p:nvCxnSpPr>
          <p:cNvPr id="12" name="Straight Connector 11">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 name="Content Placeholder 1"/>
          <p:cNvSpPr>
            <a:spLocks noGrp="1"/>
          </p:cNvSpPr>
          <p:nvPr>
            <p:ph idx="1"/>
          </p:nvPr>
        </p:nvSpPr>
        <p:spPr>
          <a:xfrm>
            <a:off x="3732022" y="963507"/>
            <a:ext cx="4688205" cy="2304627"/>
          </a:xfrm>
        </p:spPr>
        <p:txBody>
          <a:bodyPr vert="horz" lIns="91440" tIns="45720" rIns="91440" bIns="45720" rtlCol="0" anchor="b">
            <a:normAutofit/>
          </a:bodyPr>
          <a:lstStyle/>
          <a:p>
            <a:pPr marL="0" indent="0" defTabSz="914400">
              <a:buClr>
                <a:srgbClr val="000000"/>
              </a:buClr>
              <a:buSzPct val="100000"/>
              <a:buNone/>
            </a:pPr>
            <a:r>
              <a:rPr lang="en-US" sz="1700" dirty="0"/>
              <a:t>Compute the break-even point in units for Starbucks.  Recall that Starbucks’ total fixed costs are $12,000 and the unit contribution margin is $1.50 per cup.</a:t>
            </a:r>
          </a:p>
        </p:txBody>
      </p:sp>
      <mc:AlternateContent xmlns:mc="http://schemas.openxmlformats.org/markup-compatibility/2006" xmlns:a14="http://schemas.microsoft.com/office/drawing/2010/main">
        <mc:Choice Requires="a14">
          <p:sp>
            <p:nvSpPr>
              <p:cNvPr id="4" name="TextBox 3"/>
              <p:cNvSpPr txBox="1"/>
              <p:nvPr/>
            </p:nvSpPr>
            <p:spPr>
              <a:xfrm>
                <a:off x="3732022" y="3589866"/>
                <a:ext cx="4688205" cy="230462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14:m>
                  <m:oMath xmlns:m="http://schemas.openxmlformats.org/officeDocument/2006/math">
                    <m:r>
                      <m:rPr>
                        <m:sty m:val="p"/>
                      </m:rPr>
                      <a:rPr lang="en-US" sz="1700">
                        <a:latin typeface="Cambria Math" panose="02040503050406030204" pitchFamily="18" charset="0"/>
                      </a:rPr>
                      <m:t>Break</m:t>
                    </m:r>
                    <m:r>
                      <a:rPr lang="en-US" sz="1700" i="1">
                        <a:latin typeface="Cambria Math" panose="02040503050406030204" pitchFamily="18" charset="0"/>
                      </a:rPr>
                      <m:t>−</m:t>
                    </m:r>
                    <m:r>
                      <m:rPr>
                        <m:sty m:val="p"/>
                      </m:rPr>
                      <a:rPr lang="en-US" sz="1700">
                        <a:latin typeface="Cambria Math" panose="02040503050406030204" pitchFamily="18" charset="0"/>
                      </a:rPr>
                      <m:t>Even</m:t>
                    </m:r>
                    <m:r>
                      <a:rPr lang="en-US" sz="1700">
                        <a:latin typeface="Cambria Math" panose="02040503050406030204" pitchFamily="18" charset="0"/>
                      </a:rPr>
                      <m:t> </m:t>
                    </m:r>
                    <m:r>
                      <m:rPr>
                        <m:sty m:val="p"/>
                      </m:rPr>
                      <a:rPr lang="en-US" sz="1700">
                        <a:latin typeface="Cambria Math" panose="02040503050406030204" pitchFamily="18" charset="0"/>
                      </a:rPr>
                      <m:t>Units</m:t>
                    </m:r>
                    <m:r>
                      <a:rPr lang="en-US" sz="1700" b="0" i="0">
                        <a:latin typeface="Cambria Math" panose="02040503050406030204" pitchFamily="18" charset="0"/>
                      </a:rPr>
                      <m:t> (</m:t>
                    </m:r>
                    <m:r>
                      <m:rPr>
                        <m:sty m:val="p"/>
                      </m:rPr>
                      <a:rPr lang="en-US" sz="1700" b="0" i="0">
                        <a:latin typeface="Cambria Math" panose="02040503050406030204" pitchFamily="18" charset="0"/>
                      </a:rPr>
                      <m:t>Q</m:t>
                    </m:r>
                    <m:r>
                      <a:rPr lang="en-US" sz="1700" b="0" i="0">
                        <a:latin typeface="Cambria Math" panose="02040503050406030204" pitchFamily="18" charset="0"/>
                      </a:rPr>
                      <m:t>) = </m:t>
                    </m:r>
                    <m:f>
                      <m:fPr>
                        <m:ctrlPr>
                          <a:rPr lang="en-US" sz="1700" i="1">
                            <a:latin typeface="Cambria Math" panose="02040503050406030204" pitchFamily="18" charset="0"/>
                          </a:rPr>
                        </m:ctrlPr>
                      </m:fPr>
                      <m:num>
                        <m:r>
                          <m:rPr>
                            <m:sty m:val="p"/>
                          </m:rPr>
                          <a:rPr lang="en-US" sz="1700">
                            <a:latin typeface="Cambria Math" panose="02040503050406030204" pitchFamily="18" charset="0"/>
                          </a:rPr>
                          <m:t>Total</m:t>
                        </m:r>
                        <m:r>
                          <a:rPr lang="en-US" sz="1700">
                            <a:latin typeface="Cambria Math" panose="02040503050406030204" pitchFamily="18" charset="0"/>
                          </a:rPr>
                          <m:t> </m:t>
                        </m:r>
                        <m:r>
                          <m:rPr>
                            <m:sty m:val="p"/>
                          </m:rPr>
                          <a:rPr lang="en-US" sz="1700">
                            <a:latin typeface="Cambria Math" panose="02040503050406030204" pitchFamily="18" charset="0"/>
                          </a:rPr>
                          <m:t>Fixed</m:t>
                        </m:r>
                        <m:r>
                          <a:rPr lang="en-US" sz="1700">
                            <a:latin typeface="Cambria Math" panose="02040503050406030204" pitchFamily="18" charset="0"/>
                          </a:rPr>
                          <m:t> </m:t>
                        </m:r>
                        <m:r>
                          <m:rPr>
                            <m:sty m:val="p"/>
                          </m:rPr>
                          <a:rPr lang="en-US" sz="1700">
                            <a:latin typeface="Cambria Math" panose="02040503050406030204" pitchFamily="18" charset="0"/>
                          </a:rPr>
                          <m:t>Costs</m:t>
                        </m:r>
                      </m:num>
                      <m:den>
                        <m:r>
                          <m:rPr>
                            <m:sty m:val="p"/>
                          </m:rPr>
                          <a:rPr lang="en-US" sz="1700">
                            <a:latin typeface="Cambria Math" panose="02040503050406030204" pitchFamily="18" charset="0"/>
                          </a:rPr>
                          <m:t>Unit</m:t>
                        </m:r>
                        <m:r>
                          <a:rPr lang="en-US" sz="1700">
                            <a:latin typeface="Cambria Math" panose="02040503050406030204" pitchFamily="18" charset="0"/>
                          </a:rPr>
                          <m:t> </m:t>
                        </m:r>
                        <m:r>
                          <m:rPr>
                            <m:sty m:val="p"/>
                          </m:rPr>
                          <a:rPr lang="en-US" sz="1700">
                            <a:latin typeface="Cambria Math" panose="02040503050406030204" pitchFamily="18" charset="0"/>
                          </a:rPr>
                          <m:t>Contribution</m:t>
                        </m:r>
                        <m:r>
                          <a:rPr lang="en-US" sz="1700">
                            <a:latin typeface="Cambria Math" panose="02040503050406030204" pitchFamily="18" charset="0"/>
                          </a:rPr>
                          <m:t> </m:t>
                        </m:r>
                        <m:r>
                          <m:rPr>
                            <m:sty m:val="p"/>
                          </m:rPr>
                          <a:rPr lang="en-US" sz="1700">
                            <a:latin typeface="Cambria Math" panose="02040503050406030204" pitchFamily="18" charset="0"/>
                          </a:rPr>
                          <m:t>Margin</m:t>
                        </m:r>
                      </m:den>
                    </m:f>
                  </m:oMath>
                </a14:m>
                <a:endParaRPr lang="en-US" sz="1700"/>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14:m>
                  <m:oMath xmlns:m="http://schemas.openxmlformats.org/officeDocument/2006/math">
                    <m:r>
                      <m:rPr>
                        <m:sty m:val="p"/>
                      </m:rPr>
                      <a:rPr lang="en-US" sz="1700">
                        <a:latin typeface="Cambria Math" panose="02040503050406030204" pitchFamily="18" charset="0"/>
                      </a:rPr>
                      <m:t>Break</m:t>
                    </m:r>
                    <m:r>
                      <a:rPr lang="en-US" sz="1700" i="1">
                        <a:latin typeface="Cambria Math" panose="02040503050406030204" pitchFamily="18" charset="0"/>
                      </a:rPr>
                      <m:t>−</m:t>
                    </m:r>
                    <m:r>
                      <m:rPr>
                        <m:sty m:val="p"/>
                      </m:rPr>
                      <a:rPr lang="en-US" sz="1700">
                        <a:latin typeface="Cambria Math" panose="02040503050406030204" pitchFamily="18" charset="0"/>
                      </a:rPr>
                      <m:t>Even</m:t>
                    </m:r>
                    <m:r>
                      <a:rPr lang="en-US" sz="1700">
                        <a:latin typeface="Cambria Math" panose="02040503050406030204" pitchFamily="18" charset="0"/>
                      </a:rPr>
                      <m:t> </m:t>
                    </m:r>
                    <m:r>
                      <m:rPr>
                        <m:sty m:val="p"/>
                      </m:rPr>
                      <a:rPr lang="en-US" sz="1700">
                        <a:latin typeface="Cambria Math" panose="02040503050406030204" pitchFamily="18" charset="0"/>
                      </a:rPr>
                      <m:t>Units</m:t>
                    </m:r>
                    <m:r>
                      <a:rPr lang="en-US" sz="1700" b="0" i="0">
                        <a:latin typeface="Cambria Math" panose="02040503050406030204" pitchFamily="18" charset="0"/>
                      </a:rPr>
                      <m:t> (</m:t>
                    </m:r>
                    <m:r>
                      <m:rPr>
                        <m:sty m:val="p"/>
                      </m:rPr>
                      <a:rPr lang="en-US" sz="1700" b="0" i="0">
                        <a:latin typeface="Cambria Math" panose="02040503050406030204" pitchFamily="18" charset="0"/>
                      </a:rPr>
                      <m:t>Q</m:t>
                    </m:r>
                    <m:r>
                      <a:rPr lang="en-US" sz="1700" b="0" i="0">
                        <a:latin typeface="Cambria Math" panose="02040503050406030204" pitchFamily="18" charset="0"/>
                      </a:rPr>
                      <m:t>) =$12,000 ÷$1.50 </m:t>
                    </m:r>
                    <m:r>
                      <m:rPr>
                        <m:sty m:val="p"/>
                      </m:rPr>
                      <a:rPr lang="en-US" sz="1700">
                        <a:latin typeface="Cambria Math" panose="02040503050406030204" pitchFamily="18" charset="0"/>
                      </a:rPr>
                      <m:t>per</m:t>
                    </m:r>
                    <m:r>
                      <a:rPr lang="en-US" sz="1700">
                        <a:latin typeface="Cambria Math" panose="02040503050406030204" pitchFamily="18" charset="0"/>
                      </a:rPr>
                      <m:t> </m:t>
                    </m:r>
                    <m:r>
                      <m:rPr>
                        <m:sty m:val="p"/>
                      </m:rPr>
                      <a:rPr lang="en-US" sz="1700">
                        <a:latin typeface="Cambria Math" panose="02040503050406030204" pitchFamily="18" charset="0"/>
                      </a:rPr>
                      <m:t>cup</m:t>
                    </m:r>
                  </m:oMath>
                </a14:m>
                <a:endParaRPr lang="en-US" sz="1700"/>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14:m>
                  <m:oMath xmlns:m="http://schemas.openxmlformats.org/officeDocument/2006/math">
                    <m:r>
                      <m:rPr>
                        <m:sty m:val="p"/>
                      </m:rPr>
                      <a:rPr lang="en-US" sz="1700">
                        <a:latin typeface="Cambria Math" panose="02040503050406030204" pitchFamily="18" charset="0"/>
                      </a:rPr>
                      <m:t>Break</m:t>
                    </m:r>
                    <m:r>
                      <a:rPr lang="en-US" sz="1700" i="1">
                        <a:latin typeface="Cambria Math" panose="02040503050406030204" pitchFamily="18" charset="0"/>
                      </a:rPr>
                      <m:t>−</m:t>
                    </m:r>
                    <m:r>
                      <m:rPr>
                        <m:sty m:val="p"/>
                      </m:rPr>
                      <a:rPr lang="en-US" sz="1700">
                        <a:latin typeface="Cambria Math" panose="02040503050406030204" pitchFamily="18" charset="0"/>
                      </a:rPr>
                      <m:t>Even</m:t>
                    </m:r>
                    <m:r>
                      <a:rPr lang="en-US" sz="1700">
                        <a:latin typeface="Cambria Math" panose="02040503050406030204" pitchFamily="18" charset="0"/>
                      </a:rPr>
                      <m:t> </m:t>
                    </m:r>
                    <m:r>
                      <m:rPr>
                        <m:sty m:val="p"/>
                      </m:rPr>
                      <a:rPr lang="en-US" sz="1700" b="0" i="0">
                        <a:latin typeface="Cambria Math" panose="02040503050406030204" pitchFamily="18" charset="0"/>
                      </a:rPr>
                      <m:t>U</m:t>
                    </m:r>
                    <m:r>
                      <m:rPr>
                        <m:sty m:val="p"/>
                      </m:rPr>
                      <a:rPr lang="en-US" sz="1700">
                        <a:latin typeface="Cambria Math" panose="02040503050406030204" pitchFamily="18" charset="0"/>
                      </a:rPr>
                      <m:t>nits</m:t>
                    </m:r>
                    <m:r>
                      <a:rPr lang="en-US" sz="1700" b="0" i="0">
                        <a:latin typeface="Cambria Math" panose="02040503050406030204" pitchFamily="18" charset="0"/>
                      </a:rPr>
                      <m:t> (</m:t>
                    </m:r>
                    <m:r>
                      <m:rPr>
                        <m:sty m:val="p"/>
                      </m:rPr>
                      <a:rPr lang="en-US" sz="1700" b="0" i="0">
                        <a:latin typeface="Cambria Math" panose="02040503050406030204" pitchFamily="18" charset="0"/>
                      </a:rPr>
                      <m:t>Q</m:t>
                    </m:r>
                    <m:r>
                      <a:rPr lang="en-US" sz="1700" b="0" i="0">
                        <a:latin typeface="Cambria Math" panose="02040503050406030204" pitchFamily="18" charset="0"/>
                      </a:rPr>
                      <m:t>) =8,000 </m:t>
                    </m:r>
                    <m:r>
                      <m:rPr>
                        <m:sty m:val="p"/>
                      </m:rPr>
                      <a:rPr lang="en-US" sz="1700">
                        <a:latin typeface="Cambria Math" panose="02040503050406030204" pitchFamily="18" charset="0"/>
                      </a:rPr>
                      <m:t>cups</m:t>
                    </m:r>
                  </m:oMath>
                </a14:m>
                <a:endParaRPr lang="en-US" sz="1700"/>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endParaRPr lang="en-US" sz="1700"/>
              </a:p>
            </p:txBody>
          </p:sp>
        </mc:Choice>
        <mc:Fallback xmlns="">
          <p:sp>
            <p:nvSpPr>
              <p:cNvPr id="4" name="TextBox 3"/>
              <p:cNvSpPr txBox="1">
                <a:spLocks noRot="1" noChangeAspect="1" noMove="1" noResize="1" noEditPoints="1" noAdjustHandles="1" noChangeArrowheads="1" noChangeShapeType="1" noTextEdit="1"/>
              </p:cNvSpPr>
              <p:nvPr/>
            </p:nvSpPr>
            <p:spPr>
              <a:xfrm>
                <a:off x="3732022" y="3589866"/>
                <a:ext cx="4688205" cy="2304628"/>
              </a:xfrm>
              <a:prstGeom prst="rect">
                <a:avLst/>
              </a:prstGeom>
              <a:blipFill>
                <a:blip r:embed="rId3"/>
                <a:stretch>
                  <a:fillRect l="-541" t="-1093"/>
                </a:stretch>
              </a:blipFill>
            </p:spPr>
            <p:txBody>
              <a:bodyPr/>
              <a:lstStyle/>
              <a:p>
                <a:r>
                  <a:rPr lang="en-CN">
                    <a:noFill/>
                  </a:rPr>
                  <a:t> </a:t>
                </a:r>
              </a:p>
            </p:txBody>
          </p:sp>
        </mc:Fallback>
      </mc:AlternateContent>
    </p:spTree>
    <p:extLst>
      <p:ext uri="{BB962C8B-B14F-4D97-AF65-F5344CB8AC3E}">
        <p14:creationId xmlns:p14="http://schemas.microsoft.com/office/powerpoint/2010/main" val="257500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4273" name="Title 1"/>
          <p:cNvSpPr>
            <a:spLocks noGrp="1"/>
          </p:cNvSpPr>
          <p:nvPr>
            <p:ph type="title"/>
          </p:nvPr>
        </p:nvSpPr>
        <p:spPr>
          <a:xfrm>
            <a:off x="480059" y="2053641"/>
            <a:ext cx="2751871" cy="2760098"/>
          </a:xfrm>
        </p:spPr>
        <p:txBody>
          <a:bodyPr>
            <a:normAutofit/>
          </a:bodyPr>
          <a:lstStyle/>
          <a:p>
            <a:pPr eaLnBrk="1" hangingPunct="1"/>
            <a:r>
              <a:rPr lang="en-US" dirty="0">
                <a:solidFill>
                  <a:srgbClr val="FFFFFF"/>
                </a:solidFill>
              </a:rPr>
              <a:t>Unit Contribution Margin Method</a:t>
            </a:r>
          </a:p>
        </p:txBody>
      </p:sp>
      <p:sp>
        <p:nvSpPr>
          <p:cNvPr id="2" name="Content Placeholder 1"/>
          <p:cNvSpPr>
            <a:spLocks noGrp="1"/>
          </p:cNvSpPr>
          <p:nvPr>
            <p:ph idx="1"/>
          </p:nvPr>
        </p:nvSpPr>
        <p:spPr>
          <a:xfrm>
            <a:off x="4567930" y="801866"/>
            <a:ext cx="3979563" cy="5230634"/>
          </a:xfrm>
        </p:spPr>
        <p:txBody>
          <a:bodyPr anchor="ctr">
            <a:normAutofit/>
          </a:bodyPr>
          <a:lstStyle/>
          <a:p>
            <a:pPr marL="0" indent="0" fontAlgn="auto">
              <a:spcBef>
                <a:spcPts val="0"/>
              </a:spcBef>
              <a:spcAft>
                <a:spcPts val="0"/>
              </a:spcAft>
              <a:buNone/>
              <a:defRPr/>
            </a:pPr>
            <a:r>
              <a:rPr lang="en-US">
                <a:solidFill>
                  <a:srgbClr val="000000"/>
                </a:solidFill>
                <a:ea typeface="MS PGothic" pitchFamily="34" charset="-128"/>
              </a:rPr>
              <a:t>To translate break-even units into sales revenue, we can multiply by the unit sales prices.</a:t>
            </a:r>
          </a:p>
          <a:p>
            <a:pPr marL="0" indent="0" fontAlgn="auto">
              <a:spcBef>
                <a:spcPts val="0"/>
              </a:spcBef>
              <a:spcAft>
                <a:spcPts val="0"/>
              </a:spcAft>
              <a:buNone/>
              <a:defRPr/>
            </a:pPr>
            <a:endParaRPr lang="en-US">
              <a:solidFill>
                <a:srgbClr val="000000"/>
              </a:solidFill>
              <a:ea typeface="MS PGothic" pitchFamily="34" charset="-128"/>
            </a:endParaRPr>
          </a:p>
          <a:p>
            <a:pPr marL="0" indent="0" fontAlgn="auto">
              <a:spcBef>
                <a:spcPts val="0"/>
              </a:spcBef>
              <a:spcAft>
                <a:spcPts val="1000"/>
              </a:spcAft>
              <a:buNone/>
              <a:defRPr/>
            </a:pPr>
            <a:r>
              <a:rPr lang="en-US">
                <a:solidFill>
                  <a:srgbClr val="000000"/>
                </a:solidFill>
              </a:rPr>
              <a:t>Break-Even Sales ($) = Break-Even Units × Unit Sales Price</a:t>
            </a:r>
          </a:p>
          <a:p>
            <a:pPr marL="0" indent="0" fontAlgn="auto">
              <a:spcBef>
                <a:spcPts val="0"/>
              </a:spcBef>
              <a:spcAft>
                <a:spcPts val="0"/>
              </a:spcAft>
              <a:buNone/>
              <a:defRPr/>
            </a:pPr>
            <a:r>
              <a:rPr lang="en-US">
                <a:solidFill>
                  <a:srgbClr val="000000"/>
                </a:solidFill>
              </a:rPr>
              <a:t>Break-Even Sales = 8,000 cups × $2.50 = $20,000</a:t>
            </a:r>
          </a:p>
        </p:txBody>
      </p:sp>
    </p:spTree>
    <p:extLst>
      <p:ext uri="{BB962C8B-B14F-4D97-AF65-F5344CB8AC3E}">
        <p14:creationId xmlns:p14="http://schemas.microsoft.com/office/powerpoint/2010/main" val="307190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a:xfrm>
            <a:off x="320040" y="228601"/>
            <a:ext cx="8519160" cy="1066800"/>
          </a:xfrm>
        </p:spPr>
        <p:txBody>
          <a:bodyPr/>
          <a:lstStyle/>
          <a:p>
            <a:pPr eaLnBrk="1" hangingPunct="1"/>
            <a:r>
              <a:rPr lang="en-US" dirty="0"/>
              <a:t>Unit Contribution Margin Method</a:t>
            </a:r>
          </a:p>
        </p:txBody>
      </p:sp>
      <p:sp>
        <p:nvSpPr>
          <p:cNvPr id="6" name="Content Placeholder 5"/>
          <p:cNvSpPr>
            <a:spLocks noGrp="1"/>
          </p:cNvSpPr>
          <p:nvPr>
            <p:ph type="body" sz="quarter" idx="10"/>
          </p:nvPr>
        </p:nvSpPr>
        <p:spPr>
          <a:xfrm>
            <a:off x="428172" y="1524000"/>
            <a:ext cx="8258628" cy="457200"/>
          </a:xfrm>
        </p:spPr>
        <p:txBody>
          <a:bodyPr/>
          <a:lstStyle/>
          <a:p>
            <a:r>
              <a:rPr lang="en-US" sz="2400" dirty="0">
                <a:solidFill>
                  <a:srgbClr val="000000"/>
                </a:solidFill>
              </a:rPr>
              <a:t>Assume that the target profit was $18,000.</a:t>
            </a:r>
          </a:p>
        </p:txBody>
      </p:sp>
      <p:sp>
        <p:nvSpPr>
          <p:cNvPr id="7"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graphicFrame>
        <p:nvGraphicFramePr>
          <p:cNvPr id="5" name="Table 4" descr="Sales Revenue: $2.50 per Unit; Number of Units and Total is empty&#10;Less variable Costs: $1.00 per unit; Number of Units and Total is empty.&#10;Contribution Margin: $1.50 multiplied by Q, the number of units, totals an unknown amount. &#10;Less total fixed costs of $12,000&#10;Net Operating Income totals $18,000" title="Table Unit Contribution Margin"/>
          <p:cNvGraphicFramePr>
            <a:graphicFrameLocks noGrp="1"/>
          </p:cNvGraphicFramePr>
          <p:nvPr>
            <p:extLst>
              <p:ext uri="{D42A27DB-BD31-4B8C-83A1-F6EECF244321}">
                <p14:modId xmlns:p14="http://schemas.microsoft.com/office/powerpoint/2010/main" val="3169496643"/>
              </p:ext>
            </p:extLst>
          </p:nvPr>
        </p:nvGraphicFramePr>
        <p:xfrm>
          <a:off x="914400" y="2118360"/>
          <a:ext cx="7239000" cy="2225040"/>
        </p:xfrm>
        <a:graphic>
          <a:graphicData uri="http://schemas.openxmlformats.org/drawingml/2006/table">
            <a:tbl>
              <a:tblPr firstRow="1" bandRow="1">
                <a:tableStyleId>{5940675A-B579-460E-94D1-54222C63F5DA}</a:tableStyleId>
              </a:tblPr>
              <a:tblGrid>
                <a:gridCol w="2362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70840">
                <a:tc>
                  <a:txBody>
                    <a:bodyPr/>
                    <a:lstStyle/>
                    <a:p>
                      <a:pPr algn="ctr"/>
                      <a:endParaRPr lang="en-US" sz="1400" b="1" i="0"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solidFill>
                      <a:srgbClr val="000000"/>
                    </a:solidFill>
                  </a:tcPr>
                </a:tc>
                <a:tc>
                  <a:txBody>
                    <a:bodyPr/>
                    <a:lstStyle/>
                    <a:p>
                      <a:pPr algn="ctr"/>
                      <a:r>
                        <a:rPr lang="en-US" sz="1400" b="1" i="0" dirty="0">
                          <a:solidFill>
                            <a:schemeClr val="bg1"/>
                          </a:solidFill>
                          <a:latin typeface="Verdana" panose="020B0604030504040204" pitchFamily="34" charset="0"/>
                          <a:ea typeface="Verdana" panose="020B0604030504040204" pitchFamily="34" charset="0"/>
                          <a:cs typeface="Verdana" panose="020B0604030504040204" pitchFamily="34" charset="0"/>
                        </a:rPr>
                        <a:t>Per Unit</a:t>
                      </a:r>
                    </a:p>
                  </a:txBody>
                  <a:tcPr>
                    <a:solidFill>
                      <a:srgbClr val="000000"/>
                    </a:solidFill>
                  </a:tcPr>
                </a:tc>
                <a:tc>
                  <a:txBody>
                    <a:bodyPr/>
                    <a:lstStyle/>
                    <a:p>
                      <a:pPr algn="ctr"/>
                      <a:r>
                        <a:rPr lang="en-US" sz="1400" b="1" i="0" dirty="0">
                          <a:solidFill>
                            <a:schemeClr val="bg1"/>
                          </a:solidFill>
                          <a:latin typeface="Verdana" panose="020B0604030504040204" pitchFamily="34" charset="0"/>
                          <a:ea typeface="Verdana" panose="020B0604030504040204" pitchFamily="34" charset="0"/>
                          <a:cs typeface="Verdana" panose="020B0604030504040204" pitchFamily="34" charset="0"/>
                        </a:rPr>
                        <a:t>Number of Units (Q)</a:t>
                      </a:r>
                    </a:p>
                  </a:txBody>
                  <a:tcPr>
                    <a:solidFill>
                      <a:srgbClr val="000000"/>
                    </a:solidFill>
                  </a:tcPr>
                </a:tc>
                <a:tc>
                  <a:txBody>
                    <a:bodyPr/>
                    <a:lstStyle/>
                    <a:p>
                      <a:pPr algn="ctr"/>
                      <a:r>
                        <a:rPr lang="en-US" sz="1400" b="1" i="0" dirty="0">
                          <a:solidFill>
                            <a:schemeClr val="bg1"/>
                          </a:solidFill>
                          <a:latin typeface="Verdana" panose="020B0604030504040204" pitchFamily="34" charset="0"/>
                          <a:ea typeface="Verdana" panose="020B0604030504040204" pitchFamily="34" charset="0"/>
                          <a:cs typeface="Verdana" panose="020B0604030504040204" pitchFamily="34" charset="0"/>
                        </a:rPr>
                        <a:t>Total</a:t>
                      </a:r>
                    </a:p>
                  </a:txBody>
                  <a:tcPr>
                    <a:solidFill>
                      <a:srgbClr val="000000"/>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i="0" dirty="0">
                          <a:latin typeface="Verdana" panose="020B0604030504040204" pitchFamily="34" charset="0"/>
                          <a:ea typeface="Verdana" panose="020B0604030504040204" pitchFamily="34" charset="0"/>
                          <a:cs typeface="Verdana" panose="020B0604030504040204" pitchFamily="34" charset="0"/>
                        </a:rPr>
                        <a:t>Sales revenue</a:t>
                      </a:r>
                    </a:p>
                  </a:txBody>
                  <a:tcPr/>
                </a:tc>
                <a:tc>
                  <a:txBody>
                    <a:bodyPr/>
                    <a:lstStyle/>
                    <a:p>
                      <a:pPr algn="r"/>
                      <a:r>
                        <a:rPr lang="en-US" sz="1400" i="0" dirty="0">
                          <a:latin typeface="Verdana" panose="020B0604030504040204" pitchFamily="34" charset="0"/>
                          <a:ea typeface="Verdana" panose="020B0604030504040204" pitchFamily="34" charset="0"/>
                          <a:cs typeface="Verdana" panose="020B0604030504040204" pitchFamily="34" charset="0"/>
                        </a:rPr>
                        <a:t>$2.50</a:t>
                      </a:r>
                    </a:p>
                  </a:txBody>
                  <a:tcPr/>
                </a:tc>
                <a:tc>
                  <a:txBody>
                    <a:bodyPr/>
                    <a:lstStyle/>
                    <a:p>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1"/>
                  </a:ext>
                </a:extLst>
              </a:tr>
              <a:tr h="370840">
                <a:tc>
                  <a:txBody>
                    <a:bodyPr/>
                    <a:lstStyle/>
                    <a:p>
                      <a:r>
                        <a:rPr lang="en-US" sz="1400" i="0" dirty="0">
                          <a:latin typeface="Verdana" panose="020B0604030504040204" pitchFamily="34" charset="0"/>
                          <a:ea typeface="Verdana" panose="020B0604030504040204" pitchFamily="34" charset="0"/>
                          <a:cs typeface="Verdana" panose="020B0604030504040204" pitchFamily="34" charset="0"/>
                        </a:rPr>
                        <a:t>Less: Variable costs</a:t>
                      </a:r>
                    </a:p>
                  </a:txBody>
                  <a:tcPr/>
                </a:tc>
                <a:tc>
                  <a:txBody>
                    <a:bodyPr/>
                    <a:lstStyle/>
                    <a:p>
                      <a:pPr algn="r"/>
                      <a:r>
                        <a:rPr lang="en-US" sz="1400" i="0" dirty="0">
                          <a:latin typeface="Verdana" panose="020B0604030504040204" pitchFamily="34" charset="0"/>
                          <a:ea typeface="Verdana" panose="020B0604030504040204" pitchFamily="34" charset="0"/>
                          <a:cs typeface="Verdana" panose="020B0604030504040204" pitchFamily="34" charset="0"/>
                        </a:rPr>
                        <a:t> </a:t>
                      </a:r>
                      <a:r>
                        <a:rPr lang="en-US" sz="1400" i="0" baseline="0" dirty="0">
                          <a:latin typeface="Verdana" panose="020B0604030504040204" pitchFamily="34" charset="0"/>
                          <a:ea typeface="Verdana" panose="020B0604030504040204" pitchFamily="34" charset="0"/>
                          <a:cs typeface="Verdana" panose="020B0604030504040204" pitchFamily="34" charset="0"/>
                        </a:rPr>
                        <a:t> </a:t>
                      </a:r>
                      <a:r>
                        <a:rPr lang="en-US" sz="1400" i="0" dirty="0">
                          <a:latin typeface="Verdana" panose="020B0604030504040204" pitchFamily="34" charset="0"/>
                          <a:ea typeface="Verdana" panose="020B0604030504040204" pitchFamily="34" charset="0"/>
                          <a:cs typeface="Verdana" panose="020B0604030504040204" pitchFamily="34" charset="0"/>
                        </a:rPr>
                        <a:t>1.00</a:t>
                      </a:r>
                    </a:p>
                  </a:txBody>
                  <a:tcPr/>
                </a:tc>
                <a:tc>
                  <a:txBody>
                    <a:bodyPr/>
                    <a:lstStyle/>
                    <a:p>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2"/>
                  </a:ext>
                </a:extLst>
              </a:tr>
              <a:tr h="370840">
                <a:tc>
                  <a:txBody>
                    <a:bodyPr/>
                    <a:lstStyle/>
                    <a:p>
                      <a:pPr marL="0" indent="115888"/>
                      <a:r>
                        <a:rPr lang="en-US" sz="1400" i="0" dirty="0">
                          <a:latin typeface="Verdana" panose="020B0604030504040204" pitchFamily="34" charset="0"/>
                          <a:ea typeface="Verdana" panose="020B0604030504040204" pitchFamily="34" charset="0"/>
                          <a:cs typeface="Verdana" panose="020B0604030504040204" pitchFamily="34" charset="0"/>
                        </a:rPr>
                        <a:t>Contribution margin</a:t>
                      </a:r>
                    </a:p>
                  </a:txBody>
                  <a:tcPr/>
                </a:tc>
                <a:tc>
                  <a:txBody>
                    <a:bodyPr/>
                    <a:lstStyle/>
                    <a:p>
                      <a:pPr algn="r"/>
                      <a:r>
                        <a:rPr lang="en-US" sz="1400" i="0" dirty="0">
                          <a:solidFill>
                            <a:schemeClr val="tx1"/>
                          </a:solidFill>
                          <a:latin typeface="Verdana" panose="020B0604030504040204" pitchFamily="34" charset="0"/>
                          <a:ea typeface="Verdana" panose="020B0604030504040204" pitchFamily="34" charset="0"/>
                          <a:cs typeface="Verdana" panose="020B0604030504040204" pitchFamily="34" charset="0"/>
                        </a:rPr>
                        <a:t>$1.50</a:t>
                      </a:r>
                    </a:p>
                  </a:txBody>
                  <a:tcPr>
                    <a:solidFill>
                      <a:schemeClr val="bg1"/>
                    </a:solidFill>
                  </a:tcPr>
                </a:tc>
                <a:tc>
                  <a:txBody>
                    <a:bodyPr/>
                    <a:lstStyle/>
                    <a:p>
                      <a:pPr algn="ctr"/>
                      <a:r>
                        <a:rPr lang="en-US" sz="1400" i="0" dirty="0">
                          <a:latin typeface="Verdana" panose="020B0604030504040204" pitchFamily="34" charset="0"/>
                          <a:ea typeface="Verdana" panose="020B0604030504040204" pitchFamily="34" charset="0"/>
                          <a:cs typeface="Verdana" panose="020B0604030504040204" pitchFamily="34" charset="0"/>
                        </a:rPr>
                        <a:t>× </a:t>
                      </a:r>
                      <a:r>
                        <a:rPr lang="en-US" sz="1400" i="0" baseline="0" dirty="0">
                          <a:solidFill>
                            <a:schemeClr val="tx1"/>
                          </a:solidFill>
                          <a:latin typeface="Verdana" panose="020B0604030504040204" pitchFamily="34" charset="0"/>
                          <a:ea typeface="Verdana" panose="020B0604030504040204" pitchFamily="34" charset="0"/>
                          <a:cs typeface="Verdana" panose="020B0604030504040204" pitchFamily="34" charset="0"/>
                        </a:rPr>
                        <a:t>Q =</a:t>
                      </a:r>
                      <a:endParaRPr lang="en-US" sz="1400" i="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solidFill>
                      <a:schemeClr val="bg1"/>
                    </a:solidFill>
                  </a:tcPr>
                </a:tc>
                <a:tc>
                  <a:txBody>
                    <a:bodyPr/>
                    <a:lstStyle/>
                    <a:p>
                      <a:pPr algn="r"/>
                      <a:r>
                        <a:rPr lang="en-US" sz="1400" i="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txBody>
                  <a:tcPr>
                    <a:solidFill>
                      <a:schemeClr val="bg1"/>
                    </a:solidFill>
                  </a:tcPr>
                </a:tc>
                <a:extLst>
                  <a:ext uri="{0D108BD9-81ED-4DB2-BD59-A6C34878D82A}">
                    <a16:rowId xmlns:a16="http://schemas.microsoft.com/office/drawing/2014/main" val="10003"/>
                  </a:ext>
                </a:extLst>
              </a:tr>
              <a:tr h="370840">
                <a:tc>
                  <a:txBody>
                    <a:bodyPr/>
                    <a:lstStyle/>
                    <a:p>
                      <a:r>
                        <a:rPr lang="en-US" sz="1400" i="0" dirty="0">
                          <a:latin typeface="Verdana" panose="020B0604030504040204" pitchFamily="34" charset="0"/>
                          <a:ea typeface="Verdana" panose="020B0604030504040204" pitchFamily="34" charset="0"/>
                          <a:cs typeface="Verdana" panose="020B0604030504040204" pitchFamily="34" charset="0"/>
                        </a:rPr>
                        <a:t>Less: Fixed</a:t>
                      </a:r>
                      <a:r>
                        <a:rPr lang="en-US" sz="1400" i="0" baseline="0" dirty="0">
                          <a:latin typeface="Verdana" panose="020B0604030504040204" pitchFamily="34" charset="0"/>
                          <a:ea typeface="Verdana" panose="020B0604030504040204" pitchFamily="34" charset="0"/>
                          <a:cs typeface="Verdana" panose="020B0604030504040204" pitchFamily="34" charset="0"/>
                        </a:rPr>
                        <a:t> costs</a:t>
                      </a:r>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400" i="0" dirty="0">
                          <a:latin typeface="Verdana" panose="020B0604030504040204" pitchFamily="34" charset="0"/>
                          <a:ea typeface="Verdana" panose="020B0604030504040204" pitchFamily="34" charset="0"/>
                          <a:cs typeface="Verdana" panose="020B0604030504040204" pitchFamily="34" charset="0"/>
                        </a:rPr>
                        <a:t>  12,000</a:t>
                      </a:r>
                    </a:p>
                  </a:txBody>
                  <a:tcPr/>
                </a:tc>
                <a:extLst>
                  <a:ext uri="{0D108BD9-81ED-4DB2-BD59-A6C34878D82A}">
                    <a16:rowId xmlns:a16="http://schemas.microsoft.com/office/drawing/2014/main" val="10004"/>
                  </a:ext>
                </a:extLst>
              </a:tr>
              <a:tr h="370840">
                <a:tc>
                  <a:txBody>
                    <a:bodyPr/>
                    <a:lstStyle/>
                    <a:p>
                      <a:pPr marL="0" indent="115888"/>
                      <a:r>
                        <a:rPr lang="en-US" sz="1400" i="0" dirty="0">
                          <a:latin typeface="Verdana" panose="020B0604030504040204" pitchFamily="34" charset="0"/>
                          <a:ea typeface="Verdana" panose="020B0604030504040204" pitchFamily="34" charset="0"/>
                          <a:cs typeface="Verdana" panose="020B0604030504040204" pitchFamily="34" charset="0"/>
                        </a:rPr>
                        <a:t>Net operating</a:t>
                      </a:r>
                      <a:r>
                        <a:rPr lang="en-US" sz="1400" i="0" baseline="0" dirty="0">
                          <a:latin typeface="Verdana" panose="020B0604030504040204" pitchFamily="34" charset="0"/>
                          <a:ea typeface="Verdana" panose="020B0604030504040204" pitchFamily="34" charset="0"/>
                          <a:cs typeface="Verdana" panose="020B0604030504040204" pitchFamily="34" charset="0"/>
                        </a:rPr>
                        <a:t> income</a:t>
                      </a:r>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en-US" sz="1400" i="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algn="r"/>
                      <a:r>
                        <a:rPr lang="en-US" sz="1400" i="0" dirty="0">
                          <a:latin typeface="Verdana" panose="020B0604030504040204" pitchFamily="34" charset="0"/>
                          <a:ea typeface="Verdana" panose="020B0604030504040204" pitchFamily="34" charset="0"/>
                          <a:cs typeface="Verdana" panose="020B0604030504040204" pitchFamily="34" charset="0"/>
                        </a:rPr>
                        <a:t>$18,000</a:t>
                      </a:r>
                    </a:p>
                  </a:txBody>
                  <a:tcPr/>
                </a:tc>
                <a:extLst>
                  <a:ext uri="{0D108BD9-81ED-4DB2-BD59-A6C34878D82A}">
                    <a16:rowId xmlns:a16="http://schemas.microsoft.com/office/drawing/2014/main" val="10005"/>
                  </a:ext>
                </a:extLst>
              </a:tr>
            </a:tbl>
          </a:graphicData>
        </a:graphic>
      </p:graphicFrame>
      <p:graphicFrame>
        <p:nvGraphicFramePr>
          <p:cNvPr id="2" name="Object 1" descr="Target Units is equal to Total Fixed Costs plus Target Profit, divided by Unit Contribution Margin.&#10;This example shows total fixed costs as $12,000 plus $18,000, which equals $30,000, divided by target profit of $1.50 per cup. The Target units will then equal 20,000 cups." title="Formula for Target Units"/>
          <p:cNvGraphicFramePr>
            <a:graphicFrameLocks noChangeAspect="1"/>
          </p:cNvGraphicFramePr>
          <p:nvPr>
            <p:extLst>
              <p:ext uri="{D42A27DB-BD31-4B8C-83A1-F6EECF244321}">
                <p14:modId xmlns:p14="http://schemas.microsoft.com/office/powerpoint/2010/main" val="587613397"/>
              </p:ext>
            </p:extLst>
          </p:nvPr>
        </p:nvGraphicFramePr>
        <p:xfrm>
          <a:off x="941388" y="4668838"/>
          <a:ext cx="7261225" cy="1635125"/>
        </p:xfrm>
        <a:graphic>
          <a:graphicData uri="http://schemas.openxmlformats.org/presentationml/2006/ole">
            <mc:AlternateContent xmlns:mc="http://schemas.openxmlformats.org/markup-compatibility/2006">
              <mc:Choice xmlns:v="urn:schemas-microsoft-com:vml" Requires="v">
                <p:oleObj spid="_x0000_s8435" name="Equation" r:id="rId4" imgW="4508280" imgH="1015920" progId="Equation.3">
                  <p:embed/>
                </p:oleObj>
              </mc:Choice>
              <mc:Fallback>
                <p:oleObj name="Equation" r:id="rId4" imgW="4508280" imgH="1015920" progId="Equation.3">
                  <p:embed/>
                  <p:pic>
                    <p:nvPicPr>
                      <p:cNvPr id="0" name=""/>
                      <p:cNvPicPr/>
                      <p:nvPr/>
                    </p:nvPicPr>
                    <p:blipFill>
                      <a:blip r:embed="rId5"/>
                      <a:stretch>
                        <a:fillRect/>
                      </a:stretch>
                    </p:blipFill>
                    <p:spPr>
                      <a:xfrm>
                        <a:off x="941388" y="4668838"/>
                        <a:ext cx="7261225" cy="1635125"/>
                      </a:xfrm>
                      <a:prstGeom prst="rect">
                        <a:avLst/>
                      </a:prstGeom>
                    </p:spPr>
                  </p:pic>
                </p:oleObj>
              </mc:Fallback>
            </mc:AlternateContent>
          </a:graphicData>
        </a:graphic>
      </p:graphicFrame>
    </p:spTree>
    <p:extLst>
      <p:ext uri="{BB962C8B-B14F-4D97-AF65-F5344CB8AC3E}">
        <p14:creationId xmlns:p14="http://schemas.microsoft.com/office/powerpoint/2010/main" val="37033634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538A7B5-B32D-421E-B110-AB5B1A7CC2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4D36999-26F8-45E4-AB41-D485D0B0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40012"/>
            <a:ext cx="9143999" cy="280335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0F8DA27-CE91-4AEB-B854-6F06B5485E3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35" t="23563" r="8214" b="45501"/>
          <a:stretch/>
        </p:blipFill>
        <p:spPr>
          <a:xfrm flipV="1">
            <a:off x="0" y="2404067"/>
            <a:ext cx="9144000" cy="2539327"/>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4" name="Title 3"/>
          <p:cNvSpPr>
            <a:spLocks noGrp="1"/>
          </p:cNvSpPr>
          <p:nvPr>
            <p:ph type="title"/>
          </p:nvPr>
        </p:nvSpPr>
        <p:spPr>
          <a:xfrm>
            <a:off x="566928" y="4494130"/>
            <a:ext cx="7980565" cy="775845"/>
          </a:xfrm>
        </p:spPr>
        <p:txBody>
          <a:bodyPr vert="horz" lIns="91440" tIns="45720" rIns="91440" bIns="45720" rtlCol="0" anchor="b">
            <a:normAutofit/>
          </a:bodyPr>
          <a:lstStyle/>
          <a:p>
            <a:pPr defTabSz="914400"/>
            <a:r>
              <a:rPr lang="en-US" sz="3800" kern="1200">
                <a:solidFill>
                  <a:srgbClr val="FFFFFF"/>
                </a:solidFill>
                <a:latin typeface="+mj-lt"/>
                <a:ea typeface="+mj-ea"/>
                <a:cs typeface="+mj-cs"/>
              </a:rPr>
              <a:t>Contribution Margin Ratio Method</a:t>
            </a:r>
          </a:p>
        </p:txBody>
      </p:sp>
      <p:pic>
        <p:nvPicPr>
          <p:cNvPr id="16" name="Picture 15">
            <a:extLst>
              <a:ext uri="{FF2B5EF4-FFF2-40B4-BE49-F238E27FC236}">
                <a16:creationId xmlns:a16="http://schemas.microsoft.com/office/drawing/2014/main" id="{F7AF4E20-3DDE-4998-96BE-44EE182540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35" t="-1" r="8214" b="86237"/>
          <a:stretch/>
        </p:blipFill>
        <p:spPr>
          <a:xfrm flipV="1">
            <a:off x="0" y="5616534"/>
            <a:ext cx="9143999" cy="1129775"/>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graphicFrame>
        <p:nvGraphicFramePr>
          <p:cNvPr id="5" name="Table 4" descr="Sales Price: $2.50 per unit; percent of sales is 100%&#10;Less variable cost: $1.00 per unit; percent of sales is 40%&#10;Contribution margin: $1.50 per unit; percent of sales (calculated at $1.50 divided by $2.50) equals 60%." title="Contribution Margin Ratio table"/>
          <p:cNvGraphicFramePr>
            <a:graphicFrameLocks noGrp="1"/>
          </p:cNvGraphicFramePr>
          <p:nvPr>
            <p:extLst>
              <p:ext uri="{D42A27DB-BD31-4B8C-83A1-F6EECF244321}">
                <p14:modId xmlns:p14="http://schemas.microsoft.com/office/powerpoint/2010/main" val="2523493859"/>
              </p:ext>
            </p:extLst>
          </p:nvPr>
        </p:nvGraphicFramePr>
        <p:xfrm>
          <a:off x="1350071" y="371721"/>
          <a:ext cx="6443858" cy="3201659"/>
        </p:xfrm>
        <a:graphic>
          <a:graphicData uri="http://schemas.openxmlformats.org/drawingml/2006/table">
            <a:tbl>
              <a:tblPr firstRow="1" bandRow="1">
                <a:solidFill>
                  <a:schemeClr val="accent1">
                    <a:lumMod val="20000"/>
                    <a:lumOff val="80000"/>
                  </a:schemeClr>
                </a:solidFill>
                <a:tableStyleId>{5940675A-B579-460E-94D1-54222C63F5DA}</a:tableStyleId>
              </a:tblPr>
              <a:tblGrid>
                <a:gridCol w="2334962">
                  <a:extLst>
                    <a:ext uri="{9D8B030D-6E8A-4147-A177-3AD203B41FA5}">
                      <a16:colId xmlns:a16="http://schemas.microsoft.com/office/drawing/2014/main" val="20000"/>
                    </a:ext>
                  </a:extLst>
                </a:gridCol>
                <a:gridCol w="1226781">
                  <a:extLst>
                    <a:ext uri="{9D8B030D-6E8A-4147-A177-3AD203B41FA5}">
                      <a16:colId xmlns:a16="http://schemas.microsoft.com/office/drawing/2014/main" val="20001"/>
                    </a:ext>
                  </a:extLst>
                </a:gridCol>
                <a:gridCol w="2882115">
                  <a:extLst>
                    <a:ext uri="{9D8B030D-6E8A-4147-A177-3AD203B41FA5}">
                      <a16:colId xmlns:a16="http://schemas.microsoft.com/office/drawing/2014/main" val="20002"/>
                    </a:ext>
                  </a:extLst>
                </a:gridCol>
              </a:tblGrid>
              <a:tr h="896303">
                <a:tc>
                  <a:txBody>
                    <a:bodyPr/>
                    <a:lstStyle/>
                    <a:p>
                      <a:pPr algn="ctr"/>
                      <a:endParaRPr lang="en-US" sz="1600" b="1" cap="all" spc="6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181683" marR="181683" marT="181683" marB="181683" anchor="ctr">
                    <a:lnL w="12700" cmpd="sng">
                      <a:noFill/>
                    </a:lnL>
                    <a:lnR w="12700" cmpd="sng">
                      <a:noFill/>
                    </a:lnR>
                    <a:lnT w="12700" cmpd="sng">
                      <a:noFill/>
                    </a:lnT>
                    <a:lnB w="38100" cmpd="sng">
                      <a:noFill/>
                    </a:lnB>
                    <a:noFill/>
                  </a:tcPr>
                </a:tc>
                <a:tc>
                  <a:txBody>
                    <a:bodyPr/>
                    <a:lstStyle/>
                    <a:p>
                      <a:pPr algn="ctr"/>
                      <a:r>
                        <a:rPr lang="en-US" sz="1600" b="1" cap="all" spc="60">
                          <a:solidFill>
                            <a:schemeClr val="tx1"/>
                          </a:solidFill>
                          <a:latin typeface="Verdana" panose="020B0604030504040204" pitchFamily="34" charset="0"/>
                          <a:ea typeface="Verdana" panose="020B0604030504040204" pitchFamily="34" charset="0"/>
                          <a:cs typeface="Verdana" panose="020B0604030504040204" pitchFamily="34" charset="0"/>
                        </a:rPr>
                        <a:t>Per Unit</a:t>
                      </a:r>
                    </a:p>
                  </a:txBody>
                  <a:tcPr marL="181683" marR="181683" marT="181683" marB="181683" anchor="ctr">
                    <a:lnL w="12700" cmpd="sng">
                      <a:noFill/>
                    </a:lnL>
                    <a:lnR w="12700" cmpd="sng">
                      <a:noFill/>
                    </a:lnR>
                    <a:lnT w="12700" cmpd="sng">
                      <a:noFill/>
                    </a:lnT>
                    <a:lnB w="38100" cmpd="sng">
                      <a:noFill/>
                    </a:lnB>
                    <a:noFill/>
                  </a:tcPr>
                </a:tc>
                <a:tc>
                  <a:txBody>
                    <a:bodyPr/>
                    <a:lstStyle/>
                    <a:p>
                      <a:pPr algn="ctr"/>
                      <a:r>
                        <a:rPr lang="en-US" sz="1600" b="1" cap="all" spc="60">
                          <a:solidFill>
                            <a:schemeClr val="tx1"/>
                          </a:solidFill>
                          <a:latin typeface="Verdana" panose="020B0604030504040204" pitchFamily="34" charset="0"/>
                          <a:ea typeface="Verdana" panose="020B0604030504040204" pitchFamily="34" charset="0"/>
                          <a:cs typeface="Verdana" panose="020B0604030504040204" pitchFamily="34" charset="0"/>
                        </a:rPr>
                        <a:t>Percent of Sales</a:t>
                      </a:r>
                    </a:p>
                  </a:txBody>
                  <a:tcPr marL="181683" marR="181683" marT="181683" marB="181683" anchor="ctr">
                    <a:lnL w="12700" cmpd="sng">
                      <a:noFill/>
                    </a:lnL>
                    <a:lnR w="12700" cmpd="sng">
                      <a:noFill/>
                    </a:lnR>
                    <a:lnT w="12700" cmpd="sng">
                      <a:noFill/>
                    </a:lnT>
                    <a:lnB w="38100" cmpd="sng">
                      <a:noFill/>
                    </a:lnB>
                    <a:noFill/>
                  </a:tcPr>
                </a:tc>
                <a:extLst>
                  <a:ext uri="{0D108BD9-81ED-4DB2-BD59-A6C34878D82A}">
                    <a16:rowId xmlns:a16="http://schemas.microsoft.com/office/drawing/2014/main" val="10000"/>
                  </a:ext>
                </a:extLst>
              </a:tr>
              <a:tr h="5531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Sales price</a:t>
                      </a:r>
                    </a:p>
                  </a:txBody>
                  <a:tcPr marL="121122" marR="121122" marT="60561" marB="121122" anchor="ctr">
                    <a:lnL w="12700" cmpd="sng">
                      <a:noFill/>
                      <a:prstDash val="solid"/>
                    </a:lnL>
                    <a:lnR w="12700" cmpd="sng">
                      <a:noFill/>
                      <a:prstDash val="solid"/>
                    </a:lnR>
                    <a:lnT w="38100" cmpd="sng">
                      <a:noFill/>
                    </a:lnT>
                    <a:lnB w="12700" cmpd="sng">
                      <a:noFill/>
                      <a:prstDash val="solid"/>
                    </a:lnB>
                    <a:noFill/>
                  </a:tcPr>
                </a:tc>
                <a:tc>
                  <a:txBody>
                    <a:bodyPr/>
                    <a:lstStyle/>
                    <a:p>
                      <a:pPr algn="r"/>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$2.50</a:t>
                      </a:r>
                    </a:p>
                  </a:txBody>
                  <a:tcPr marL="121122" marR="121122" marT="60561" marB="121122" anchor="ctr">
                    <a:lnL w="12700" cmpd="sng">
                      <a:noFill/>
                      <a:prstDash val="solid"/>
                    </a:lnL>
                    <a:lnR w="12700" cmpd="sng">
                      <a:noFill/>
                      <a:prstDash val="solid"/>
                    </a:lnR>
                    <a:lnT w="38100" cmpd="sng">
                      <a:noFill/>
                    </a:lnT>
                    <a:lnB w="12700" cmpd="sng">
                      <a:noFill/>
                      <a:prstDash val="solid"/>
                    </a:lnB>
                    <a:noFill/>
                  </a:tcPr>
                </a:tc>
                <a:tc>
                  <a:txBody>
                    <a:bodyPr/>
                    <a:lstStyle/>
                    <a:p>
                      <a:pPr algn="r"/>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100%</a:t>
                      </a:r>
                    </a:p>
                  </a:txBody>
                  <a:tcPr marL="121122" marR="121122" marT="60561" marB="121122"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0001"/>
                  </a:ext>
                </a:extLst>
              </a:tr>
              <a:tr h="876116">
                <a:tc>
                  <a:txBody>
                    <a:bodyPr/>
                    <a:lstStyle/>
                    <a:p>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Less: Variable costs</a:t>
                      </a:r>
                    </a:p>
                  </a:txBody>
                  <a:tcPr marL="121122" marR="121122" marT="60561" marB="121122"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lgn="r"/>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100" cap="none" spc="0" baseline="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1.00</a:t>
                      </a:r>
                    </a:p>
                  </a:txBody>
                  <a:tcPr marL="121122" marR="121122" marT="60561" marB="121122"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lgn="r"/>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40%</a:t>
                      </a:r>
                    </a:p>
                  </a:txBody>
                  <a:tcPr marL="121122" marR="121122" marT="60561" marB="121122"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10002"/>
                  </a:ext>
                </a:extLst>
              </a:tr>
              <a:tr h="876116">
                <a:tc>
                  <a:txBody>
                    <a:bodyPr/>
                    <a:lstStyle/>
                    <a:p>
                      <a:pPr marL="0" indent="115888"/>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Contribution margin</a:t>
                      </a:r>
                    </a:p>
                  </a:txBody>
                  <a:tcPr marL="121122" marR="121122" marT="60561" marB="121122" anchor="ctr">
                    <a:lnL w="12700" cmpd="sng">
                      <a:noFill/>
                      <a:prstDash val="solid"/>
                    </a:lnL>
                    <a:lnR w="12700" cmpd="sng">
                      <a:noFill/>
                      <a:prstDash val="solid"/>
                    </a:lnR>
                    <a:lnT w="12700" cmpd="sng">
                      <a:noFill/>
                      <a:prstDash val="solid"/>
                    </a:lnT>
                    <a:lnB w="12700" cmpd="sng">
                      <a:noFill/>
                      <a:prstDash val="solid"/>
                    </a:lnB>
                    <a:noFill/>
                  </a:tcPr>
                </a:tc>
                <a:tc>
                  <a:txBody>
                    <a:bodyPr/>
                    <a:lstStyle/>
                    <a:p>
                      <a:pPr algn="r"/>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$1.50</a:t>
                      </a:r>
                    </a:p>
                  </a:txBody>
                  <a:tcPr marL="121122" marR="121122" marT="60561" marB="121122" anchor="ctr">
                    <a:lnL w="12700" cmpd="sng">
                      <a:noFill/>
                      <a:prstDash val="solid"/>
                    </a:lnL>
                    <a:lnR w="12700" cmpd="sng">
                      <a:noFill/>
                      <a:prstDash val="solid"/>
                    </a:lnR>
                    <a:lnT w="12700" cmpd="sng">
                      <a:noFill/>
                      <a:prstDash val="solid"/>
                    </a:lnT>
                    <a:lnB w="12700" cmpd="sng">
                      <a:noFill/>
                      <a:prstDash val="solid"/>
                    </a:lnB>
                    <a:noFill/>
                  </a:tcPr>
                </a:tc>
                <a:tc>
                  <a:txBody>
                    <a:bodyPr/>
                    <a:lstStyle/>
                    <a:p>
                      <a:pPr algn="r"/>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60% ($1.50 ÷</a:t>
                      </a:r>
                      <a:r>
                        <a:rPr lang="en-US" sz="2100" cap="none" spc="0" baseline="0">
                          <a:solidFill>
                            <a:schemeClr val="tx1"/>
                          </a:solidFill>
                          <a:latin typeface="Verdana" panose="020B0604030504040204" pitchFamily="34" charset="0"/>
                          <a:ea typeface="Verdana" panose="020B0604030504040204" pitchFamily="34" charset="0"/>
                          <a:cs typeface="Verdana" panose="020B0604030504040204" pitchFamily="34" charset="0"/>
                        </a:rPr>
                        <a:t> $2.50)</a:t>
                      </a:r>
                      <a:r>
                        <a:rPr lang="en-US" sz="2100" cap="none" spc="0">
                          <a:solidFill>
                            <a:schemeClr val="tx1"/>
                          </a:solidFill>
                          <a:latin typeface="Verdana" panose="020B0604030504040204" pitchFamily="34" charset="0"/>
                          <a:ea typeface="Verdana" panose="020B0604030504040204" pitchFamily="34" charset="0"/>
                          <a:cs typeface="Verdana" panose="020B0604030504040204" pitchFamily="34" charset="0"/>
                        </a:rPr>
                        <a:t> </a:t>
                      </a:r>
                    </a:p>
                  </a:txBody>
                  <a:tcPr marL="121122" marR="121122" marT="60561" marB="12112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76152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304801"/>
            <a:ext cx="8534400" cy="990599"/>
          </a:xfrm>
        </p:spPr>
        <p:txBody>
          <a:bodyPr/>
          <a:lstStyle/>
          <a:p>
            <a:r>
              <a:rPr lang="en-US" dirty="0"/>
              <a:t>Contribution Margin Ratio Method (2 of 3)</a:t>
            </a:r>
          </a:p>
        </p:txBody>
      </p:sp>
      <p:sp>
        <p:nvSpPr>
          <p:cNvPr id="2" name="Content Placeholder 1"/>
          <p:cNvSpPr>
            <a:spLocks noGrp="1"/>
          </p:cNvSpPr>
          <p:nvPr>
            <p:ph type="body" sz="quarter" idx="10"/>
          </p:nvPr>
        </p:nvSpPr>
        <p:spPr>
          <a:xfrm>
            <a:off x="457200" y="1524000"/>
            <a:ext cx="8229600" cy="1295400"/>
          </a:xfrm>
        </p:spPr>
        <p:txBody>
          <a:bodyPr/>
          <a:lstStyle/>
          <a:p>
            <a:r>
              <a:rPr lang="en-US" sz="2400" dirty="0"/>
              <a:t>At break-even, the total contribution margin must equal total fixed costs, with nothing left over as profit. </a:t>
            </a:r>
          </a:p>
        </p:txBody>
      </p:sp>
      <p:sp>
        <p:nvSpPr>
          <p:cNvPr id="5"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mc:AlternateContent xmlns:mc="http://schemas.openxmlformats.org/markup-compatibility/2006" xmlns:a14="http://schemas.microsoft.com/office/drawing/2010/main">
        <mc:Choice Requires="a14">
          <p:sp>
            <p:nvSpPr>
              <p:cNvPr id="6" name="Text Placeholder 5"/>
              <p:cNvSpPr>
                <a:spLocks noGrp="1"/>
              </p:cNvSpPr>
              <p:nvPr>
                <p:ph type="body" sz="quarter" idx="12"/>
              </p:nvPr>
            </p:nvSpPr>
            <p:spPr>
              <a:xfrm>
                <a:off x="457200" y="2819400"/>
                <a:ext cx="8484140" cy="3657600"/>
              </a:xfrm>
            </p:spPr>
            <p: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m:rPr>
                              <m:sty m:val="p"/>
                            </m:rPr>
                            <a:rPr lang="en-US">
                              <a:latin typeface="Cambria Math" panose="02040503050406030204" pitchFamily="18" charset="0"/>
                            </a:rPr>
                            <m:t>Total</m:t>
                          </m:r>
                          <m:r>
                            <a:rPr lang="en-US">
                              <a:latin typeface="Cambria Math" panose="02040503050406030204" pitchFamily="18" charset="0"/>
                            </a:rPr>
                            <m:t> </m:t>
                          </m:r>
                          <m:r>
                            <m:rPr>
                              <m:sty m:val="p"/>
                            </m:rPr>
                            <a:rPr lang="en-US">
                              <a:latin typeface="Cambria Math" panose="02040503050406030204" pitchFamily="18" charset="0"/>
                            </a:rPr>
                            <m:t>Fixed</m:t>
                          </m:r>
                          <m:r>
                            <a:rPr lang="en-US">
                              <a:latin typeface="Cambria Math" panose="02040503050406030204" pitchFamily="18" charset="0"/>
                            </a:rPr>
                            <m:t> </m:t>
                          </m:r>
                          <m:r>
                            <m:rPr>
                              <m:sty m:val="p"/>
                            </m:rPr>
                            <a:rPr lang="en-US">
                              <a:latin typeface="Cambria Math" panose="02040503050406030204" pitchFamily="18" charset="0"/>
                            </a:rPr>
                            <m:t>Costs</m:t>
                          </m:r>
                        </m:num>
                        <m:den>
                          <m:r>
                            <m:rPr>
                              <m:sty m:val="p"/>
                            </m:rPr>
                            <a:rPr lang="en-US">
                              <a:latin typeface="Cambria Math" panose="02040503050406030204" pitchFamily="18" charset="0"/>
                            </a:rPr>
                            <m:t>Contribution</m:t>
                          </m:r>
                          <m:r>
                            <a:rPr lang="en-US">
                              <a:latin typeface="Cambria Math" panose="02040503050406030204" pitchFamily="18" charset="0"/>
                            </a:rPr>
                            <m:t> </m:t>
                          </m:r>
                          <m:r>
                            <m:rPr>
                              <m:sty m:val="p"/>
                            </m:rPr>
                            <a:rPr lang="en-US">
                              <a:latin typeface="Cambria Math" panose="02040503050406030204" pitchFamily="18" charset="0"/>
                            </a:rPr>
                            <m:t>Margin</m:t>
                          </m:r>
                          <m:r>
                            <a:rPr lang="en-US">
                              <a:latin typeface="Cambria Math" panose="02040503050406030204" pitchFamily="18" charset="0"/>
                            </a:rPr>
                            <m:t> </m:t>
                          </m:r>
                          <m:r>
                            <m:rPr>
                              <m:sty m:val="p"/>
                            </m:rPr>
                            <a:rPr lang="en-US">
                              <a:latin typeface="Cambria Math" panose="02040503050406030204" pitchFamily="18" charset="0"/>
                            </a:rPr>
                            <m:t>Ratio</m:t>
                          </m:r>
                        </m:den>
                      </m:f>
                      <m:r>
                        <a:rPr lang="en-US">
                          <a:latin typeface="Cambria Math" panose="02040503050406030204" pitchFamily="18" charset="0"/>
                        </a:rPr>
                        <m:t> = </m:t>
                      </m:r>
                      <m:r>
                        <m:rPr>
                          <m:sty m:val="p"/>
                        </m:rPr>
                        <a:rPr lang="en-US">
                          <a:latin typeface="Cambria Math" panose="02040503050406030204" pitchFamily="18" charset="0"/>
                        </a:rPr>
                        <m:t>Break</m:t>
                      </m:r>
                      <m:r>
                        <a:rPr lang="en-US" b="0" i="0" smtClean="0">
                          <a:latin typeface="Cambria Math" panose="02040503050406030204" pitchFamily="18" charset="0"/>
                        </a:rPr>
                        <m:t> </m:t>
                      </m:r>
                      <m:r>
                        <m:rPr>
                          <m:sty m:val="p"/>
                        </m:rPr>
                        <a:rPr lang="en-US" b="0" i="0" smtClean="0">
                          <a:latin typeface="Cambria Math" panose="02040503050406030204" pitchFamily="18" charset="0"/>
                        </a:rPr>
                        <m:t>even</m:t>
                      </m:r>
                      <m:r>
                        <a:rPr lang="en-US">
                          <a:latin typeface="Cambria Math" panose="02040503050406030204" pitchFamily="18" charset="0"/>
                        </a:rPr>
                        <m:t> </m:t>
                      </m:r>
                      <m:r>
                        <m:rPr>
                          <m:sty m:val="p"/>
                        </m:rPr>
                        <a:rPr lang="en-US">
                          <a:latin typeface="Cambria Math" panose="02040503050406030204" pitchFamily="18" charset="0"/>
                        </a:rPr>
                        <m:t>Sales</m:t>
                      </m:r>
                      <m:r>
                        <a:rPr lang="en-US">
                          <a:latin typeface="Cambria Math" panose="02040503050406030204" pitchFamily="18" charset="0"/>
                        </a:rPr>
                        <m:t> ($)  </m:t>
                      </m:r>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$12,000</m:t>
                          </m:r>
                        </m:num>
                        <m:den>
                          <m:r>
                            <a:rPr lang="en-US" i="1">
                              <a:latin typeface="Cambria Math" panose="02040503050406030204" pitchFamily="18" charset="0"/>
                            </a:rPr>
                            <m:t>60%</m:t>
                          </m:r>
                        </m:den>
                      </m:f>
                      <m:r>
                        <a:rPr lang="en-US">
                          <a:latin typeface="Cambria Math" panose="02040503050406030204" pitchFamily="18" charset="0"/>
                        </a:rPr>
                        <m:t> = </m:t>
                      </m:r>
                      <m:r>
                        <m:rPr>
                          <m:sty m:val="p"/>
                        </m:rPr>
                        <a:rPr lang="en-US">
                          <a:latin typeface="Cambria Math" panose="02040503050406030204" pitchFamily="18" charset="0"/>
                        </a:rPr>
                        <m:t>Break</m:t>
                      </m:r>
                      <m:r>
                        <a:rPr lang="en-US" b="0" i="0" smtClean="0">
                          <a:latin typeface="Cambria Math" panose="02040503050406030204" pitchFamily="18" charset="0"/>
                        </a:rPr>
                        <m:t> </m:t>
                      </m:r>
                      <m:r>
                        <m:rPr>
                          <m:sty m:val="p"/>
                        </m:rPr>
                        <a:rPr lang="en-US" b="0" i="0" smtClean="0">
                          <a:latin typeface="Cambria Math" panose="02040503050406030204" pitchFamily="18" charset="0"/>
                        </a:rPr>
                        <m:t>even</m:t>
                      </m:r>
                      <m:r>
                        <a:rPr lang="en-US">
                          <a:latin typeface="Cambria Math" panose="02040503050406030204" pitchFamily="18" charset="0"/>
                        </a:rPr>
                        <m:t> </m:t>
                      </m:r>
                      <m:r>
                        <m:rPr>
                          <m:sty m:val="p"/>
                        </m:rPr>
                        <a:rPr lang="en-US">
                          <a:latin typeface="Cambria Math" panose="02040503050406030204" pitchFamily="18" charset="0"/>
                        </a:rPr>
                        <m:t>Sales</m:t>
                      </m:r>
                      <m:r>
                        <a:rPr lang="en-US">
                          <a:latin typeface="Cambria Math" panose="02040503050406030204" pitchFamily="18" charset="0"/>
                        </a:rPr>
                        <m:t> ($)  </m:t>
                      </m:r>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$20,000</m:t>
                      </m:r>
                      <m:r>
                        <a:rPr lang="en-US">
                          <a:latin typeface="Cambria Math" panose="02040503050406030204" pitchFamily="18" charset="0"/>
                        </a:rPr>
                        <m:t> = </m:t>
                      </m:r>
                      <m:r>
                        <m:rPr>
                          <m:sty m:val="p"/>
                        </m:rPr>
                        <a:rPr lang="en-US">
                          <a:latin typeface="Cambria Math" panose="02040503050406030204" pitchFamily="18" charset="0"/>
                        </a:rPr>
                        <m:t>Break</m:t>
                      </m:r>
                      <m:r>
                        <a:rPr lang="en-US" b="0" i="0" smtClean="0">
                          <a:latin typeface="Cambria Math" panose="02040503050406030204" pitchFamily="18" charset="0"/>
                        </a:rPr>
                        <m:t> </m:t>
                      </m:r>
                      <m:r>
                        <m:rPr>
                          <m:sty m:val="p"/>
                        </m:rPr>
                        <a:rPr lang="en-US" b="0" i="0" smtClean="0">
                          <a:latin typeface="Cambria Math" panose="02040503050406030204" pitchFamily="18" charset="0"/>
                        </a:rPr>
                        <m:t>even</m:t>
                      </m:r>
                      <m:r>
                        <a:rPr lang="en-US">
                          <a:latin typeface="Cambria Math" panose="02040503050406030204" pitchFamily="18" charset="0"/>
                        </a:rPr>
                        <m:t> </m:t>
                      </m:r>
                      <m:r>
                        <m:rPr>
                          <m:sty m:val="p"/>
                        </m:rPr>
                        <a:rPr lang="en-US">
                          <a:latin typeface="Cambria Math" panose="02040503050406030204" pitchFamily="18" charset="0"/>
                        </a:rPr>
                        <m:t>Sales</m:t>
                      </m:r>
                      <m:r>
                        <a:rPr lang="en-US">
                          <a:latin typeface="Cambria Math" panose="02040503050406030204" pitchFamily="18" charset="0"/>
                        </a:rPr>
                        <m:t> ($)  </m:t>
                      </m:r>
                    </m:oMath>
                  </m:oMathPara>
                </a14:m>
                <a:endParaRPr lang="en-US" dirty="0"/>
              </a:p>
              <a:p>
                <a:endParaRPr lang="en-US" dirty="0"/>
              </a:p>
              <a:p>
                <a:endParaRPr lang="en-US" dirty="0"/>
              </a:p>
              <a:p>
                <a:endParaRPr lang="en-US" dirty="0"/>
              </a:p>
            </p:txBody>
          </p:sp>
        </mc:Choice>
        <mc:Fallback xmlns="">
          <p:sp>
            <p:nvSpPr>
              <p:cNvPr id="6" name="Text Placeholder 5"/>
              <p:cNvSpPr>
                <a:spLocks noGrp="1" noRot="1" noChangeAspect="1" noMove="1" noResize="1" noEditPoints="1" noAdjustHandles="1" noChangeArrowheads="1" noChangeShapeType="1" noTextEdit="1"/>
              </p:cNvSpPr>
              <p:nvPr>
                <p:ph type="body" sz="quarter" idx="11"/>
              </p:nvPr>
            </p:nvSpPr>
            <p:spPr>
              <a:xfrm>
                <a:off x="457200" y="2819400"/>
                <a:ext cx="8484140" cy="3657600"/>
              </a:xfrm>
              <a:blipFill>
                <a:blip r:embed="rId3"/>
                <a:stretch>
                  <a:fillRect t="-346"/>
                </a:stretch>
              </a:blipFill>
            </p:spPr>
            <p:txBody>
              <a:bodyPr/>
              <a:lstStyle/>
              <a:p>
                <a:r>
                  <a:rPr lang="en-CN">
                    <a:noFill/>
                  </a:rPr>
                  <a:t> </a:t>
                </a:r>
              </a:p>
            </p:txBody>
          </p:sp>
        </mc:Fallback>
      </mc:AlternateContent>
    </p:spTree>
    <p:extLst>
      <p:ext uri="{BB962C8B-B14F-4D97-AF65-F5344CB8AC3E}">
        <p14:creationId xmlns:p14="http://schemas.microsoft.com/office/powerpoint/2010/main" val="106079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228601"/>
            <a:ext cx="8534400" cy="1066800"/>
          </a:xfrm>
        </p:spPr>
        <p:txBody>
          <a:bodyPr/>
          <a:lstStyle/>
          <a:p>
            <a:r>
              <a:rPr lang="en-US" dirty="0"/>
              <a:t>Contribution Margin Ratio Method (3 of 3)</a:t>
            </a:r>
          </a:p>
        </p:txBody>
      </p:sp>
      <p:sp>
        <p:nvSpPr>
          <p:cNvPr id="2" name="Content Placeholder 1"/>
          <p:cNvSpPr>
            <a:spLocks noGrp="1"/>
          </p:cNvSpPr>
          <p:nvPr>
            <p:ph type="body" sz="quarter" idx="10"/>
          </p:nvPr>
        </p:nvSpPr>
        <p:spPr>
          <a:xfrm>
            <a:off x="533400" y="1524000"/>
            <a:ext cx="8077200" cy="533400"/>
          </a:xfrm>
        </p:spPr>
        <p:txBody>
          <a:bodyPr/>
          <a:lstStyle/>
          <a:p>
            <a:r>
              <a:rPr lang="en-US" sz="2400" dirty="0">
                <a:solidFill>
                  <a:srgbClr val="000000"/>
                </a:solidFill>
              </a:rPr>
              <a:t>Assume that the target profit was $18,000.</a:t>
            </a:r>
          </a:p>
        </p:txBody>
      </p:sp>
      <p:sp>
        <p:nvSpPr>
          <p:cNvPr id="5"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2"/>
              </p:nvPr>
            </p:nvSpPr>
            <p:spPr>
              <a:xfrm>
                <a:off x="457200" y="2209800"/>
                <a:ext cx="8153400" cy="3124200"/>
              </a:xfrm>
            </p:spPr>
            <p:txBody>
              <a:bodyPr/>
              <a:lstStyle/>
              <a:p>
                <a:pPr fontAlgn="auto">
                  <a:spcBef>
                    <a:spcPts val="0"/>
                  </a:spcBef>
                  <a:spcAft>
                    <a:spcPts val="0"/>
                  </a:spcAft>
                  <a:defRPr/>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m:rPr>
                              <m:sty m:val="p"/>
                            </m:rPr>
                            <a:rPr lang="en-US">
                              <a:latin typeface="Cambria Math" panose="02040503050406030204" pitchFamily="18" charset="0"/>
                            </a:rPr>
                            <m:t>Total</m:t>
                          </m:r>
                          <m:r>
                            <a:rPr lang="en-US">
                              <a:latin typeface="Cambria Math" panose="02040503050406030204" pitchFamily="18" charset="0"/>
                            </a:rPr>
                            <m:t> </m:t>
                          </m:r>
                          <m:r>
                            <m:rPr>
                              <m:sty m:val="p"/>
                            </m:rPr>
                            <a:rPr lang="en-US">
                              <a:latin typeface="Cambria Math" panose="02040503050406030204" pitchFamily="18" charset="0"/>
                            </a:rPr>
                            <m:t>Fixed</m:t>
                          </m:r>
                          <m:r>
                            <a:rPr lang="en-US">
                              <a:latin typeface="Cambria Math" panose="02040503050406030204" pitchFamily="18" charset="0"/>
                            </a:rPr>
                            <m:t> </m:t>
                          </m:r>
                          <m:r>
                            <m:rPr>
                              <m:sty m:val="p"/>
                            </m:rPr>
                            <a:rPr lang="en-US">
                              <a:latin typeface="Cambria Math" panose="02040503050406030204" pitchFamily="18" charset="0"/>
                            </a:rPr>
                            <m:t>Costs</m:t>
                          </m:r>
                          <m:r>
                            <a:rPr lang="en-US">
                              <a:latin typeface="Cambria Math" panose="02040503050406030204" pitchFamily="18" charset="0"/>
                            </a:rPr>
                            <m:t>+</m:t>
                          </m:r>
                          <m:r>
                            <m:rPr>
                              <m:sty m:val="p"/>
                            </m:rPr>
                            <a:rPr lang="en-US">
                              <a:latin typeface="Cambria Math" panose="02040503050406030204" pitchFamily="18" charset="0"/>
                            </a:rPr>
                            <m:t>Target</m:t>
                          </m:r>
                          <m:r>
                            <a:rPr lang="en-US">
                              <a:latin typeface="Cambria Math" panose="02040503050406030204" pitchFamily="18" charset="0"/>
                            </a:rPr>
                            <m:t> </m:t>
                          </m:r>
                          <m:r>
                            <m:rPr>
                              <m:sty m:val="p"/>
                            </m:rPr>
                            <a:rPr lang="en-US">
                              <a:latin typeface="Cambria Math" panose="02040503050406030204" pitchFamily="18" charset="0"/>
                            </a:rPr>
                            <m:t>Profit</m:t>
                          </m:r>
                        </m:num>
                        <m:den>
                          <m:r>
                            <m:rPr>
                              <m:sty m:val="p"/>
                            </m:rPr>
                            <a:rPr lang="en-US">
                              <a:latin typeface="Cambria Math" panose="02040503050406030204" pitchFamily="18" charset="0"/>
                            </a:rPr>
                            <m:t>Contribution</m:t>
                          </m:r>
                          <m:r>
                            <a:rPr lang="en-US">
                              <a:latin typeface="Cambria Math" panose="02040503050406030204" pitchFamily="18" charset="0"/>
                            </a:rPr>
                            <m:t> </m:t>
                          </m:r>
                          <m:r>
                            <m:rPr>
                              <m:sty m:val="p"/>
                            </m:rPr>
                            <a:rPr lang="en-US">
                              <a:latin typeface="Cambria Math" panose="02040503050406030204" pitchFamily="18" charset="0"/>
                            </a:rPr>
                            <m:t>Margin</m:t>
                          </m:r>
                          <m:r>
                            <a:rPr lang="en-US">
                              <a:latin typeface="Cambria Math" panose="02040503050406030204" pitchFamily="18" charset="0"/>
                            </a:rPr>
                            <m:t> </m:t>
                          </m:r>
                          <m:r>
                            <m:rPr>
                              <m:sty m:val="p"/>
                            </m:rPr>
                            <a:rPr lang="en-US">
                              <a:latin typeface="Cambria Math" panose="02040503050406030204" pitchFamily="18" charset="0"/>
                            </a:rPr>
                            <m:t>Ratio</m:t>
                          </m:r>
                          <m:r>
                            <a:rPr lang="en-US">
                              <a:latin typeface="Cambria Math" panose="02040503050406030204" pitchFamily="18" charset="0"/>
                            </a:rPr>
                            <m:t> (%)</m:t>
                          </m:r>
                        </m:den>
                      </m:f>
                      <m:r>
                        <a:rPr lang="en-US">
                          <a:latin typeface="Cambria Math" panose="02040503050406030204" pitchFamily="18" charset="0"/>
                        </a:rPr>
                        <m:t> = </m:t>
                      </m:r>
                      <m:r>
                        <m:rPr>
                          <m:sty m:val="p"/>
                        </m:rPr>
                        <a:rPr lang="en-US">
                          <a:latin typeface="Cambria Math" panose="02040503050406030204" pitchFamily="18" charset="0"/>
                        </a:rPr>
                        <m:t>Target</m:t>
                      </m:r>
                      <m:r>
                        <a:rPr lang="en-US">
                          <a:latin typeface="Cambria Math" panose="02040503050406030204" pitchFamily="18" charset="0"/>
                        </a:rPr>
                        <m:t> </m:t>
                      </m:r>
                      <m:r>
                        <m:rPr>
                          <m:sty m:val="p"/>
                        </m:rPr>
                        <a:rPr lang="en-US">
                          <a:latin typeface="Cambria Math" panose="02040503050406030204" pitchFamily="18" charset="0"/>
                        </a:rPr>
                        <m:t>Sales</m:t>
                      </m:r>
                      <m:r>
                        <a:rPr lang="en-US">
                          <a:latin typeface="Cambria Math" panose="02040503050406030204" pitchFamily="18" charset="0"/>
                        </a:rPr>
                        <m:t> </m:t>
                      </m:r>
                      <m:d>
                        <m:dPr>
                          <m:ctrlPr>
                            <a:rPr lang="en-US" i="1">
                              <a:latin typeface="Cambria Math" panose="02040503050406030204" pitchFamily="18" charset="0"/>
                            </a:rPr>
                          </m:ctrlPr>
                        </m:dPr>
                        <m:e>
                          <m:r>
                            <a:rPr lang="en-US">
                              <a:latin typeface="Cambria Math" panose="02040503050406030204" pitchFamily="18" charset="0"/>
                            </a:rPr>
                            <m:t>$</m:t>
                          </m:r>
                        </m:e>
                      </m:d>
                    </m:oMath>
                  </m:oMathPara>
                </a14:m>
                <a:endParaRPr lang="en-US" dirty="0"/>
              </a:p>
              <a:p>
                <a:pPr fontAlgn="auto">
                  <a:spcBef>
                    <a:spcPts val="0"/>
                  </a:spcBef>
                  <a:spcAft>
                    <a:spcPts val="0"/>
                  </a:spcAft>
                  <a:defRPr/>
                </a:pPr>
                <a:endParaRPr lang="en-US" dirty="0"/>
              </a:p>
              <a:p>
                <a:pPr fontAlgn="auto">
                  <a:spcBef>
                    <a:spcPts val="0"/>
                  </a:spcBef>
                  <a:spcAft>
                    <a:spcPts val="0"/>
                  </a:spcAft>
                  <a:defRPr/>
                </a:pPr>
                <a14:m>
                  <m:oMathPara xmlns:m="http://schemas.openxmlformats.org/officeDocument/2006/math">
                    <m:oMathParaPr>
                      <m:jc m:val="center"/>
                    </m:oMathParaPr>
                    <m:oMath xmlns:m="http://schemas.openxmlformats.org/officeDocument/2006/math">
                      <m:r>
                        <a:rPr lang="en-US" smtClean="0">
                          <a:latin typeface="Cambria Math" panose="02040503050406030204" pitchFamily="18" charset="0"/>
                        </a:rPr>
                        <m:t>  </m:t>
                      </m:r>
                      <m:f>
                        <m:fPr>
                          <m:ctrlPr>
                            <a:rPr lang="en-US" i="1">
                              <a:latin typeface="Cambria Math" panose="02040503050406030204" pitchFamily="18" charset="0"/>
                            </a:rPr>
                          </m:ctrlPr>
                        </m:fPr>
                        <m:num>
                          <m:r>
                            <a:rPr lang="en-US">
                              <a:latin typeface="Cambria Math" panose="02040503050406030204" pitchFamily="18" charset="0"/>
                            </a:rPr>
                            <m:t>12,000+18,000</m:t>
                          </m:r>
                        </m:num>
                        <m:den>
                          <m:r>
                            <a:rPr lang="en-US">
                              <a:latin typeface="Cambria Math" panose="02040503050406030204" pitchFamily="18" charset="0"/>
                            </a:rPr>
                            <m:t>60%</m:t>
                          </m:r>
                        </m:den>
                      </m:f>
                      <m:r>
                        <a:rPr lang="en-US">
                          <a:latin typeface="Cambria Math" panose="02040503050406030204" pitchFamily="18" charset="0"/>
                        </a:rPr>
                        <m:t> = </m:t>
                      </m:r>
                      <m:r>
                        <m:rPr>
                          <m:sty m:val="p"/>
                        </m:rPr>
                        <a:rPr lang="en-US">
                          <a:latin typeface="Cambria Math" panose="02040503050406030204" pitchFamily="18" charset="0"/>
                        </a:rPr>
                        <m:t>Target</m:t>
                      </m:r>
                      <m:r>
                        <a:rPr lang="en-US">
                          <a:latin typeface="Cambria Math" panose="02040503050406030204" pitchFamily="18" charset="0"/>
                        </a:rPr>
                        <m:t> </m:t>
                      </m:r>
                      <m:r>
                        <m:rPr>
                          <m:sty m:val="p"/>
                        </m:rPr>
                        <a:rPr lang="en-US">
                          <a:latin typeface="Cambria Math" panose="02040503050406030204" pitchFamily="18" charset="0"/>
                        </a:rPr>
                        <m:t>Sales</m:t>
                      </m:r>
                      <m:r>
                        <a:rPr lang="en-US">
                          <a:latin typeface="Cambria Math" panose="02040503050406030204" pitchFamily="18" charset="0"/>
                        </a:rPr>
                        <m:t> ($)  </m:t>
                      </m:r>
                    </m:oMath>
                  </m:oMathPara>
                </a14:m>
                <a:endParaRPr lang="en-US" dirty="0"/>
              </a:p>
              <a:p>
                <a:pPr fontAlgn="auto">
                  <a:spcBef>
                    <a:spcPts val="0"/>
                  </a:spcBef>
                  <a:spcAft>
                    <a:spcPts val="0"/>
                  </a:spcAft>
                  <a:defRPr/>
                </a:pPr>
                <a:endParaRPr lang="en-US" dirty="0"/>
              </a:p>
              <a:p>
                <a:pPr fontAlgn="auto">
                  <a:spcBef>
                    <a:spcPts val="0"/>
                  </a:spcBef>
                  <a:spcAft>
                    <a:spcPts val="0"/>
                  </a:spcAft>
                  <a:defRPr/>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$50,000 = </m:t>
                      </m:r>
                      <m:r>
                        <m:rPr>
                          <m:sty m:val="p"/>
                        </m:rPr>
                        <a:rPr lang="en-US">
                          <a:latin typeface="Cambria Math" panose="02040503050406030204" pitchFamily="18" charset="0"/>
                        </a:rPr>
                        <m:t>Target</m:t>
                      </m:r>
                      <m:r>
                        <a:rPr lang="en-US">
                          <a:latin typeface="Cambria Math" panose="02040503050406030204" pitchFamily="18" charset="0"/>
                        </a:rPr>
                        <m:t> </m:t>
                      </m:r>
                      <m:r>
                        <m:rPr>
                          <m:sty m:val="p"/>
                        </m:rPr>
                        <a:rPr lang="en-US">
                          <a:latin typeface="Cambria Math" panose="02040503050406030204" pitchFamily="18" charset="0"/>
                        </a:rPr>
                        <m:t>Sales</m:t>
                      </m:r>
                      <m:r>
                        <a:rPr lang="en-US">
                          <a:latin typeface="Cambria Math" panose="02040503050406030204" pitchFamily="18" charset="0"/>
                        </a:rPr>
                        <m:t> ($) </m:t>
                      </m:r>
                    </m:oMath>
                  </m:oMathPara>
                </a14:m>
                <a:endParaRPr lang="en-US" dirty="0"/>
              </a:p>
              <a:p>
                <a:pPr fontAlgn="auto">
                  <a:spcBef>
                    <a:spcPts val="0"/>
                  </a:spcBef>
                  <a:spcAft>
                    <a:spcPts val="0"/>
                  </a:spcAft>
                  <a:defRPr/>
                </a:pPr>
                <a:endParaRPr lang="en-US" dirty="0"/>
              </a:p>
              <a:p>
                <a:pPr fontAlgn="auto">
                  <a:spcBef>
                    <a:spcPts val="0"/>
                  </a:spcBef>
                  <a:spcAft>
                    <a:spcPts val="0"/>
                  </a:spcAft>
                  <a:defRPr/>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1"/>
              </p:nvPr>
            </p:nvSpPr>
            <p:spPr>
              <a:xfrm>
                <a:off x="457200" y="2209800"/>
                <a:ext cx="8153400" cy="3124200"/>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333041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519" name="Picture 64518" descr="Close-up of a calculator keypad">
            <a:extLst>
              <a:ext uri="{FF2B5EF4-FFF2-40B4-BE49-F238E27FC236}">
                <a16:creationId xmlns:a16="http://schemas.microsoft.com/office/drawing/2014/main" id="{3ACE6F5E-ECBC-4CE2-93AE-10DEDA41FC4E}"/>
              </a:ext>
            </a:extLst>
          </p:cNvPr>
          <p:cNvPicPr>
            <a:picLocks noChangeAspect="1"/>
          </p:cNvPicPr>
          <p:nvPr/>
        </p:nvPicPr>
        <p:blipFill rotWithShape="1">
          <a:blip r:embed="rId3">
            <a:alphaModFix amt="50000"/>
          </a:blip>
          <a:srcRect l="2516" r="9150" b="-1"/>
          <a:stretch/>
        </p:blipFill>
        <p:spPr>
          <a:xfrm>
            <a:off x="20" y="1"/>
            <a:ext cx="9143980" cy="6857999"/>
          </a:xfrm>
          <a:prstGeom prst="rect">
            <a:avLst/>
          </a:prstGeom>
        </p:spPr>
      </p:pic>
      <p:sp>
        <p:nvSpPr>
          <p:cNvPr id="64517" name="Title 5"/>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Learning Objective 6-3</a:t>
            </a:r>
          </a:p>
        </p:txBody>
      </p:sp>
      <p:sp>
        <p:nvSpPr>
          <p:cNvPr id="2" name="Content Placeholder 1"/>
          <p:cNvSpPr>
            <a:spLocks noGrp="1"/>
          </p:cNvSpPr>
          <p:nvPr>
            <p:ph idx="1"/>
          </p:nvPr>
        </p:nvSpPr>
        <p:spPr>
          <a:xfrm>
            <a:off x="1143000" y="4159404"/>
            <a:ext cx="6858000" cy="1098395"/>
          </a:xfrm>
        </p:spPr>
        <p:txBody>
          <a:bodyPr vert="horz" lIns="91440" tIns="45720" rIns="91440" bIns="45720" rtlCol="0">
            <a:normAutofit/>
          </a:bodyPr>
          <a:lstStyle/>
          <a:p>
            <a:pPr marL="0" indent="0" algn="ctr" defTabSz="914400">
              <a:spcBef>
                <a:spcPts val="1000"/>
              </a:spcBef>
              <a:buNone/>
            </a:pPr>
            <a:r>
              <a:rPr lang="en-US" sz="2400">
                <a:solidFill>
                  <a:srgbClr val="FFFFFF"/>
                </a:solidFill>
              </a:rPr>
              <a:t>Compute the margin of safety.</a:t>
            </a:r>
          </a:p>
        </p:txBody>
      </p:sp>
    </p:spTree>
    <p:extLst>
      <p:ext uri="{BB962C8B-B14F-4D97-AF65-F5344CB8AC3E}">
        <p14:creationId xmlns:p14="http://schemas.microsoft.com/office/powerpoint/2010/main" val="3327032591"/>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46" y="554152"/>
            <a:ext cx="4306641"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933804" y="1289765"/>
            <a:ext cx="2738325" cy="4270963"/>
          </a:xfrm>
        </p:spPr>
        <p:txBody>
          <a:bodyPr anchor="ctr">
            <a:normAutofit/>
          </a:bodyPr>
          <a:lstStyle/>
          <a:p>
            <a:pPr algn="ctr"/>
            <a:r>
              <a:rPr lang="en-US" sz="4900">
                <a:solidFill>
                  <a:srgbClr val="FFFFFF"/>
                </a:solidFill>
              </a:rPr>
              <a:t>Margin of Safety</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619" y="374394"/>
            <a:ext cx="128637"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581" y="1084507"/>
            <a:ext cx="118159"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2" name="Content Placeholder 1"/>
          <p:cNvSpPr>
            <a:spLocks noGrp="1"/>
          </p:cNvSpPr>
          <p:nvPr>
            <p:ph idx="1"/>
          </p:nvPr>
        </p:nvSpPr>
        <p:spPr>
          <a:xfrm>
            <a:off x="4722924" y="518400"/>
            <a:ext cx="3578706" cy="5837949"/>
          </a:xfrm>
        </p:spPr>
        <p:txBody>
          <a:bodyPr anchor="ctr">
            <a:normAutofit/>
          </a:bodyPr>
          <a:lstStyle/>
          <a:p>
            <a:pPr marL="0" indent="0">
              <a:spcBef>
                <a:spcPts val="600"/>
              </a:spcBef>
              <a:spcAft>
                <a:spcPts val="0"/>
              </a:spcAft>
              <a:buNone/>
            </a:pPr>
            <a:r>
              <a:rPr lang="en-US" sz="1700" dirty="0">
                <a:solidFill>
                  <a:schemeClr val="tx1">
                    <a:alpha val="80000"/>
                  </a:schemeClr>
                </a:solidFill>
                <a:ea typeface="ＭＳ Ｐゴシック" pitchFamily="-110" charset="-128"/>
              </a:rPr>
              <a:t>Margin of safety is the difference between actual or budgeted sales and the break-even point.</a:t>
            </a:r>
          </a:p>
          <a:p>
            <a:pPr marL="63500" indent="0">
              <a:spcBef>
                <a:spcPts val="600"/>
              </a:spcBef>
              <a:spcAft>
                <a:spcPts val="0"/>
              </a:spcAft>
              <a:buNone/>
            </a:pPr>
            <a:r>
              <a:rPr lang="en-US" sz="1700" dirty="0">
                <a:solidFill>
                  <a:schemeClr val="tx1">
                    <a:alpha val="80000"/>
                  </a:schemeClr>
                </a:solidFill>
                <a:ea typeface="ＭＳ Ｐゴシック" pitchFamily="-110" charset="-128"/>
              </a:rPr>
              <a:t>   Actual or Budgeted Sales </a:t>
            </a:r>
          </a:p>
          <a:p>
            <a:pPr marL="63500" indent="0">
              <a:spcBef>
                <a:spcPts val="600"/>
              </a:spcBef>
              <a:spcAft>
                <a:spcPts val="0"/>
              </a:spcAft>
              <a:buNone/>
            </a:pPr>
            <a:r>
              <a:rPr lang="en-US" sz="1700" dirty="0">
                <a:solidFill>
                  <a:schemeClr val="tx1">
                    <a:alpha val="80000"/>
                  </a:schemeClr>
                </a:solidFill>
                <a:ea typeface="ＭＳ Ｐゴシック" pitchFamily="-110" charset="-128"/>
              </a:rPr>
              <a:t>– Break even Sales </a:t>
            </a:r>
          </a:p>
          <a:p>
            <a:pPr marL="63500" indent="0">
              <a:spcBef>
                <a:spcPts val="600"/>
              </a:spcBef>
              <a:spcAft>
                <a:spcPts val="0"/>
              </a:spcAft>
              <a:buNone/>
            </a:pPr>
            <a:r>
              <a:rPr lang="en-US" sz="1700" dirty="0">
                <a:solidFill>
                  <a:schemeClr val="tx1">
                    <a:alpha val="80000"/>
                  </a:schemeClr>
                </a:solidFill>
                <a:ea typeface="ＭＳ Ｐゴシック" pitchFamily="-110" charset="-128"/>
              </a:rPr>
              <a:t>= Margin of Safety</a:t>
            </a:r>
            <a:endParaRPr lang="en-US" sz="17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7410" y="5751820"/>
            <a:ext cx="84319"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592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228601"/>
            <a:ext cx="8534400" cy="609599"/>
          </a:xfrm>
        </p:spPr>
        <p:txBody>
          <a:bodyPr/>
          <a:lstStyle/>
          <a:p>
            <a:r>
              <a:rPr lang="en-US" dirty="0"/>
              <a:t>Margin of Safety</a:t>
            </a:r>
          </a:p>
        </p:txBody>
      </p:sp>
      <p:sp>
        <p:nvSpPr>
          <p:cNvPr id="5" name="Text Placeholder 6"/>
          <p:cNvSpPr>
            <a:spLocks noGrp="1"/>
          </p:cNvSpPr>
          <p:nvPr>
            <p:ph type="body" sz="quarter" idx="10"/>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pic>
        <p:nvPicPr>
          <p:cNvPr id="11266" name="Picture 2" descr="Starbucks Coffee House&#10;Contribution Margin Income Statement&#10;For the Month of February&#10;15,000 Units Sold&#10;&#10;Sales revenue totals $37,500; per unit $2.50&#10;Less variable costs: total $15,000; $1.00 per unit&#10;Contribution margin: total $22,500; $1.50 per unit&#10;Less Fixed Costs: $12,000&#10;Net Operating Income: $10,500&#10;&#10;Equations Margin Safety equals $37,500 minus $20,000 equals $17,500.  A callout box points to this equation and says &quot;Recall that $20,000 was break-even sales.&quot;" title="Starbucks Contribution Margin Income Stateme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346" y="1600200"/>
            <a:ext cx="7955307" cy="472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8296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ight Triangle 75">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61" name="Title 5"/>
          <p:cNvSpPr>
            <a:spLocks noGrp="1"/>
          </p:cNvSpPr>
          <p:nvPr>
            <p:ph type="title"/>
          </p:nvPr>
        </p:nvSpPr>
        <p:spPr>
          <a:xfrm>
            <a:off x="963930" y="1008993"/>
            <a:ext cx="6923558" cy="3542045"/>
          </a:xfrm>
        </p:spPr>
        <p:txBody>
          <a:bodyPr vert="horz" lIns="91440" tIns="45720" rIns="91440" bIns="45720" rtlCol="0" anchor="b">
            <a:normAutofit/>
          </a:bodyPr>
          <a:lstStyle/>
          <a:p>
            <a:pPr defTabSz="914400"/>
            <a:r>
              <a:rPr lang="en-US" sz="9300" kern="1200">
                <a:solidFill>
                  <a:schemeClr val="tx1"/>
                </a:solidFill>
                <a:latin typeface="+mj-lt"/>
                <a:ea typeface="+mj-ea"/>
                <a:cs typeface="+mj-cs"/>
              </a:rPr>
              <a:t>Learning Objective 6-4</a:t>
            </a:r>
          </a:p>
        </p:txBody>
      </p:sp>
      <p:sp>
        <p:nvSpPr>
          <p:cNvPr id="2" name="Content Placeholder 1"/>
          <p:cNvSpPr>
            <a:spLocks noGrp="1"/>
          </p:cNvSpPr>
          <p:nvPr>
            <p:ph idx="1"/>
          </p:nvPr>
        </p:nvSpPr>
        <p:spPr>
          <a:xfrm>
            <a:off x="963930" y="4582814"/>
            <a:ext cx="5349252" cy="1312657"/>
          </a:xfrm>
        </p:spPr>
        <p:txBody>
          <a:bodyPr vert="horz" lIns="91440" tIns="45720" rIns="91440" bIns="45720" rtlCol="0" anchor="t">
            <a:normAutofit/>
          </a:bodyPr>
          <a:lstStyle/>
          <a:p>
            <a:pPr marL="0" indent="0" defTabSz="914400">
              <a:spcBef>
                <a:spcPts val="1000"/>
              </a:spcBef>
              <a:buNone/>
            </a:pPr>
            <a:r>
              <a:rPr lang="en-US" sz="2400" kern="1200">
                <a:solidFill>
                  <a:schemeClr val="tx1"/>
                </a:solidFill>
                <a:latin typeface="+mn-lt"/>
                <a:ea typeface="+mn-ea"/>
                <a:cs typeface="+mn-cs"/>
              </a:rPr>
              <a:t>Analyze how changes in prices and cost structure affect cost-volume-profit relationships.</a:t>
            </a:r>
          </a:p>
        </p:txBody>
      </p:sp>
    </p:spTree>
    <p:extLst>
      <p:ext uri="{BB962C8B-B14F-4D97-AF65-F5344CB8AC3E}">
        <p14:creationId xmlns:p14="http://schemas.microsoft.com/office/powerpoint/2010/main" val="18905095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a:xfrm>
            <a:off x="304800" y="231775"/>
            <a:ext cx="8534400" cy="682625"/>
          </a:xfrm>
        </p:spPr>
        <p:txBody>
          <a:bodyPr/>
          <a:lstStyle/>
          <a:p>
            <a:pPr eaLnBrk="1" hangingPunct="1"/>
            <a:r>
              <a:rPr lang="en-US" dirty="0"/>
              <a:t>Changing Prices</a:t>
            </a:r>
          </a:p>
        </p:txBody>
      </p:sp>
      <p:sp>
        <p:nvSpPr>
          <p:cNvPr id="4" name="Content Placeholder 3"/>
          <p:cNvSpPr>
            <a:spLocks noGrp="1"/>
          </p:cNvSpPr>
          <p:nvPr>
            <p:ph type="body" sz="quarter" idx="10"/>
          </p:nvPr>
        </p:nvSpPr>
        <p:spPr>
          <a:xfrm>
            <a:off x="457200" y="990600"/>
            <a:ext cx="8229600" cy="1219200"/>
          </a:xfrm>
        </p:spPr>
        <p:txBody>
          <a:bodyPr/>
          <a:lstStyle/>
          <a:p>
            <a:pPr marL="0" indent="0">
              <a:spcAft>
                <a:spcPts val="20000"/>
              </a:spcAft>
              <a:buNone/>
            </a:pPr>
            <a:r>
              <a:rPr lang="en-US" sz="2400" dirty="0"/>
              <a:t>Assume Starbucks’ manager is considering increasing the price of coffee to $4.00, with no effect on unit variable cost or total fixed costs. </a:t>
            </a:r>
          </a:p>
        </p:txBody>
      </p:sp>
      <p:sp>
        <p:nvSpPr>
          <p:cNvPr id="7"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sp>
        <p:nvSpPr>
          <p:cNvPr id="2" name="Content Placeholder 1"/>
          <p:cNvSpPr>
            <a:spLocks noGrp="1"/>
          </p:cNvSpPr>
          <p:nvPr>
            <p:ph type="body" sz="quarter" idx="12"/>
          </p:nvPr>
        </p:nvSpPr>
        <p:spPr>
          <a:xfrm>
            <a:off x="609600" y="4648200"/>
            <a:ext cx="7924800" cy="1752600"/>
          </a:xfrm>
        </p:spPr>
        <p:txBody>
          <a:bodyPr/>
          <a:lstStyle/>
          <a:p>
            <a:r>
              <a:rPr lang="en-US" sz="2400" dirty="0"/>
              <a:t>Notice that both the unit contribution margin and the contribution margin ratio increased as a result of the price increase.</a:t>
            </a:r>
          </a:p>
        </p:txBody>
      </p:sp>
      <p:graphicFrame>
        <p:nvGraphicFramePr>
          <p:cNvPr id="6" name="Table 5" descr="Sales price: current price per unit $2.50; current price percent 100%; Proposed price per unit $4.00; proposed percent 100%.&#10;Less variable costs: current price per unit: $1.00; current price percentage: 40%; Proposed price per unit 1.00; proposed percent 25%&#10;Contribution margin: current price $1.50; current price percentage 60%; proposed price per unit $3.00; proposed percent 75%." title="Changing Prices table"/>
          <p:cNvGraphicFramePr>
            <a:graphicFrameLocks noGrp="1"/>
          </p:cNvGraphicFramePr>
          <p:nvPr>
            <p:extLst>
              <p:ext uri="{D42A27DB-BD31-4B8C-83A1-F6EECF244321}">
                <p14:modId xmlns:p14="http://schemas.microsoft.com/office/powerpoint/2010/main" val="2400027061"/>
              </p:ext>
            </p:extLst>
          </p:nvPr>
        </p:nvGraphicFramePr>
        <p:xfrm>
          <a:off x="609600" y="2438400"/>
          <a:ext cx="7848600" cy="1844040"/>
        </p:xfrm>
        <a:graphic>
          <a:graphicData uri="http://schemas.openxmlformats.org/drawingml/2006/table">
            <a:tbl>
              <a:tblPr firstRow="1" bandRow="1">
                <a:tableStyleId>{5940675A-B579-460E-94D1-54222C63F5DA}</a:tableStyleId>
              </a:tblPr>
              <a:tblGrid>
                <a:gridCol w="2667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731520">
                <a:tc>
                  <a:txBody>
                    <a:bodyPr/>
                    <a:lstStyle/>
                    <a:p>
                      <a:pPr algn="ctr"/>
                      <a:endPar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solidFill>
                      <a:srgbClr val="000000"/>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rPr>
                        <a:t>Current Price Per Unit</a:t>
                      </a:r>
                    </a:p>
                  </a:txBody>
                  <a:tcPr anchor="ctr">
                    <a:solidFill>
                      <a:srgbClr val="000000"/>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rPr>
                        <a:t>Current Price Percent</a:t>
                      </a:r>
                    </a:p>
                  </a:txBody>
                  <a:tcPr anchor="ctr">
                    <a:solidFill>
                      <a:srgbClr val="000000"/>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rPr>
                        <a:t>Proposed</a:t>
                      </a:r>
                      <a:r>
                        <a:rPr lang="en-US" sz="1400" b="1" baseline="0" dirty="0">
                          <a:solidFill>
                            <a:schemeClr val="bg1"/>
                          </a:solidFill>
                          <a:latin typeface="Verdana" panose="020B0604030504040204" pitchFamily="34" charset="0"/>
                          <a:ea typeface="Verdana" panose="020B0604030504040204" pitchFamily="34" charset="0"/>
                          <a:cs typeface="Verdana" panose="020B0604030504040204" pitchFamily="34" charset="0"/>
                        </a:rPr>
                        <a:t> Price </a:t>
                      </a: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rPr>
                        <a:t>Per</a:t>
                      </a:r>
                      <a:r>
                        <a:rPr lang="en-US" sz="1400" b="1" baseline="0" dirty="0">
                          <a:solidFill>
                            <a:schemeClr val="bg1"/>
                          </a:solidFill>
                          <a:latin typeface="Verdana" panose="020B0604030504040204" pitchFamily="34" charset="0"/>
                          <a:ea typeface="Verdana" panose="020B0604030504040204" pitchFamily="34" charset="0"/>
                          <a:cs typeface="Verdana" panose="020B0604030504040204" pitchFamily="34" charset="0"/>
                        </a:rPr>
                        <a:t> Unit</a:t>
                      </a:r>
                      <a:endPar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solidFill>
                      <a:srgbClr val="000000"/>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rPr>
                        <a:t>Proposed Percent</a:t>
                      </a:r>
                    </a:p>
                  </a:txBody>
                  <a:tcPr anchor="ctr">
                    <a:solidFill>
                      <a:srgbClr val="000000"/>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Verdana" panose="020B0604030504040204" pitchFamily="34" charset="0"/>
                          <a:ea typeface="Verdana" panose="020B0604030504040204" pitchFamily="34" charset="0"/>
                          <a:cs typeface="Verdana" panose="020B0604030504040204" pitchFamily="34" charset="0"/>
                        </a:rPr>
                        <a:t>Sales price</a:t>
                      </a: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$2.50</a:t>
                      </a: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100%</a:t>
                      </a: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$4.00</a:t>
                      </a: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100%</a:t>
                      </a:r>
                    </a:p>
                  </a:txBody>
                  <a:tcPr anchor="ctr"/>
                </a:tc>
                <a:extLst>
                  <a:ext uri="{0D108BD9-81ED-4DB2-BD59-A6C34878D82A}">
                    <a16:rowId xmlns:a16="http://schemas.microsoft.com/office/drawing/2014/main" val="10001"/>
                  </a:ext>
                </a:extLst>
              </a:tr>
              <a:tr h="370840">
                <a:tc>
                  <a:txBody>
                    <a:bodyPr/>
                    <a:lstStyle/>
                    <a:p>
                      <a:r>
                        <a:rPr lang="en-US" sz="1400" dirty="0">
                          <a:latin typeface="Verdana" panose="020B0604030504040204" pitchFamily="34" charset="0"/>
                          <a:ea typeface="Verdana" panose="020B0604030504040204" pitchFamily="34" charset="0"/>
                          <a:cs typeface="Verdana" panose="020B0604030504040204" pitchFamily="34" charset="0"/>
                        </a:rPr>
                        <a:t>Less: Variable costs</a:t>
                      </a: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 </a:t>
                      </a:r>
                      <a:r>
                        <a:rPr lang="en-US" sz="1400" baseline="0" dirty="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1.00</a:t>
                      </a: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40%</a:t>
                      </a: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 </a:t>
                      </a:r>
                      <a:r>
                        <a:rPr lang="en-US" sz="1400" baseline="0" dirty="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1.00</a:t>
                      </a: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25%</a:t>
                      </a:r>
                    </a:p>
                  </a:txBody>
                  <a:tcPr anchor="ctr"/>
                </a:tc>
                <a:extLst>
                  <a:ext uri="{0D108BD9-81ED-4DB2-BD59-A6C34878D82A}">
                    <a16:rowId xmlns:a16="http://schemas.microsoft.com/office/drawing/2014/main" val="10002"/>
                  </a:ext>
                </a:extLst>
              </a:tr>
              <a:tr h="370840">
                <a:tc>
                  <a:txBody>
                    <a:bodyPr/>
                    <a:lstStyle/>
                    <a:p>
                      <a:pPr marL="0" indent="115888"/>
                      <a:r>
                        <a:rPr lang="en-US" sz="1400" dirty="0">
                          <a:latin typeface="Verdana" panose="020B0604030504040204" pitchFamily="34" charset="0"/>
                          <a:ea typeface="Verdana" panose="020B0604030504040204" pitchFamily="34" charset="0"/>
                          <a:cs typeface="Verdana" panose="020B0604030504040204" pitchFamily="34" charset="0"/>
                        </a:rPr>
                        <a:t>Contribution margin</a:t>
                      </a:r>
                    </a:p>
                  </a:txBody>
                  <a:tcPr anchor="ctr"/>
                </a:tc>
                <a:tc>
                  <a:txBody>
                    <a:bodyPr/>
                    <a:lstStyle/>
                    <a:p>
                      <a:pPr algn="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$1.50</a:t>
                      </a:r>
                    </a:p>
                  </a:txBody>
                  <a:tcPr anchor="ctr">
                    <a:noFill/>
                  </a:tcPr>
                </a:tc>
                <a:tc>
                  <a:txBody>
                    <a:bodyPr/>
                    <a:lstStyle/>
                    <a:p>
                      <a:pPr algn="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60%</a:t>
                      </a:r>
                    </a:p>
                  </a:txBody>
                  <a:tcPr anchor="ctr">
                    <a:noFill/>
                  </a:tcPr>
                </a:tc>
                <a:tc>
                  <a:txBody>
                    <a:bodyPr/>
                    <a:lstStyle/>
                    <a:p>
                      <a:pPr algn="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$3.00</a:t>
                      </a:r>
                    </a:p>
                  </a:txBody>
                  <a:tcPr anchor="ctr">
                    <a:noFill/>
                  </a:tcPr>
                </a:tc>
                <a:tc>
                  <a:txBody>
                    <a:bodyPr/>
                    <a:lstStyle/>
                    <a:p>
                      <a:pPr algn="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75%</a:t>
                      </a:r>
                    </a:p>
                  </a:txBody>
                  <a:tcPr anchor="c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77550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a:xfrm>
            <a:off x="304800" y="228600"/>
            <a:ext cx="8534400" cy="609599"/>
          </a:xfrm>
        </p:spPr>
        <p:txBody>
          <a:bodyPr/>
          <a:lstStyle/>
          <a:p>
            <a:pPr eaLnBrk="1" hangingPunct="1"/>
            <a:r>
              <a:rPr lang="en-US" dirty="0"/>
              <a:t>Changing Prices</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48468" y="990600"/>
                <a:ext cx="8238331" cy="5486400"/>
              </a:xfrm>
            </p:spPr>
            <p:txBody>
              <a:bodyPr>
                <a:normAutofit fontScale="85000" lnSpcReduction="10000"/>
              </a:bodyPr>
              <a:lstStyle/>
              <a:p>
                <a:pPr marL="0" indent="0">
                  <a:spcAft>
                    <a:spcPts val="500"/>
                  </a:spcAft>
                  <a:buNone/>
                </a:pPr>
                <a:r>
                  <a:rPr lang="en-US" sz="2400" dirty="0"/>
                  <a:t>What sales level will be needed at the new price to earn a target profit of $10,500?</a:t>
                </a:r>
              </a:p>
              <a:p>
                <a:pPr marL="0" indent="0">
                  <a:spcAft>
                    <a:spcPts val="500"/>
                  </a:spcAft>
                  <a:buNone/>
                </a:pPr>
                <a:endParaRPr lang="en-US" sz="2000" b="1" dirty="0"/>
              </a:p>
              <a:p>
                <a:pPr marL="0" indent="0">
                  <a:spcAft>
                    <a:spcPts val="500"/>
                  </a:spcAft>
                  <a:buNone/>
                </a:pPr>
                <a:r>
                  <a:rPr lang="en-US" sz="2000" b="1" dirty="0"/>
                  <a:t>Contribution Margin Ratio Method:</a:t>
                </a:r>
              </a:p>
              <a:p>
                <a:pPr marL="0" indent="0">
                  <a:spcAft>
                    <a:spcPts val="500"/>
                  </a:spcAft>
                  <a:buNone/>
                </a:pPr>
                <a:endParaRPr lang="en-US" sz="2000" b="1" dirty="0"/>
              </a:p>
              <a:p>
                <a:pPr marL="0" indent="0">
                  <a:spcAft>
                    <a:spcPts val="500"/>
                  </a:spcAft>
                  <a:buNone/>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m:rPr>
                              <m:sty m:val="p"/>
                            </m:rPr>
                            <a:rPr lang="en-US" sz="2400">
                              <a:latin typeface="Cambria Math" panose="02040503050406030204" pitchFamily="18" charset="0"/>
                            </a:rPr>
                            <m:t>Total</m:t>
                          </m:r>
                          <m:r>
                            <a:rPr lang="en-US" sz="2400">
                              <a:latin typeface="Cambria Math" panose="02040503050406030204" pitchFamily="18" charset="0"/>
                            </a:rPr>
                            <m:t> </m:t>
                          </m:r>
                          <m:r>
                            <m:rPr>
                              <m:sty m:val="p"/>
                            </m:rPr>
                            <a:rPr lang="en-US" sz="2400">
                              <a:latin typeface="Cambria Math" panose="02040503050406030204" pitchFamily="18" charset="0"/>
                            </a:rPr>
                            <m:t>Fixed</m:t>
                          </m:r>
                          <m:r>
                            <a:rPr lang="en-US" sz="2400">
                              <a:latin typeface="Cambria Math" panose="02040503050406030204" pitchFamily="18" charset="0"/>
                            </a:rPr>
                            <m:t> </m:t>
                          </m:r>
                          <m:r>
                            <m:rPr>
                              <m:sty m:val="p"/>
                            </m:rPr>
                            <a:rPr lang="en-US" sz="2400">
                              <a:latin typeface="Cambria Math" panose="02040503050406030204" pitchFamily="18" charset="0"/>
                            </a:rPr>
                            <m:t>Costs</m:t>
                          </m:r>
                          <m:r>
                            <a:rPr lang="en-US" sz="2400">
                              <a:latin typeface="Cambria Math" panose="02040503050406030204" pitchFamily="18" charset="0"/>
                            </a:rPr>
                            <m:t>+</m:t>
                          </m:r>
                          <m:r>
                            <m:rPr>
                              <m:sty m:val="p"/>
                            </m:rPr>
                            <a:rPr lang="en-US" sz="2400">
                              <a:latin typeface="Cambria Math" panose="02040503050406030204" pitchFamily="18" charset="0"/>
                            </a:rPr>
                            <m:t>Target</m:t>
                          </m:r>
                          <m:r>
                            <a:rPr lang="en-US" sz="2400">
                              <a:latin typeface="Cambria Math" panose="02040503050406030204" pitchFamily="18" charset="0"/>
                            </a:rPr>
                            <m:t> </m:t>
                          </m:r>
                          <m:r>
                            <m:rPr>
                              <m:sty m:val="p"/>
                            </m:rPr>
                            <a:rPr lang="en-US" sz="2400">
                              <a:latin typeface="Cambria Math" panose="02040503050406030204" pitchFamily="18" charset="0"/>
                            </a:rPr>
                            <m:t>Profit</m:t>
                          </m:r>
                        </m:num>
                        <m:den>
                          <m:r>
                            <m:rPr>
                              <m:sty m:val="p"/>
                            </m:rPr>
                            <a:rPr lang="en-US" sz="2400">
                              <a:latin typeface="Cambria Math" panose="02040503050406030204" pitchFamily="18" charset="0"/>
                            </a:rPr>
                            <m:t>Contribution</m:t>
                          </m:r>
                          <m:r>
                            <a:rPr lang="en-US" sz="2400">
                              <a:latin typeface="Cambria Math" panose="02040503050406030204" pitchFamily="18" charset="0"/>
                            </a:rPr>
                            <m:t> </m:t>
                          </m:r>
                          <m:r>
                            <m:rPr>
                              <m:sty m:val="p"/>
                            </m:rPr>
                            <a:rPr lang="en-US" sz="2400">
                              <a:latin typeface="Cambria Math" panose="02040503050406030204" pitchFamily="18" charset="0"/>
                            </a:rPr>
                            <m:t>Margin</m:t>
                          </m:r>
                          <m:r>
                            <a:rPr lang="en-US" sz="2400">
                              <a:latin typeface="Cambria Math" panose="02040503050406030204" pitchFamily="18" charset="0"/>
                            </a:rPr>
                            <m:t> </m:t>
                          </m:r>
                          <m:r>
                            <m:rPr>
                              <m:sty m:val="p"/>
                            </m:rPr>
                            <a:rPr lang="en-US" sz="2400">
                              <a:latin typeface="Cambria Math" panose="02040503050406030204" pitchFamily="18" charset="0"/>
                            </a:rPr>
                            <m:t>Ratio</m:t>
                          </m:r>
                          <m:r>
                            <a:rPr lang="en-US" sz="2400">
                              <a:latin typeface="Cambria Math" panose="02040503050406030204" pitchFamily="18" charset="0"/>
                            </a:rPr>
                            <m:t> (%)</m:t>
                          </m:r>
                        </m:den>
                      </m:f>
                      <m:r>
                        <a:rPr lang="en-US" sz="2400">
                          <a:latin typeface="Cambria Math" panose="02040503050406030204" pitchFamily="18" charset="0"/>
                        </a:rPr>
                        <m:t> = </m:t>
                      </m:r>
                      <m:r>
                        <m:rPr>
                          <m:sty m:val="p"/>
                        </m:rPr>
                        <a:rPr lang="en-US" sz="2400">
                          <a:latin typeface="Cambria Math" panose="02040503050406030204" pitchFamily="18" charset="0"/>
                        </a:rPr>
                        <m:t>Target</m:t>
                      </m:r>
                      <m:r>
                        <a:rPr lang="en-US" sz="2400">
                          <a:latin typeface="Cambria Math" panose="02040503050406030204" pitchFamily="18" charset="0"/>
                        </a:rPr>
                        <m:t> </m:t>
                      </m:r>
                      <m:r>
                        <m:rPr>
                          <m:sty m:val="p"/>
                        </m:rPr>
                        <a:rPr lang="en-US" sz="2400">
                          <a:latin typeface="Cambria Math" panose="02040503050406030204" pitchFamily="18" charset="0"/>
                        </a:rPr>
                        <m:t>Sales</m:t>
                      </m:r>
                      <m:r>
                        <a:rPr lang="en-US" sz="2400">
                          <a:latin typeface="Cambria Math" panose="02040503050406030204" pitchFamily="18" charset="0"/>
                        </a:rPr>
                        <m:t> </m:t>
                      </m:r>
                      <m:d>
                        <m:dPr>
                          <m:ctrlPr>
                            <a:rPr lang="en-US" sz="2400" i="1">
                              <a:latin typeface="Cambria Math" panose="02040503050406030204" pitchFamily="18" charset="0"/>
                            </a:rPr>
                          </m:ctrlPr>
                        </m:dPr>
                        <m:e>
                          <m:r>
                            <a:rPr lang="en-US" sz="2400">
                              <a:latin typeface="Cambria Math" panose="02040503050406030204" pitchFamily="18" charset="0"/>
                            </a:rPr>
                            <m:t>$</m:t>
                          </m:r>
                        </m:e>
                      </m:d>
                    </m:oMath>
                  </m:oMathPara>
                </a14:m>
                <a:endParaRPr lang="en-US" sz="2400" dirty="0"/>
              </a:p>
              <a:p>
                <a:pPr marL="0" indent="0">
                  <a:spcAft>
                    <a:spcPts val="500"/>
                  </a:spcAft>
                  <a:buNone/>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12,000+</m:t>
                          </m:r>
                          <m:r>
                            <a:rPr lang="en-US" sz="2400" b="0" i="0" smtClean="0">
                              <a:latin typeface="Cambria Math" panose="02040503050406030204" pitchFamily="18" charset="0"/>
                            </a:rPr>
                            <m:t>10,5</m:t>
                          </m:r>
                          <m:r>
                            <a:rPr lang="en-US" sz="2400">
                              <a:latin typeface="Cambria Math" panose="02040503050406030204" pitchFamily="18" charset="0"/>
                            </a:rPr>
                            <m:t>00</m:t>
                          </m:r>
                        </m:num>
                        <m:den>
                          <m:r>
                            <a:rPr lang="en-US" sz="2400" b="0" i="0" smtClean="0">
                              <a:latin typeface="Cambria Math" panose="02040503050406030204" pitchFamily="18" charset="0"/>
                            </a:rPr>
                            <m:t>75</m:t>
                          </m:r>
                          <m:r>
                            <a:rPr lang="en-US" sz="2400">
                              <a:latin typeface="Cambria Math" panose="02040503050406030204" pitchFamily="18" charset="0"/>
                            </a:rPr>
                            <m:t>%</m:t>
                          </m:r>
                        </m:den>
                      </m:f>
                      <m:r>
                        <a:rPr lang="en-US" sz="2400">
                          <a:latin typeface="Cambria Math" panose="02040503050406030204" pitchFamily="18" charset="0"/>
                        </a:rPr>
                        <m:t> =</m:t>
                      </m:r>
                      <m:r>
                        <a:rPr lang="en-US" sz="2400" b="0" i="0" smtClean="0">
                          <a:latin typeface="Cambria Math" panose="02040503050406030204" pitchFamily="18" charset="0"/>
                        </a:rPr>
                        <m:t>$30,000</m:t>
                      </m:r>
                    </m:oMath>
                  </m:oMathPara>
                </a14:m>
                <a:endParaRPr lang="en-US" sz="2400" dirty="0"/>
              </a:p>
              <a:p>
                <a:pPr marL="0" indent="0">
                  <a:spcAft>
                    <a:spcPts val="500"/>
                  </a:spcAft>
                  <a:buNone/>
                </a:pPr>
                <a:endParaRPr lang="en-US" sz="2000" b="1" dirty="0"/>
              </a:p>
              <a:p>
                <a:pPr marL="0" indent="0">
                  <a:spcAft>
                    <a:spcPts val="500"/>
                  </a:spcAft>
                  <a:buNone/>
                </a:pPr>
                <a:r>
                  <a:rPr lang="en-US" sz="2000" b="1" dirty="0"/>
                  <a:t>Unit Contribution Margin Method:</a:t>
                </a:r>
              </a:p>
              <a:p>
                <a:pPr marL="0" indent="0">
                  <a:spcAft>
                    <a:spcPts val="500"/>
                  </a:spcAft>
                  <a:buNone/>
                </a:pPr>
                <a:endParaRPr lang="en-US" sz="2000" b="1" dirty="0"/>
              </a:p>
              <a:p>
                <a:pPr marL="0" indent="0">
                  <a:spcAft>
                    <a:spcPts val="500"/>
                  </a:spcAft>
                  <a:buNone/>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m:rPr>
                              <m:sty m:val="p"/>
                            </m:rPr>
                            <a:rPr lang="en-US" sz="2400">
                              <a:latin typeface="Cambria Math" panose="02040503050406030204" pitchFamily="18" charset="0"/>
                            </a:rPr>
                            <m:t>Total</m:t>
                          </m:r>
                          <m:r>
                            <a:rPr lang="en-US" sz="2400">
                              <a:latin typeface="Cambria Math" panose="02040503050406030204" pitchFamily="18" charset="0"/>
                            </a:rPr>
                            <m:t> </m:t>
                          </m:r>
                          <m:r>
                            <m:rPr>
                              <m:sty m:val="p"/>
                            </m:rPr>
                            <a:rPr lang="en-US" sz="2400">
                              <a:latin typeface="Cambria Math" panose="02040503050406030204" pitchFamily="18" charset="0"/>
                            </a:rPr>
                            <m:t>Fixed</m:t>
                          </m:r>
                          <m:r>
                            <a:rPr lang="en-US" sz="2400">
                              <a:latin typeface="Cambria Math" panose="02040503050406030204" pitchFamily="18" charset="0"/>
                            </a:rPr>
                            <m:t> </m:t>
                          </m:r>
                          <m:r>
                            <m:rPr>
                              <m:sty m:val="p"/>
                            </m:rPr>
                            <a:rPr lang="en-US" sz="2400">
                              <a:latin typeface="Cambria Math" panose="02040503050406030204" pitchFamily="18" charset="0"/>
                            </a:rPr>
                            <m:t>Costs</m:t>
                          </m:r>
                          <m:r>
                            <a:rPr lang="en-US" sz="2400">
                              <a:latin typeface="Cambria Math" panose="02040503050406030204" pitchFamily="18" charset="0"/>
                            </a:rPr>
                            <m:t>+</m:t>
                          </m:r>
                          <m:r>
                            <m:rPr>
                              <m:sty m:val="p"/>
                            </m:rPr>
                            <a:rPr lang="en-US" sz="2400">
                              <a:latin typeface="Cambria Math" panose="02040503050406030204" pitchFamily="18" charset="0"/>
                            </a:rPr>
                            <m:t>Target</m:t>
                          </m:r>
                          <m:r>
                            <a:rPr lang="en-US" sz="2400">
                              <a:latin typeface="Cambria Math" panose="02040503050406030204" pitchFamily="18" charset="0"/>
                            </a:rPr>
                            <m:t> </m:t>
                          </m:r>
                          <m:r>
                            <m:rPr>
                              <m:sty m:val="p"/>
                            </m:rPr>
                            <a:rPr lang="en-US" sz="2400">
                              <a:latin typeface="Cambria Math" panose="02040503050406030204" pitchFamily="18" charset="0"/>
                            </a:rPr>
                            <m:t>Profit</m:t>
                          </m:r>
                        </m:num>
                        <m:den>
                          <m:r>
                            <m:rPr>
                              <m:sty m:val="p"/>
                            </m:rPr>
                            <a:rPr lang="en-US" sz="2400" b="0" i="0" smtClean="0">
                              <a:latin typeface="Cambria Math" panose="02040503050406030204" pitchFamily="18" charset="0"/>
                            </a:rPr>
                            <m:t>Unit</m:t>
                          </m:r>
                          <m:r>
                            <a:rPr lang="en-US" sz="2400" b="0" i="0" smtClean="0">
                              <a:latin typeface="Cambria Math" panose="02040503050406030204" pitchFamily="18" charset="0"/>
                            </a:rPr>
                            <m:t> </m:t>
                          </m:r>
                          <m:r>
                            <m:rPr>
                              <m:sty m:val="p"/>
                            </m:rPr>
                            <a:rPr lang="en-US" sz="2400">
                              <a:latin typeface="Cambria Math" panose="02040503050406030204" pitchFamily="18" charset="0"/>
                            </a:rPr>
                            <m:t>Contribution</m:t>
                          </m:r>
                          <m:r>
                            <a:rPr lang="en-US" sz="2400">
                              <a:latin typeface="Cambria Math" panose="02040503050406030204" pitchFamily="18" charset="0"/>
                            </a:rPr>
                            <m:t> </m:t>
                          </m:r>
                          <m:r>
                            <m:rPr>
                              <m:sty m:val="p"/>
                            </m:rPr>
                            <a:rPr lang="en-US" sz="2400">
                              <a:latin typeface="Cambria Math" panose="02040503050406030204" pitchFamily="18" charset="0"/>
                            </a:rPr>
                            <m:t>Margin</m:t>
                          </m:r>
                          <m:r>
                            <a:rPr lang="en-US" sz="2400">
                              <a:latin typeface="Cambria Math" panose="02040503050406030204" pitchFamily="18" charset="0"/>
                            </a:rPr>
                            <m:t> </m:t>
                          </m:r>
                        </m:den>
                      </m:f>
                      <m:r>
                        <a:rPr lang="en-US" sz="2400">
                          <a:latin typeface="Cambria Math" panose="02040503050406030204" pitchFamily="18" charset="0"/>
                        </a:rPr>
                        <m:t> = </m:t>
                      </m:r>
                      <m:r>
                        <m:rPr>
                          <m:sty m:val="p"/>
                        </m:rPr>
                        <a:rPr lang="en-US" sz="2400">
                          <a:latin typeface="Cambria Math" panose="02040503050406030204" pitchFamily="18" charset="0"/>
                        </a:rPr>
                        <m:t>Target</m:t>
                      </m:r>
                      <m:r>
                        <a:rPr lang="en-US" sz="2400">
                          <a:latin typeface="Cambria Math" panose="02040503050406030204" pitchFamily="18" charset="0"/>
                        </a:rPr>
                        <m:t> </m:t>
                      </m:r>
                      <m:r>
                        <m:rPr>
                          <m:sty m:val="p"/>
                        </m:rPr>
                        <a:rPr lang="en-US" sz="2400" b="0" i="0" smtClean="0">
                          <a:latin typeface="Cambria Math" panose="02040503050406030204" pitchFamily="18" charset="0"/>
                        </a:rPr>
                        <m:t>Units</m:t>
                      </m:r>
                      <m:r>
                        <a:rPr lang="en-US" sz="2400">
                          <a:latin typeface="Cambria Math" panose="02040503050406030204" pitchFamily="18" charset="0"/>
                        </a:rPr>
                        <m:t> </m:t>
                      </m:r>
                      <m:d>
                        <m:dPr>
                          <m:ctrlPr>
                            <a:rPr lang="en-US" sz="2400" i="1">
                              <a:latin typeface="Cambria Math" panose="02040503050406030204" pitchFamily="18" charset="0"/>
                            </a:rPr>
                          </m:ctrlPr>
                        </m:dPr>
                        <m:e>
                          <m:r>
                            <m:rPr>
                              <m:sty m:val="p"/>
                            </m:rPr>
                            <a:rPr lang="en-US" sz="2400" b="0" i="0" smtClean="0">
                              <a:latin typeface="Cambria Math" panose="02040503050406030204" pitchFamily="18" charset="0"/>
                            </a:rPr>
                            <m:t>Q</m:t>
                          </m:r>
                        </m:e>
                      </m:d>
                    </m:oMath>
                  </m:oMathPara>
                </a14:m>
                <a:endParaRPr lang="en-US" sz="2400" dirty="0"/>
              </a:p>
              <a:p>
                <a:pPr marL="0" indent="0">
                  <a:spcAft>
                    <a:spcPts val="500"/>
                  </a:spcAft>
                  <a:buNone/>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12,000+10,500</m:t>
                          </m:r>
                        </m:num>
                        <m:den>
                          <m:r>
                            <a:rPr lang="en-US" sz="2400" b="0" i="0" smtClean="0">
                              <a:latin typeface="Cambria Math" panose="02040503050406030204" pitchFamily="18" charset="0"/>
                            </a:rPr>
                            <m:t>$3.00</m:t>
                          </m:r>
                        </m:den>
                      </m:f>
                      <m:r>
                        <a:rPr lang="en-US" sz="2400">
                          <a:latin typeface="Cambria Math" panose="02040503050406030204" pitchFamily="18" charset="0"/>
                        </a:rPr>
                        <m:t> =</m:t>
                      </m:r>
                      <m:r>
                        <a:rPr lang="en-US" sz="2400" b="0" i="0" smtClean="0">
                          <a:latin typeface="Cambria Math" panose="02040503050406030204" pitchFamily="18" charset="0"/>
                        </a:rPr>
                        <m:t>7,500 </m:t>
                      </m:r>
                      <m:r>
                        <m:rPr>
                          <m:sty m:val="p"/>
                        </m:rPr>
                        <a:rPr lang="en-US" sz="2400" b="0" i="0" smtClean="0">
                          <a:latin typeface="Cambria Math" panose="02040503050406030204" pitchFamily="18" charset="0"/>
                        </a:rPr>
                        <m:t>Units</m:t>
                      </m:r>
                    </m:oMath>
                  </m:oMathPara>
                </a14:m>
                <a:endParaRPr lang="en-US" sz="24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48468" y="990600"/>
                <a:ext cx="8238331" cy="5486400"/>
              </a:xfrm>
              <a:blipFill>
                <a:blip r:embed="rId3"/>
                <a:stretch>
                  <a:fillRect l="-770" t="-1848"/>
                </a:stretch>
              </a:blipFill>
            </p:spPr>
            <p:txBody>
              <a:bodyPr/>
              <a:lstStyle/>
              <a:p>
                <a:r>
                  <a:rPr lang="en-CN">
                    <a:noFill/>
                  </a:rPr>
                  <a:t> </a:t>
                </a:r>
              </a:p>
            </p:txBody>
          </p:sp>
        </mc:Fallback>
      </mc:AlternateContent>
    </p:spTree>
    <p:extLst>
      <p:ext uri="{BB962C8B-B14F-4D97-AF65-F5344CB8AC3E}">
        <p14:creationId xmlns:p14="http://schemas.microsoft.com/office/powerpoint/2010/main" val="2946673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p:cNvSpPr>
            <a:spLocks noGrp="1"/>
          </p:cNvSpPr>
          <p:nvPr>
            <p:ph type="title"/>
          </p:nvPr>
        </p:nvSpPr>
        <p:spPr>
          <a:xfrm>
            <a:off x="304800" y="228600"/>
            <a:ext cx="8534400" cy="1143000"/>
          </a:xfrm>
        </p:spPr>
        <p:txBody>
          <a:bodyPr/>
          <a:lstStyle/>
          <a:p>
            <a:pPr eaLnBrk="1" hangingPunct="1"/>
            <a:r>
              <a:rPr lang="en-US" dirty="0"/>
              <a:t>Changing Variable Costs and Volume</a:t>
            </a:r>
          </a:p>
        </p:txBody>
      </p:sp>
      <p:sp>
        <p:nvSpPr>
          <p:cNvPr id="2" name="Content Placeholder 1"/>
          <p:cNvSpPr>
            <a:spLocks noGrp="1"/>
          </p:cNvSpPr>
          <p:nvPr>
            <p:ph idx="1"/>
          </p:nvPr>
        </p:nvSpPr>
        <p:spPr>
          <a:xfrm>
            <a:off x="448468" y="1600200"/>
            <a:ext cx="8238331" cy="4648200"/>
          </a:xfrm>
          <a:effectLst/>
        </p:spPr>
        <p:txBody>
          <a:bodyPr/>
          <a:lstStyle/>
          <a:p>
            <a:pPr marL="0" indent="0" fontAlgn="auto">
              <a:spcBef>
                <a:spcPts val="0"/>
              </a:spcBef>
              <a:spcAft>
                <a:spcPts val="1000"/>
              </a:spcAft>
              <a:buNone/>
              <a:defRPr/>
            </a:pPr>
            <a:r>
              <a:rPr lang="en-US" sz="2400" dirty="0"/>
              <a:t>Assume Starbucks’ manager is trying to increase profit to $16,800 per month. He plans to purchase higher quality coffee beans which will raise variable costs by $0.25 per unit and is expected to increase sales volume by 20%.</a:t>
            </a:r>
          </a:p>
          <a:p>
            <a:pPr marL="0" indent="0" fontAlgn="auto">
              <a:spcBef>
                <a:spcPts val="0"/>
              </a:spcBef>
              <a:spcAft>
                <a:spcPts val="1000"/>
              </a:spcAft>
              <a:buNone/>
              <a:defRPr/>
            </a:pPr>
            <a:r>
              <a:rPr lang="en-US" sz="2400" dirty="0"/>
              <a:t>What unit sales price would be needed to earn the target profit of $16,800?</a:t>
            </a:r>
          </a:p>
          <a:p>
            <a:pPr marL="0" indent="0" fontAlgn="auto">
              <a:spcBef>
                <a:spcPts val="0"/>
              </a:spcBef>
              <a:spcAft>
                <a:spcPts val="1000"/>
              </a:spcAft>
              <a:buNone/>
              <a:defRPr/>
            </a:pPr>
            <a:r>
              <a:rPr lang="en-US" sz="2400" dirty="0"/>
              <a:t>New Unit Variable Cost: $1.25 ($1.00 + $0.25)</a:t>
            </a:r>
          </a:p>
          <a:p>
            <a:pPr marL="0" indent="0" fontAlgn="auto">
              <a:spcBef>
                <a:spcPts val="0"/>
              </a:spcBef>
              <a:spcAft>
                <a:spcPts val="1000"/>
              </a:spcAft>
              <a:buNone/>
              <a:defRPr/>
            </a:pPr>
            <a:r>
              <a:rPr lang="en-US" sz="2400" dirty="0"/>
              <a:t>New Sales Volume: 18,000 units (15,000 × 120%)</a:t>
            </a:r>
          </a:p>
        </p:txBody>
      </p:sp>
    </p:spTree>
    <p:extLst>
      <p:ext uri="{BB962C8B-B14F-4D97-AF65-F5344CB8AC3E}">
        <p14:creationId xmlns:p14="http://schemas.microsoft.com/office/powerpoint/2010/main" val="346210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a:xfrm>
            <a:off x="304800" y="228600"/>
            <a:ext cx="8534400" cy="1143000"/>
          </a:xfrm>
        </p:spPr>
        <p:txBody>
          <a:bodyPr/>
          <a:lstStyle/>
          <a:p>
            <a:pPr eaLnBrk="1" hangingPunct="1"/>
            <a:r>
              <a:rPr lang="en-US" dirty="0"/>
              <a:t>Changing Variable Costs and Volume</a:t>
            </a:r>
          </a:p>
        </p:txBody>
      </p:sp>
      <p:sp>
        <p:nvSpPr>
          <p:cNvPr id="2" name="Content Placeholder 1"/>
          <p:cNvSpPr>
            <a:spLocks noGrp="1"/>
          </p:cNvSpPr>
          <p:nvPr>
            <p:ph idx="1"/>
          </p:nvPr>
        </p:nvSpPr>
        <p:spPr>
          <a:xfrm>
            <a:off x="381001" y="1545903"/>
            <a:ext cx="8305800" cy="4702497"/>
          </a:xfrm>
        </p:spPr>
        <p:txBody>
          <a:bodyPr/>
          <a:lstStyle/>
          <a:p>
            <a:pPr marL="0" indent="0">
              <a:spcBef>
                <a:spcPts val="600"/>
              </a:spcBef>
              <a:spcAft>
                <a:spcPts val="0"/>
              </a:spcAft>
              <a:buNone/>
            </a:pPr>
            <a:r>
              <a:rPr lang="en-US" sz="2200" b="1" dirty="0"/>
              <a:t>Profit Equation Method</a:t>
            </a:r>
          </a:p>
          <a:p>
            <a:pPr marL="0" indent="0">
              <a:spcBef>
                <a:spcPts val="600"/>
              </a:spcBef>
              <a:spcAft>
                <a:spcPts val="0"/>
              </a:spcAft>
              <a:buNone/>
            </a:pPr>
            <a:r>
              <a:rPr lang="en-US" sz="2200" dirty="0"/>
              <a:t>(Unit Price × Q) – (Unit VC × Q) – Total FC = Profit</a:t>
            </a:r>
          </a:p>
          <a:p>
            <a:pPr marL="0" indent="0">
              <a:spcBef>
                <a:spcPts val="600"/>
              </a:spcBef>
              <a:spcAft>
                <a:spcPts val="0"/>
              </a:spcAft>
              <a:buNone/>
            </a:pPr>
            <a:r>
              <a:rPr lang="en-US" sz="2200" dirty="0"/>
              <a:t>   (Unit Price × 18,000) </a:t>
            </a:r>
          </a:p>
          <a:p>
            <a:pPr marL="0" indent="0">
              <a:spcBef>
                <a:spcPts val="600"/>
              </a:spcBef>
              <a:spcAft>
                <a:spcPts val="0"/>
              </a:spcAft>
              <a:buNone/>
            </a:pPr>
            <a:r>
              <a:rPr lang="en-US" sz="2200" dirty="0"/>
              <a:t>– ($1.25 × 18,000) </a:t>
            </a:r>
          </a:p>
          <a:p>
            <a:pPr marL="0" indent="0">
              <a:spcBef>
                <a:spcPts val="600"/>
              </a:spcBef>
              <a:spcAft>
                <a:spcPts val="0"/>
              </a:spcAft>
              <a:buNone/>
            </a:pPr>
            <a:r>
              <a:rPr lang="en-US" sz="2200" dirty="0"/>
              <a:t>– $12,000 </a:t>
            </a:r>
          </a:p>
          <a:p>
            <a:pPr marL="0" indent="0">
              <a:spcBef>
                <a:spcPts val="600"/>
              </a:spcBef>
              <a:spcAft>
                <a:spcPts val="0"/>
              </a:spcAft>
              <a:buNone/>
            </a:pPr>
            <a:r>
              <a:rPr lang="en-US" sz="2200" dirty="0"/>
              <a:t>= $16,800</a:t>
            </a:r>
          </a:p>
          <a:p>
            <a:pPr marL="0" indent="0">
              <a:spcBef>
                <a:spcPts val="600"/>
              </a:spcBef>
              <a:spcAft>
                <a:spcPts val="0"/>
              </a:spcAft>
              <a:buNone/>
            </a:pPr>
            <a:r>
              <a:rPr lang="en-US" sz="2200" dirty="0"/>
              <a:t>(Unit Price × 18,000) – $22,500 – $12,000 = $16,800</a:t>
            </a:r>
          </a:p>
          <a:p>
            <a:pPr marL="0" indent="0">
              <a:spcBef>
                <a:spcPts val="600"/>
              </a:spcBef>
              <a:spcAft>
                <a:spcPts val="0"/>
              </a:spcAft>
              <a:buNone/>
            </a:pPr>
            <a:r>
              <a:rPr lang="en-US" sz="2200" dirty="0"/>
              <a:t>(Unit Price × 18,000) = $16,800 + $22,500 + $12,000</a:t>
            </a:r>
          </a:p>
          <a:p>
            <a:pPr marL="0" indent="0">
              <a:spcBef>
                <a:spcPts val="600"/>
              </a:spcBef>
              <a:spcAft>
                <a:spcPts val="0"/>
              </a:spcAft>
              <a:buNone/>
            </a:pPr>
            <a:r>
              <a:rPr lang="en-US" sz="2200" dirty="0"/>
              <a:t>(Unit Price × 18,000) = $51,300</a:t>
            </a:r>
          </a:p>
          <a:p>
            <a:pPr marL="0" indent="0">
              <a:spcBef>
                <a:spcPts val="600"/>
              </a:spcBef>
              <a:spcAft>
                <a:spcPts val="0"/>
              </a:spcAft>
              <a:buNone/>
            </a:pPr>
            <a:r>
              <a:rPr lang="en-US" sz="2200" dirty="0"/>
              <a:t>Unit Price = $51,300 ÷ 18,000</a:t>
            </a:r>
          </a:p>
          <a:p>
            <a:pPr marL="0" indent="0">
              <a:spcBef>
                <a:spcPts val="600"/>
              </a:spcBef>
              <a:spcAft>
                <a:spcPts val="0"/>
              </a:spcAft>
              <a:buNone/>
            </a:pPr>
            <a:r>
              <a:rPr lang="en-US" sz="2200" dirty="0"/>
              <a:t>Unit Price = $2.85</a:t>
            </a:r>
          </a:p>
        </p:txBody>
      </p:sp>
    </p:spTree>
    <p:extLst>
      <p:ext uri="{BB962C8B-B14F-4D97-AF65-F5344CB8AC3E}">
        <p14:creationId xmlns:p14="http://schemas.microsoft.com/office/powerpoint/2010/main" val="100559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p:cNvSpPr>
            <a:spLocks noGrp="1"/>
          </p:cNvSpPr>
          <p:nvPr>
            <p:ph type="title"/>
          </p:nvPr>
        </p:nvSpPr>
        <p:spPr>
          <a:xfrm>
            <a:off x="533400" y="152400"/>
            <a:ext cx="8153400" cy="1219200"/>
          </a:xfrm>
        </p:spPr>
        <p:txBody>
          <a:bodyPr/>
          <a:lstStyle/>
          <a:p>
            <a:pPr eaLnBrk="1" hangingPunct="1"/>
            <a:r>
              <a:rPr lang="en-US" dirty="0"/>
              <a:t>Changing Fixed Costs and Prices</a:t>
            </a:r>
          </a:p>
        </p:txBody>
      </p:sp>
      <p:sp>
        <p:nvSpPr>
          <p:cNvPr id="2" name="Content Placeholder 1"/>
          <p:cNvSpPr>
            <a:spLocks noGrp="1"/>
          </p:cNvSpPr>
          <p:nvPr>
            <p:ph idx="1"/>
          </p:nvPr>
        </p:nvSpPr>
        <p:spPr>
          <a:xfrm>
            <a:off x="524669" y="1545903"/>
            <a:ext cx="8162131" cy="4778697"/>
          </a:xfrm>
        </p:spPr>
        <p:txBody>
          <a:bodyPr/>
          <a:lstStyle/>
          <a:p>
            <a:pPr marL="0" indent="0" fontAlgn="auto">
              <a:spcBef>
                <a:spcPts val="0"/>
              </a:spcBef>
              <a:spcAft>
                <a:spcPts val="0"/>
              </a:spcAft>
              <a:buNone/>
              <a:defRPr/>
            </a:pPr>
            <a:r>
              <a:rPr lang="en-US" sz="2400" dirty="0"/>
              <a:t>Assume the Starbucks manager is considering starting a customer appreciation program that would reward customers by giving them their tenth cup of coffee for free. The company would spend an additional $3,000 per month to advertise the rewards program.</a:t>
            </a:r>
          </a:p>
          <a:p>
            <a:pPr marL="0" indent="0" fontAlgn="auto">
              <a:spcBef>
                <a:spcPts val="0"/>
              </a:spcBef>
              <a:spcAft>
                <a:spcPts val="1500"/>
              </a:spcAft>
              <a:buNone/>
              <a:defRPr/>
            </a:pPr>
            <a:r>
              <a:rPr lang="en-US" sz="2400" dirty="0"/>
              <a:t>How much sales volume is needed to earn a target profit of $16,800?</a:t>
            </a:r>
          </a:p>
          <a:p>
            <a:pPr marL="0" indent="0" algn="ctr" fontAlgn="auto">
              <a:spcBef>
                <a:spcPts val="0"/>
              </a:spcBef>
              <a:spcAft>
                <a:spcPts val="0"/>
              </a:spcAft>
              <a:buNone/>
              <a:defRPr/>
            </a:pPr>
            <a:r>
              <a:rPr lang="en-US" sz="2400" dirty="0"/>
              <a:t>New Average Price: $2.25 </a:t>
            </a:r>
          </a:p>
          <a:p>
            <a:pPr marL="0" indent="0" algn="ctr" fontAlgn="auto">
              <a:spcBef>
                <a:spcPts val="0"/>
              </a:spcBef>
              <a:spcAft>
                <a:spcPts val="0"/>
              </a:spcAft>
              <a:buNone/>
              <a:defRPr/>
            </a:pPr>
            <a:r>
              <a:rPr lang="en-US" sz="2400" dirty="0"/>
              <a:t>((9 units at $2.50) / 10)</a:t>
            </a:r>
          </a:p>
          <a:p>
            <a:pPr marL="0" indent="0" algn="ctr" fontAlgn="auto">
              <a:spcBef>
                <a:spcPts val="0"/>
              </a:spcBef>
              <a:spcAft>
                <a:spcPts val="600"/>
              </a:spcAft>
              <a:buNone/>
              <a:defRPr/>
            </a:pPr>
            <a:r>
              <a:rPr lang="en-US" sz="2400" dirty="0"/>
              <a:t>New Fixed Costs: $15,000</a:t>
            </a:r>
          </a:p>
          <a:p>
            <a:pPr marL="0" indent="0" algn="ctr" fontAlgn="auto">
              <a:spcBef>
                <a:spcPts val="0"/>
              </a:spcBef>
              <a:spcAft>
                <a:spcPts val="600"/>
              </a:spcAft>
              <a:buNone/>
              <a:defRPr/>
            </a:pPr>
            <a:r>
              <a:rPr lang="en-US" sz="2400" dirty="0"/>
              <a:t>($12,000 + $3,000)</a:t>
            </a:r>
          </a:p>
        </p:txBody>
      </p:sp>
    </p:spTree>
    <p:extLst>
      <p:ext uri="{BB962C8B-B14F-4D97-AF65-F5344CB8AC3E}">
        <p14:creationId xmlns:p14="http://schemas.microsoft.com/office/powerpoint/2010/main" val="50008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p:cNvSpPr>
            <a:spLocks noGrp="1"/>
          </p:cNvSpPr>
          <p:nvPr>
            <p:ph type="title"/>
          </p:nvPr>
        </p:nvSpPr>
        <p:spPr>
          <a:xfrm>
            <a:off x="457200" y="228600"/>
            <a:ext cx="8229600" cy="1143000"/>
          </a:xfrm>
        </p:spPr>
        <p:txBody>
          <a:bodyPr/>
          <a:lstStyle/>
          <a:p>
            <a:pPr eaLnBrk="1" hangingPunct="1"/>
            <a:r>
              <a:rPr lang="en-US" dirty="0"/>
              <a:t>Changing Fixed Costs and Prices</a:t>
            </a:r>
          </a:p>
        </p:txBody>
      </p:sp>
      <p:sp>
        <p:nvSpPr>
          <p:cNvPr id="3" name="Content Placeholder 2"/>
          <p:cNvSpPr>
            <a:spLocks noGrp="1"/>
          </p:cNvSpPr>
          <p:nvPr>
            <p:ph type="body" sz="quarter" idx="10"/>
          </p:nvPr>
        </p:nvSpPr>
        <p:spPr>
          <a:xfrm>
            <a:off x="533400" y="1676400"/>
            <a:ext cx="8153400" cy="533400"/>
          </a:xfrm>
        </p:spPr>
        <p:txBody>
          <a:bodyPr/>
          <a:lstStyle/>
          <a:p>
            <a:r>
              <a:rPr lang="en-US" sz="2400" dirty="0"/>
              <a:t>Unit Contribution Margin Method</a:t>
            </a:r>
          </a:p>
        </p:txBody>
      </p:sp>
      <p:sp>
        <p:nvSpPr>
          <p:cNvPr id="6"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graphicFrame>
        <p:nvGraphicFramePr>
          <p:cNvPr id="5" name="Object 4"/>
          <p:cNvGraphicFramePr>
            <a:graphicFrameLocks noChangeAspect="1"/>
          </p:cNvGraphicFramePr>
          <p:nvPr>
            <p:extLst>
              <p:ext uri="{D42A27DB-BD31-4B8C-83A1-F6EECF244321}">
                <p14:modId xmlns:p14="http://schemas.microsoft.com/office/powerpoint/2010/main" val="767041956"/>
              </p:ext>
            </p:extLst>
          </p:nvPr>
        </p:nvGraphicFramePr>
        <p:xfrm>
          <a:off x="725177" y="2362200"/>
          <a:ext cx="7199623" cy="1615824"/>
        </p:xfrm>
        <a:graphic>
          <a:graphicData uri="http://schemas.openxmlformats.org/presentationml/2006/ole">
            <mc:AlternateContent xmlns:mc="http://schemas.openxmlformats.org/markup-compatibility/2006">
              <mc:Choice xmlns:v="urn:schemas-microsoft-com:vml" Requires="v">
                <p:oleObj spid="_x0000_s13526" name="Equation" r:id="rId4" imgW="4470120" imgH="1002960" progId="Equation.3">
                  <p:embed/>
                </p:oleObj>
              </mc:Choice>
              <mc:Fallback>
                <p:oleObj name="Equation" r:id="rId4" imgW="4470120" imgH="1002960" progId="Equation.3">
                  <p:embed/>
                  <p:pic>
                    <p:nvPicPr>
                      <p:cNvPr id="0" name="Object 2"/>
                      <p:cNvPicPr>
                        <a:picLocks noChangeAspect="1" noChangeArrowheads="1"/>
                      </p:cNvPicPr>
                      <p:nvPr/>
                    </p:nvPicPr>
                    <p:blipFill>
                      <a:blip r:embed="rId5"/>
                      <a:srcRect/>
                      <a:stretch>
                        <a:fillRect/>
                      </a:stretch>
                    </p:blipFill>
                    <p:spPr bwMode="auto">
                      <a:xfrm>
                        <a:off x="725177" y="2362200"/>
                        <a:ext cx="7199623" cy="16158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292334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p:cNvSpPr>
            <a:spLocks noGrp="1"/>
          </p:cNvSpPr>
          <p:nvPr>
            <p:ph type="title"/>
          </p:nvPr>
        </p:nvSpPr>
        <p:spPr>
          <a:xfrm>
            <a:off x="304800" y="228601"/>
            <a:ext cx="8534400" cy="685799"/>
          </a:xfrm>
        </p:spPr>
        <p:txBody>
          <a:bodyPr/>
          <a:lstStyle/>
          <a:p>
            <a:pPr eaLnBrk="1" hangingPunct="1"/>
            <a:r>
              <a:rPr lang="en-US" dirty="0"/>
              <a:t>Changes in Cost Structure</a:t>
            </a:r>
          </a:p>
        </p:txBody>
      </p:sp>
      <p:sp>
        <p:nvSpPr>
          <p:cNvPr id="2" name="Content Placeholder 1"/>
          <p:cNvSpPr>
            <a:spLocks noGrp="1"/>
          </p:cNvSpPr>
          <p:nvPr>
            <p:ph idx="1"/>
          </p:nvPr>
        </p:nvSpPr>
        <p:spPr>
          <a:xfrm>
            <a:off x="448468" y="1143000"/>
            <a:ext cx="8238331" cy="5105400"/>
          </a:xfrm>
        </p:spPr>
        <p:txBody>
          <a:bodyPr/>
          <a:lstStyle/>
          <a:p>
            <a:pPr marL="0" indent="0">
              <a:buNone/>
            </a:pPr>
            <a:r>
              <a:rPr lang="en-US" sz="2400" dirty="0"/>
              <a:t>Cost structure refers to how a company uses variable costs versus fixed costs to perform its operations. </a:t>
            </a:r>
          </a:p>
          <a:p>
            <a:pPr indent="0">
              <a:buNone/>
              <a:tabLst>
                <a:tab pos="457200" algn="l"/>
              </a:tabLst>
            </a:pPr>
            <a:r>
              <a:rPr lang="en-US" sz="2400" dirty="0"/>
              <a:t>Starbucks Example:</a:t>
            </a:r>
          </a:p>
          <a:p>
            <a:pPr marL="971550" lvl="1">
              <a:buFont typeface="Arial" panose="020B0604020202020204" pitchFamily="34" charset="0"/>
              <a:buChar char="•"/>
              <a:tabLst>
                <a:tab pos="457200" algn="l"/>
              </a:tabLst>
            </a:pPr>
            <a:r>
              <a:rPr lang="en-US" dirty="0"/>
              <a:t>Investing in touch screens to allow customers to place their own order.</a:t>
            </a:r>
          </a:p>
          <a:p>
            <a:pPr marL="971550" lvl="1">
              <a:buFont typeface="Arial" panose="020B0604020202020204" pitchFamily="34" charset="0"/>
              <a:buChar char="•"/>
              <a:tabLst>
                <a:tab pos="457200" algn="l"/>
              </a:tabLst>
            </a:pPr>
            <a:r>
              <a:rPr lang="en-US" dirty="0"/>
              <a:t>Increase fixed costs by $14,000 per month.</a:t>
            </a:r>
          </a:p>
          <a:p>
            <a:pPr marL="971550" lvl="1">
              <a:buFont typeface="Arial" panose="020B0604020202020204" pitchFamily="34" charset="0"/>
              <a:buChar char="•"/>
              <a:tabLst>
                <a:tab pos="457200" algn="l"/>
              </a:tabLst>
            </a:pPr>
            <a:r>
              <a:rPr lang="en-US" dirty="0"/>
              <a:t>Decrease variable costs per unit by $0.70.</a:t>
            </a:r>
          </a:p>
          <a:p>
            <a:pPr marL="971550" lvl="1">
              <a:spcAft>
                <a:spcPts val="1000"/>
              </a:spcAft>
              <a:buFont typeface="Arial" panose="020B0604020202020204" pitchFamily="34" charset="0"/>
              <a:buChar char="•"/>
              <a:tabLst>
                <a:tab pos="457200" algn="l"/>
              </a:tabLst>
            </a:pPr>
            <a:r>
              <a:rPr lang="en-US" dirty="0"/>
              <a:t>Unit sales price will be unchanged at $2.50.</a:t>
            </a:r>
          </a:p>
          <a:p>
            <a:pPr marL="0" indent="0">
              <a:buNone/>
              <a:tabLst>
                <a:tab pos="457200" algn="l"/>
              </a:tabLst>
            </a:pPr>
            <a:r>
              <a:rPr lang="en-US" sz="2400" dirty="0"/>
              <a:t>What level of volume would be needed to justify this expenditure?</a:t>
            </a:r>
          </a:p>
        </p:txBody>
      </p:sp>
    </p:spTree>
    <p:extLst>
      <p:ext uri="{BB962C8B-B14F-4D97-AF65-F5344CB8AC3E}">
        <p14:creationId xmlns:p14="http://schemas.microsoft.com/office/powerpoint/2010/main" val="137339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7043" name="Picture 87042" descr="Stock numbers on a digital display">
            <a:extLst>
              <a:ext uri="{FF2B5EF4-FFF2-40B4-BE49-F238E27FC236}">
                <a16:creationId xmlns:a16="http://schemas.microsoft.com/office/drawing/2014/main" id="{3F9F7E30-69C5-4894-907C-6BC0FB366BD9}"/>
              </a:ext>
            </a:extLst>
          </p:cNvPr>
          <p:cNvPicPr>
            <a:picLocks noChangeAspect="1"/>
          </p:cNvPicPr>
          <p:nvPr/>
        </p:nvPicPr>
        <p:blipFill rotWithShape="1">
          <a:blip r:embed="rId3">
            <a:alphaModFix amt="35000"/>
          </a:blip>
          <a:srcRect l="22334" r="-1" b="-1"/>
          <a:stretch/>
        </p:blipFill>
        <p:spPr>
          <a:xfrm>
            <a:off x="20" y="10"/>
            <a:ext cx="9143980" cy="6857990"/>
          </a:xfrm>
          <a:prstGeom prst="rect">
            <a:avLst/>
          </a:prstGeom>
        </p:spPr>
      </p:pic>
      <p:sp>
        <p:nvSpPr>
          <p:cNvPr id="87041" name="Title 1"/>
          <p:cNvSpPr>
            <a:spLocks noGrp="1"/>
          </p:cNvSpPr>
          <p:nvPr>
            <p:ph type="title"/>
          </p:nvPr>
        </p:nvSpPr>
        <p:spPr>
          <a:xfrm>
            <a:off x="628650" y="365125"/>
            <a:ext cx="7886700" cy="1325563"/>
          </a:xfrm>
        </p:spPr>
        <p:txBody>
          <a:bodyPr>
            <a:normAutofit/>
          </a:bodyPr>
          <a:lstStyle/>
          <a:p>
            <a:pPr eaLnBrk="1" hangingPunct="1"/>
            <a:r>
              <a:rPr lang="en-US" dirty="0">
                <a:solidFill>
                  <a:srgbClr val="FFFFFF"/>
                </a:solidFill>
              </a:rPr>
              <a:t>Changes in Cost Structure</a:t>
            </a:r>
          </a:p>
        </p:txBody>
      </p:sp>
      <p:sp>
        <p:nvSpPr>
          <p:cNvPr id="2" name="Content Placeholder 1"/>
          <p:cNvSpPr>
            <a:spLocks noGrp="1"/>
          </p:cNvSpPr>
          <p:nvPr>
            <p:ph idx="1"/>
          </p:nvPr>
        </p:nvSpPr>
        <p:spPr>
          <a:xfrm>
            <a:off x="628650" y="1825625"/>
            <a:ext cx="7886700" cy="4351338"/>
          </a:xfrm>
        </p:spPr>
        <p:txBody>
          <a:bodyPr>
            <a:normAutofit/>
          </a:bodyPr>
          <a:lstStyle/>
          <a:p>
            <a:pPr marL="0" indent="0">
              <a:spcAft>
                <a:spcPts val="1500"/>
              </a:spcAft>
              <a:buNone/>
            </a:pPr>
            <a:r>
              <a:rPr lang="en-US" dirty="0">
                <a:solidFill>
                  <a:srgbClr val="FFFFFF"/>
                </a:solidFill>
              </a:rPr>
              <a:t>Instead of setting a single profit equation equal to zero (to find break-even), we set two profit equations </a:t>
            </a:r>
            <a:r>
              <a:rPr lang="en-US" b="1" dirty="0">
                <a:solidFill>
                  <a:srgbClr val="FFFFFF"/>
                </a:solidFill>
              </a:rPr>
              <a:t>equal to one another</a:t>
            </a:r>
            <a:r>
              <a:rPr lang="en-US" dirty="0">
                <a:solidFill>
                  <a:srgbClr val="FFFFFF"/>
                </a:solidFill>
              </a:rPr>
              <a:t>, so that each alternative yields the same profit.  Then we solve for the number of units that will give an equal profit under either alternative. </a:t>
            </a:r>
          </a:p>
        </p:txBody>
      </p:sp>
    </p:spTree>
    <p:extLst>
      <p:ext uri="{BB962C8B-B14F-4D97-AF65-F5344CB8AC3E}">
        <p14:creationId xmlns:p14="http://schemas.microsoft.com/office/powerpoint/2010/main" val="3283987399"/>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a:xfrm>
            <a:off x="304800" y="228601"/>
            <a:ext cx="8534400" cy="685799"/>
          </a:xfrm>
        </p:spPr>
        <p:txBody>
          <a:bodyPr/>
          <a:lstStyle/>
          <a:p>
            <a:pPr eaLnBrk="1" hangingPunct="1"/>
            <a:r>
              <a:rPr lang="en-US" dirty="0"/>
              <a:t>Changes in Cost Structure (3 of 3)</a:t>
            </a:r>
          </a:p>
        </p:txBody>
      </p:sp>
      <p:pic>
        <p:nvPicPr>
          <p:cNvPr id="3" name="Content Placeholder 2" descr="Screen Shot 2018-09-26 at 10.52.12 AM.png"/>
          <p:cNvPicPr>
            <a:picLocks noGrp="1" noChangeAspect="1"/>
          </p:cNvPicPr>
          <p:nvPr>
            <p:ph idx="1"/>
          </p:nvPr>
        </p:nvPicPr>
        <p:blipFill>
          <a:blip r:embed="rId3">
            <a:extLst>
              <a:ext uri="{28A0092B-C50C-407E-A947-70E740481C1C}">
                <a14:useLocalDpi xmlns:a14="http://schemas.microsoft.com/office/drawing/2010/main" val="0"/>
              </a:ext>
            </a:extLst>
          </a:blip>
          <a:srcRect t="-114201" b="-114201"/>
          <a:stretch>
            <a:fillRect/>
          </a:stretch>
        </p:blipFill>
        <p:spPr>
          <a:xfrm>
            <a:off x="68640" y="710179"/>
            <a:ext cx="9075359" cy="5462021"/>
          </a:xfrm>
        </p:spPr>
      </p:pic>
    </p:spTree>
    <p:extLst>
      <p:ext uri="{BB962C8B-B14F-4D97-AF65-F5344CB8AC3E}">
        <p14:creationId xmlns:p14="http://schemas.microsoft.com/office/powerpoint/2010/main" val="1816432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46" y="554152"/>
            <a:ext cx="4306641"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41" name="Title 5"/>
          <p:cNvSpPr>
            <a:spLocks noGrp="1"/>
          </p:cNvSpPr>
          <p:nvPr>
            <p:ph type="title"/>
          </p:nvPr>
        </p:nvSpPr>
        <p:spPr>
          <a:xfrm>
            <a:off x="933804" y="1289765"/>
            <a:ext cx="2738325" cy="4270963"/>
          </a:xfrm>
        </p:spPr>
        <p:txBody>
          <a:bodyPr anchor="ctr">
            <a:normAutofit/>
          </a:bodyPr>
          <a:lstStyle/>
          <a:p>
            <a:pPr algn="ctr" eaLnBrk="1" hangingPunct="1"/>
            <a:r>
              <a:rPr lang="en-US" sz="4900">
                <a:solidFill>
                  <a:srgbClr val="FFFFFF"/>
                </a:solidFill>
              </a:rPr>
              <a:t>Learning Objective 6-5</a:t>
            </a:r>
          </a:p>
        </p:txBody>
      </p:sp>
      <p:sp>
        <p:nvSpPr>
          <p:cNvPr id="78"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619" y="374394"/>
            <a:ext cx="128637"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80"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581" y="1084507"/>
            <a:ext cx="118159"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2" name="Content Placeholder 1"/>
          <p:cNvSpPr>
            <a:spLocks noGrp="1"/>
          </p:cNvSpPr>
          <p:nvPr>
            <p:ph idx="1"/>
          </p:nvPr>
        </p:nvSpPr>
        <p:spPr>
          <a:xfrm>
            <a:off x="4722924" y="518400"/>
            <a:ext cx="3578706" cy="5837949"/>
          </a:xfrm>
        </p:spPr>
        <p:txBody>
          <a:bodyPr anchor="ctr">
            <a:normAutofit/>
          </a:bodyPr>
          <a:lstStyle/>
          <a:p>
            <a:pPr marL="0" indent="0">
              <a:buNone/>
            </a:pPr>
            <a:r>
              <a:rPr lang="en-US" sz="1700">
                <a:solidFill>
                  <a:schemeClr val="tx1">
                    <a:alpha val="80000"/>
                  </a:schemeClr>
                </a:solidFill>
              </a:rPr>
              <a:t>Calculate the degree of operating leverage and use it to predict the effect a change in sales will have on profit.</a:t>
            </a:r>
          </a:p>
        </p:txBody>
      </p:sp>
      <p:sp>
        <p:nvSpPr>
          <p:cNvPr id="82"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7410" y="5751820"/>
            <a:ext cx="84319"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84" name="Straight Connector 83">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109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p:cNvSpPr>
            <a:spLocks noGrp="1"/>
          </p:cNvSpPr>
          <p:nvPr>
            <p:ph type="title"/>
          </p:nvPr>
        </p:nvSpPr>
        <p:spPr>
          <a:xfrm>
            <a:off x="304800" y="228601"/>
            <a:ext cx="8534400" cy="685800"/>
          </a:xfrm>
        </p:spPr>
        <p:txBody>
          <a:bodyPr/>
          <a:lstStyle/>
          <a:p>
            <a:pPr eaLnBrk="1" hangingPunct="1"/>
            <a:r>
              <a:rPr lang="en-US" dirty="0"/>
              <a:t>Changes in Cost Structure (1 of 2)</a:t>
            </a:r>
          </a:p>
        </p:txBody>
      </p:sp>
      <p:sp>
        <p:nvSpPr>
          <p:cNvPr id="4" name="Content Placeholder 3"/>
          <p:cNvSpPr>
            <a:spLocks noGrp="1"/>
          </p:cNvSpPr>
          <p:nvPr>
            <p:ph type="body" sz="quarter" idx="10"/>
          </p:nvPr>
        </p:nvSpPr>
        <p:spPr>
          <a:xfrm>
            <a:off x="457200" y="1066800"/>
            <a:ext cx="8229600" cy="1219200"/>
          </a:xfrm>
        </p:spPr>
        <p:txBody>
          <a:bodyPr/>
          <a:lstStyle/>
          <a:p>
            <a:pPr>
              <a:spcAft>
                <a:spcPts val="3000"/>
              </a:spcAft>
              <a:buClr>
                <a:srgbClr val="000000"/>
              </a:buClr>
              <a:buSzPct val="100000"/>
            </a:pPr>
            <a:r>
              <a:rPr lang="en-US" sz="2400" dirty="0"/>
              <a:t>Automation increases the break-even point because fixed costs are higher. But each unit adds more profit because of the lower variable cost per unit.</a:t>
            </a:r>
          </a:p>
        </p:txBody>
      </p:sp>
      <p:sp>
        <p:nvSpPr>
          <p:cNvPr id="5"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pic>
        <p:nvPicPr>
          <p:cNvPr id="2" name="Picture 1" descr="This graph shows that when roughly 8,000 cups of coffee are sold, the $20,000 revenue earned is the break-even point. The total cost line starts at $12,000 and extends to about $40,000 by time 26,000 units are sold. The $18,000 profit is the difference between the Total Cost Line and the Total Revenue line when 20,000 drinks are sold." title="Cost structure graph before automa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308" y="2217797"/>
            <a:ext cx="6299384" cy="4382294"/>
          </a:xfrm>
          <a:prstGeom prst="rect">
            <a:avLst/>
          </a:prstGeom>
        </p:spPr>
      </p:pic>
    </p:spTree>
    <p:extLst>
      <p:ext uri="{BB962C8B-B14F-4D97-AF65-F5344CB8AC3E}">
        <p14:creationId xmlns:p14="http://schemas.microsoft.com/office/powerpoint/2010/main" val="4111539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p:cNvSpPr>
            <a:spLocks noGrp="1"/>
          </p:cNvSpPr>
          <p:nvPr>
            <p:ph type="title"/>
          </p:nvPr>
        </p:nvSpPr>
        <p:spPr>
          <a:xfrm>
            <a:off x="304800" y="228601"/>
            <a:ext cx="8534400" cy="685799"/>
          </a:xfrm>
        </p:spPr>
        <p:txBody>
          <a:bodyPr/>
          <a:lstStyle/>
          <a:p>
            <a:pPr eaLnBrk="1" hangingPunct="1"/>
            <a:r>
              <a:rPr lang="en-US" dirty="0"/>
              <a:t>Changes in Cost Structure</a:t>
            </a:r>
          </a:p>
        </p:txBody>
      </p:sp>
      <p:pic>
        <p:nvPicPr>
          <p:cNvPr id="3" name="Picture 2" descr="The Total Cost line now begins at about the $26,000 mark, but is leveled out a bit more than before automation. The break-even point is now around 12,000 units sold and $30,000 revenue.  At $50,000 revenue, profit ia $18,000 with 20,000 units sold. " title="Chagnes in Cost Structure After Automa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6516" y="1447800"/>
            <a:ext cx="6470968" cy="4538113"/>
          </a:xfrm>
          <a:prstGeom prst="rect">
            <a:avLst/>
          </a:prstGeom>
        </p:spPr>
      </p:pic>
    </p:spTree>
    <p:extLst>
      <p:ext uri="{BB962C8B-B14F-4D97-AF65-F5344CB8AC3E}">
        <p14:creationId xmlns:p14="http://schemas.microsoft.com/office/powerpoint/2010/main" val="1386125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685800" y="228600"/>
            <a:ext cx="7696200" cy="1143000"/>
          </a:xfrm>
        </p:spPr>
        <p:txBody>
          <a:bodyPr/>
          <a:lstStyle/>
          <a:p>
            <a:pPr eaLnBrk="1" hangingPunct="1"/>
            <a:r>
              <a:rPr lang="en-US" dirty="0"/>
              <a:t>Degree of Operating Leverage</a:t>
            </a:r>
          </a:p>
        </p:txBody>
      </p:sp>
      <p:sp>
        <p:nvSpPr>
          <p:cNvPr id="2" name="Content Placeholder 1"/>
          <p:cNvSpPr>
            <a:spLocks noGrp="1"/>
          </p:cNvSpPr>
          <p:nvPr>
            <p:ph idx="1"/>
          </p:nvPr>
        </p:nvSpPr>
        <p:spPr>
          <a:xfrm>
            <a:off x="457200" y="1600200"/>
            <a:ext cx="8229600" cy="1676400"/>
          </a:xfrm>
        </p:spPr>
        <p:txBody>
          <a:bodyPr/>
          <a:lstStyle/>
          <a:p>
            <a:pPr marL="0" indent="0">
              <a:buNone/>
            </a:pPr>
            <a:r>
              <a:rPr lang="en-US" sz="2400" dirty="0"/>
              <a:t>Degree of operating leverage measures the extent to which fixed costs are used to operate the business.  In general, high fixed costs indicate that a company has high operating leverage.</a:t>
            </a:r>
          </a:p>
          <a:p>
            <a:pPr marL="0" indent="0">
              <a:buNone/>
            </a:pPr>
            <a:r>
              <a:rPr lang="en-US" sz="2400" dirty="0"/>
              <a:t>- This is not the same as having high </a:t>
            </a:r>
            <a:r>
              <a:rPr lang="en-US" sz="2400" b="1" dirty="0"/>
              <a:t>financial </a:t>
            </a:r>
            <a:r>
              <a:rPr lang="en-US" sz="2400" dirty="0"/>
              <a:t>leverage.</a:t>
            </a:r>
          </a:p>
        </p:txBody>
      </p:sp>
      <p:graphicFrame>
        <p:nvGraphicFramePr>
          <p:cNvPr id="3" name="Object 2"/>
          <p:cNvGraphicFramePr>
            <a:graphicFrameLocks noChangeAspect="1"/>
          </p:cNvGraphicFramePr>
          <p:nvPr>
            <p:extLst>
              <p:ext uri="{D42A27DB-BD31-4B8C-83A1-F6EECF244321}">
                <p14:modId xmlns:p14="http://schemas.microsoft.com/office/powerpoint/2010/main" val="1386555981"/>
              </p:ext>
            </p:extLst>
          </p:nvPr>
        </p:nvGraphicFramePr>
        <p:xfrm>
          <a:off x="685839" y="4267200"/>
          <a:ext cx="7772322" cy="777233"/>
        </p:xfrm>
        <a:graphic>
          <a:graphicData uri="http://schemas.openxmlformats.org/presentationml/2006/ole">
            <mc:AlternateContent xmlns:mc="http://schemas.openxmlformats.org/markup-compatibility/2006">
              <mc:Choice xmlns:v="urn:schemas-microsoft-com:vml" Requires="v">
                <p:oleObj spid="_x0000_s14532" name="Equation" r:id="rId4" imgW="4825800" imgH="482400" progId="Equation.3">
                  <p:embed/>
                </p:oleObj>
              </mc:Choice>
              <mc:Fallback>
                <p:oleObj name="Equation" r:id="rId4" imgW="4825800" imgH="482400" progId="Equation.3">
                  <p:embed/>
                  <p:pic>
                    <p:nvPicPr>
                      <p:cNvPr id="0" name=""/>
                      <p:cNvPicPr/>
                      <p:nvPr/>
                    </p:nvPicPr>
                    <p:blipFill>
                      <a:blip r:embed="rId5"/>
                      <a:stretch>
                        <a:fillRect/>
                      </a:stretch>
                    </p:blipFill>
                    <p:spPr>
                      <a:xfrm>
                        <a:off x="685839" y="4267200"/>
                        <a:ext cx="7772322" cy="777233"/>
                      </a:xfrm>
                      <a:prstGeom prst="rect">
                        <a:avLst/>
                      </a:prstGeom>
                    </p:spPr>
                  </p:pic>
                </p:oleObj>
              </mc:Fallback>
            </mc:AlternateContent>
          </a:graphicData>
        </a:graphic>
      </p:graphicFrame>
    </p:spTree>
    <p:extLst>
      <p:ext uri="{BB962C8B-B14F-4D97-AF65-F5344CB8AC3E}">
        <p14:creationId xmlns:p14="http://schemas.microsoft.com/office/powerpoint/2010/main" val="34077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a:xfrm>
            <a:off x="685800" y="152400"/>
            <a:ext cx="7696200" cy="1143000"/>
          </a:xfrm>
        </p:spPr>
        <p:txBody>
          <a:bodyPr anchor="t"/>
          <a:lstStyle/>
          <a:p>
            <a:pPr eaLnBrk="1" hangingPunct="1"/>
            <a:r>
              <a:rPr lang="en-US" dirty="0"/>
              <a:t>Degree of Operating Leverage</a:t>
            </a:r>
          </a:p>
        </p:txBody>
      </p:sp>
      <p:sp>
        <p:nvSpPr>
          <p:cNvPr id="8" name="Content Placeholder 7"/>
          <p:cNvSpPr>
            <a:spLocks noGrp="1"/>
          </p:cNvSpPr>
          <p:nvPr>
            <p:ph type="body" sz="quarter" idx="10"/>
          </p:nvPr>
        </p:nvSpPr>
        <p:spPr>
          <a:xfrm>
            <a:off x="533400" y="1524000"/>
            <a:ext cx="8153400" cy="1295400"/>
          </a:xfrm>
        </p:spPr>
        <p:txBody>
          <a:bodyPr/>
          <a:lstStyle/>
          <a:p>
            <a:r>
              <a:rPr lang="en-US" sz="2000" dirty="0"/>
              <a:t>Let's see how the trade-off of fixed and variable costs (through automation) affected Starbucks’ degree of operating leverage. We will use the indifference point of 20,000 cups sold.</a:t>
            </a:r>
          </a:p>
        </p:txBody>
      </p:sp>
      <p:sp>
        <p:nvSpPr>
          <p:cNvPr id="6"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graphicFrame>
        <p:nvGraphicFramePr>
          <p:cNvPr id="5" name="Table 4" descr="Sales Revenue with 20,000 units sold: No automation is $2.50 per unit for a total of $50,000 or $2.50 with automation for a total revenue of $50,000.&#10;Less variable costs: No automation 1.00 per unit, total cost 20,000. With automation, 30 cents per unit, total cost $6,000.&#10;Contribution margin: Not automated $1.50 per unit; total cost $30,000. Automated: $2.20 per unit, total cost $44,000.&#10;Net operating income: Not automated $12,000; Automated $26,000.&#10;Degree of operating leverage: Not automated $18,000; Automated $18,000" title="Table comparing cost with no automation versus automated"/>
          <p:cNvGraphicFramePr>
            <a:graphicFrameLocks noGrp="1"/>
          </p:cNvGraphicFramePr>
          <p:nvPr>
            <p:extLst>
              <p:ext uri="{D42A27DB-BD31-4B8C-83A1-F6EECF244321}">
                <p14:modId xmlns:p14="http://schemas.microsoft.com/office/powerpoint/2010/main" val="1619978874"/>
              </p:ext>
            </p:extLst>
          </p:nvPr>
        </p:nvGraphicFramePr>
        <p:xfrm>
          <a:off x="495300" y="2819400"/>
          <a:ext cx="8077200" cy="2240277"/>
        </p:xfrm>
        <a:graphic>
          <a:graphicData uri="http://schemas.openxmlformats.org/drawingml/2006/table">
            <a:tbl>
              <a:tblPr firstRow="1" bandRow="1">
                <a:tableStyleId>{5940675A-B579-460E-94D1-54222C63F5DA}</a:tableStyleId>
              </a:tblPr>
              <a:tblGrid>
                <a:gridCol w="2438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822960">
                <a:tc>
                  <a:txBody>
                    <a:bodyPr/>
                    <a:lstStyle/>
                    <a:p>
                      <a:pPr algn="ct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solidFill>
                      <a:srgbClr val="000000"/>
                    </a:solidFill>
                  </a:tcPr>
                </a:tc>
                <a:tc>
                  <a:txBody>
                    <a:bodyPr/>
                    <a:lstStyle/>
                    <a:p>
                      <a:pPr algn="ct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20,000  Units sold (No Automation) Per Unit</a:t>
                      </a:r>
                    </a:p>
                  </a:txBody>
                  <a:tcPr>
                    <a:solidFill>
                      <a:srgbClr val="000000"/>
                    </a:solidFill>
                  </a:tcPr>
                </a:tc>
                <a:tc>
                  <a:txBody>
                    <a:bodyPr/>
                    <a:lstStyle/>
                    <a:p>
                      <a:pPr algn="ct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20,000  Units sold (No Automation) Total</a:t>
                      </a:r>
                    </a:p>
                  </a:txBody>
                  <a:tcPr>
                    <a:solidFill>
                      <a:srgbClr val="000000"/>
                    </a:solidFill>
                  </a:tcPr>
                </a:tc>
                <a:tc>
                  <a:txBody>
                    <a:bodyPr/>
                    <a:lstStyle/>
                    <a:p>
                      <a:pPr algn="ct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20,000  Units sold (Automation) Per</a:t>
                      </a:r>
                      <a:r>
                        <a:rPr lang="en-US" sz="1200" b="1" baseline="0" dirty="0">
                          <a:solidFill>
                            <a:schemeClr val="bg1"/>
                          </a:solidFill>
                          <a:latin typeface="Verdana" panose="020B0604030504040204" pitchFamily="34" charset="0"/>
                          <a:ea typeface="Verdana" panose="020B0604030504040204" pitchFamily="34" charset="0"/>
                          <a:cs typeface="Verdana" panose="020B0604030504040204" pitchFamily="34" charset="0"/>
                        </a:rPr>
                        <a:t> Unit</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solidFill>
                      <a:srgbClr val="000000"/>
                    </a:solidFill>
                  </a:tcPr>
                </a:tc>
                <a:tc>
                  <a:txBody>
                    <a:bodyPr/>
                    <a:lstStyle/>
                    <a:p>
                      <a:pPr algn="ct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20,000  Units sold (Automation) Total</a:t>
                      </a:r>
                    </a:p>
                  </a:txBody>
                  <a:tcPr>
                    <a:solidFill>
                      <a:srgbClr val="000000"/>
                    </a:solidFill>
                  </a:tcPr>
                </a:tc>
                <a:extLst>
                  <a:ext uri="{0D108BD9-81ED-4DB2-BD59-A6C34878D82A}">
                    <a16:rowId xmlns:a16="http://schemas.microsoft.com/office/drawing/2014/main" val="10000"/>
                  </a:ext>
                </a:extLst>
              </a:tr>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Sales revenue</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$2.50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$2.50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$50,000</a:t>
                      </a:r>
                    </a:p>
                  </a:txBody>
                  <a:tcPr/>
                </a:tc>
                <a:extLst>
                  <a:ext uri="{0D108BD9-81ED-4DB2-BD59-A6C34878D82A}">
                    <a16:rowId xmlns:a16="http://schemas.microsoft.com/office/drawing/2014/main" val="10001"/>
                  </a:ext>
                </a:extLst>
              </a:tr>
              <a:tr h="274320">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Less: Variable costs</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 </a:t>
                      </a:r>
                      <a:r>
                        <a:rPr lang="en-US" sz="1200" baseline="0"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1.00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 </a:t>
                      </a:r>
                      <a:r>
                        <a:rPr lang="en-US" sz="1200" baseline="0"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0.30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6,000</a:t>
                      </a:r>
                    </a:p>
                  </a:txBody>
                  <a:tcPr/>
                </a:tc>
                <a:extLst>
                  <a:ext uri="{0D108BD9-81ED-4DB2-BD59-A6C34878D82A}">
                    <a16:rowId xmlns:a16="http://schemas.microsoft.com/office/drawing/2014/main" val="10002"/>
                  </a:ext>
                </a:extLst>
              </a:tr>
              <a:tr h="274320">
                <a:tc>
                  <a:txBody>
                    <a:bodyPr/>
                    <a:lstStyle/>
                    <a:p>
                      <a:pPr marL="0" indent="0"/>
                      <a:r>
                        <a:rPr lang="en-US" sz="1200" dirty="0">
                          <a:latin typeface="Verdana" panose="020B0604030504040204" pitchFamily="34" charset="0"/>
                          <a:ea typeface="Verdana" panose="020B0604030504040204" pitchFamily="34" charset="0"/>
                          <a:cs typeface="Verdana" panose="020B0604030504040204" pitchFamily="34" charset="0"/>
                        </a:rPr>
                        <a:t>Contribution margin</a:t>
                      </a:r>
                    </a:p>
                  </a:txBody>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$1.50</a:t>
                      </a: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$30,000</a:t>
                      </a: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$2.20</a:t>
                      </a: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$44,000</a:t>
                      </a:r>
                    </a:p>
                  </a:txBody>
                  <a:tcPr>
                    <a:noFill/>
                  </a:tcPr>
                </a:tc>
                <a:extLst>
                  <a:ext uri="{0D108BD9-81ED-4DB2-BD59-A6C34878D82A}">
                    <a16:rowId xmlns:a16="http://schemas.microsoft.com/office/drawing/2014/main" val="10003"/>
                  </a:ext>
                </a:extLst>
              </a:tr>
              <a:tr h="274320">
                <a:tc>
                  <a:txBody>
                    <a:bodyPr/>
                    <a:lstStyle/>
                    <a:p>
                      <a:pPr marL="0" indent="115888"/>
                      <a:r>
                        <a:rPr lang="en-US" sz="1200" dirty="0">
                          <a:latin typeface="Verdana" panose="020B0604030504040204" pitchFamily="34" charset="0"/>
                          <a:ea typeface="Verdana" panose="020B0604030504040204" pitchFamily="34" charset="0"/>
                          <a:cs typeface="Verdana" panose="020B0604030504040204" pitchFamily="34" charset="0"/>
                        </a:rPr>
                        <a:t>Less fixed costs</a:t>
                      </a:r>
                    </a:p>
                  </a:txBody>
                  <a:tcPr/>
                </a:tc>
                <a:tc>
                  <a:txBody>
                    <a:bodyPr/>
                    <a:lstStyle/>
                    <a:p>
                      <a:pPr algn="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12,000</a:t>
                      </a:r>
                    </a:p>
                  </a:txBody>
                  <a:tcPr>
                    <a:noFill/>
                  </a:tcPr>
                </a:tc>
                <a:tc>
                  <a:txBody>
                    <a:bodyPr/>
                    <a:lstStyle/>
                    <a:p>
                      <a:pPr algn="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26,000</a:t>
                      </a:r>
                    </a:p>
                  </a:txBody>
                  <a:tcPr>
                    <a:noFill/>
                  </a:tcPr>
                </a:tc>
                <a:extLst>
                  <a:ext uri="{0D108BD9-81ED-4DB2-BD59-A6C34878D82A}">
                    <a16:rowId xmlns:a16="http://schemas.microsoft.com/office/drawing/2014/main" val="10004"/>
                  </a:ext>
                </a:extLst>
              </a:tr>
              <a:tr h="320037">
                <a:tc>
                  <a:txBody>
                    <a:bodyPr/>
                    <a:lstStyle/>
                    <a:p>
                      <a:pPr marL="0" indent="0"/>
                      <a:r>
                        <a:rPr lang="en-US" sz="1200" dirty="0">
                          <a:latin typeface="Verdana" panose="020B0604030504040204" pitchFamily="34" charset="0"/>
                          <a:ea typeface="Verdana" panose="020B0604030504040204" pitchFamily="34" charset="0"/>
                          <a:cs typeface="Verdana" panose="020B0604030504040204" pitchFamily="34" charset="0"/>
                        </a:rPr>
                        <a:t>Net operating income</a:t>
                      </a:r>
                    </a:p>
                  </a:txBody>
                  <a:tcPr>
                    <a:lnB w="12700" cap="flat" cmpd="sng" algn="ctr">
                      <a:solidFill>
                        <a:schemeClr val="tx1"/>
                      </a:solidFill>
                      <a:prstDash val="solid"/>
                      <a:round/>
                      <a:headEnd type="none" w="med" len="med"/>
                      <a:tailEnd type="none" w="med" len="med"/>
                    </a:lnB>
                  </a:tcPr>
                </a:tc>
                <a:tc>
                  <a:txBody>
                    <a:bodyPr/>
                    <a:lstStyle/>
                    <a:p>
                      <a:pPr algn="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B w="12700" cap="flat" cmpd="sng" algn="ctr">
                      <a:solidFill>
                        <a:schemeClr val="tx1"/>
                      </a:solidFill>
                      <a:prstDash val="solid"/>
                      <a:round/>
                      <a:headEnd type="none" w="med" len="med"/>
                      <a:tailEnd type="none" w="med" len="med"/>
                    </a:lnB>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$18,000</a:t>
                      </a:r>
                    </a:p>
                  </a:txBody>
                  <a:tcPr>
                    <a:lnB w="12700" cap="flat" cmpd="sng" algn="ctr">
                      <a:solidFill>
                        <a:schemeClr val="tx1"/>
                      </a:solidFill>
                      <a:prstDash val="solid"/>
                      <a:round/>
                      <a:headEnd type="none" w="med" len="med"/>
                      <a:tailEnd type="none" w="med" len="med"/>
                    </a:lnB>
                    <a:noFill/>
                  </a:tcPr>
                </a:tc>
                <a:tc>
                  <a:txBody>
                    <a:bodyPr/>
                    <a:lstStyle/>
                    <a:p>
                      <a:pPr algn="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B w="12700" cap="flat" cmpd="sng" algn="ctr">
                      <a:solidFill>
                        <a:schemeClr val="tx1"/>
                      </a:solidFill>
                      <a:prstDash val="solid"/>
                      <a:round/>
                      <a:headEnd type="none" w="med" len="med"/>
                      <a:tailEnd type="none" w="med" len="med"/>
                    </a:lnB>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$18,000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2" name="Rectangle 1"/>
              <p:cNvSpPr/>
              <p:nvPr/>
            </p:nvSpPr>
            <p:spPr>
              <a:xfrm>
                <a:off x="533400" y="5181600"/>
                <a:ext cx="7772400" cy="1509516"/>
              </a:xfrm>
              <a:prstGeom prst="rect">
                <a:avLst/>
              </a:prstGeom>
            </p:spPr>
            <p:txBody>
              <a:bodyPr wrap="square">
                <a:sp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ea typeface="Calibri" panose="020F0502020204030204" pitchFamily="34" charset="0"/>
                          <a:cs typeface="Times New Roman" panose="02020603050405020304" pitchFamily="18" charset="0"/>
                        </a:rPr>
                        <m:t>Degree</m:t>
                      </m:r>
                      <m:r>
                        <a:rPr lang="en-US">
                          <a:latin typeface="Cambria Math" panose="02040503050406030204" pitchFamily="18" charset="0"/>
                          <a:ea typeface="Calibri" panose="020F0502020204030204" pitchFamily="34" charset="0"/>
                          <a:cs typeface="Times New Roman" panose="02020603050405020304" pitchFamily="18" charset="0"/>
                        </a:rPr>
                        <m:t> </m:t>
                      </m:r>
                      <m:r>
                        <m:rPr>
                          <m:sty m:val="p"/>
                        </m:rPr>
                        <a:rPr lang="en-US">
                          <a:latin typeface="Cambria Math" panose="02040503050406030204" pitchFamily="18" charset="0"/>
                          <a:ea typeface="Calibri" panose="020F0502020204030204" pitchFamily="34" charset="0"/>
                          <a:cs typeface="Times New Roman" panose="02020603050405020304" pitchFamily="18" charset="0"/>
                        </a:rPr>
                        <m:t>of</m:t>
                      </m:r>
                      <m:r>
                        <a:rPr lang="en-US">
                          <a:latin typeface="Cambria Math" panose="02040503050406030204" pitchFamily="18" charset="0"/>
                          <a:ea typeface="Calibri" panose="020F0502020204030204" pitchFamily="34" charset="0"/>
                          <a:cs typeface="Times New Roman" panose="02020603050405020304" pitchFamily="18" charset="0"/>
                        </a:rPr>
                        <m:t> </m:t>
                      </m:r>
                      <m:r>
                        <m:rPr>
                          <m:sty m:val="p"/>
                        </m:rPr>
                        <a:rPr lang="en-US">
                          <a:latin typeface="Cambria Math" panose="02040503050406030204" pitchFamily="18" charset="0"/>
                          <a:ea typeface="Calibri" panose="020F0502020204030204" pitchFamily="34" charset="0"/>
                          <a:cs typeface="Times New Roman" panose="02020603050405020304" pitchFamily="18" charset="0"/>
                        </a:rPr>
                        <m:t>operating</m:t>
                      </m:r>
                      <m:r>
                        <a:rPr lang="en-US">
                          <a:latin typeface="Cambria Math" panose="02040503050406030204" pitchFamily="18" charset="0"/>
                          <a:ea typeface="Calibri" panose="020F0502020204030204" pitchFamily="34" charset="0"/>
                          <a:cs typeface="Times New Roman" panose="02020603050405020304" pitchFamily="18" charset="0"/>
                        </a:rPr>
                        <m:t> </m:t>
                      </m:r>
                      <m:r>
                        <m:rPr>
                          <m:sty m:val="p"/>
                        </m:rPr>
                        <a:rPr lang="en-US">
                          <a:latin typeface="Cambria Math" panose="02040503050406030204" pitchFamily="18" charset="0"/>
                          <a:ea typeface="Calibri" panose="020F0502020204030204" pitchFamily="34" charset="0"/>
                          <a:cs typeface="Times New Roman" panose="02020603050405020304" pitchFamily="18" charset="0"/>
                        </a:rPr>
                        <m:t>leverage</m:t>
                      </m:r>
                      <m:r>
                        <a:rPr lang="en-US">
                          <a:latin typeface="Cambria Math" panose="02040503050406030204" pitchFamily="18" charset="0"/>
                          <a:ea typeface="Calibri" panose="020F0502020204030204" pitchFamily="34" charset="0"/>
                          <a:cs typeface="Times New Roman" panose="02020603050405020304" pitchFamily="18" charset="0"/>
                        </a:rPr>
                        <m:t> </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No</m:t>
                          </m:r>
                          <m:r>
                            <a:rPr lang="en-US" sz="180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Automation</m:t>
                          </m:r>
                        </m:e>
                      </m:d>
                      <m:r>
                        <a:rPr lang="en-US" sz="180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effectLst/>
                              <a:latin typeface="Cambria Math" panose="02040503050406030204" pitchFamily="18" charset="0"/>
                              <a:ea typeface="Calibri" panose="020F0502020204030204" pitchFamily="34" charset="0"/>
                              <a:cs typeface="Times New Roman" panose="02020603050405020304" pitchFamily="18" charset="0"/>
                            </a:rPr>
                            <m:t>$30,000</m:t>
                          </m:r>
                        </m:num>
                        <m:den>
                          <m:r>
                            <a:rPr lang="en-US" sz="1800">
                              <a:effectLst/>
                              <a:latin typeface="Cambria Math" panose="02040503050406030204" pitchFamily="18" charset="0"/>
                              <a:ea typeface="Calibri" panose="020F0502020204030204" pitchFamily="34" charset="0"/>
                              <a:cs typeface="Times New Roman" panose="02020603050405020304" pitchFamily="18" charset="0"/>
                            </a:rPr>
                            <m:t>$18,000</m:t>
                          </m:r>
                        </m:den>
                      </m:f>
                      <m:r>
                        <a:rPr lang="en-US" sz="1800">
                          <a:effectLst/>
                          <a:latin typeface="Cambria Math" panose="02040503050406030204" pitchFamily="18" charset="0"/>
                          <a:ea typeface="Calibri" panose="020F0502020204030204" pitchFamily="34" charset="0"/>
                          <a:cs typeface="Times New Roman" panose="02020603050405020304" pitchFamily="18" charset="0"/>
                        </a:rPr>
                        <m:t>=1.67</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Degree</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of</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operating</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leverage</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Automation</m:t>
                          </m:r>
                        </m:e>
                      </m:d>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a:effectLst/>
                              <a:latin typeface="Cambria Math" panose="02040503050406030204" pitchFamily="18" charset="0"/>
                              <a:ea typeface="Times New Roman" panose="02020603050405020304" pitchFamily="18" charset="0"/>
                              <a:cs typeface="Times New Roman" panose="02020603050405020304" pitchFamily="18" charset="0"/>
                            </a:rPr>
                            <m:t>$44,000</m:t>
                          </m:r>
                        </m:num>
                        <m:den>
                          <m:r>
                            <a:rPr lang="en-US" sz="1800">
                              <a:effectLst/>
                              <a:latin typeface="Cambria Math" panose="02040503050406030204" pitchFamily="18" charset="0"/>
                              <a:ea typeface="Times New Roman" panose="02020603050405020304" pitchFamily="18" charset="0"/>
                              <a:cs typeface="Times New Roman" panose="02020603050405020304" pitchFamily="18" charset="0"/>
                            </a:rPr>
                            <m:t>$18,000</m:t>
                          </m:r>
                        </m:den>
                      </m:f>
                      <m:r>
                        <a:rPr lang="en-US" sz="1800">
                          <a:effectLst/>
                          <a:latin typeface="Cambria Math" panose="02040503050406030204" pitchFamily="18" charset="0"/>
                          <a:ea typeface="Times New Roman" panose="02020603050405020304" pitchFamily="18" charset="0"/>
                          <a:cs typeface="Times New Roman" panose="02020603050405020304" pitchFamily="18" charset="0"/>
                        </a:rPr>
                        <m:t> =2.44</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533400" y="5181600"/>
                <a:ext cx="7772400" cy="150951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287846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p:cNvSpPr>
            <a:spLocks noGrp="1"/>
          </p:cNvSpPr>
          <p:nvPr>
            <p:ph type="title"/>
          </p:nvPr>
        </p:nvSpPr>
        <p:spPr>
          <a:xfrm>
            <a:off x="685800" y="152400"/>
            <a:ext cx="7696200" cy="1139825"/>
          </a:xfrm>
        </p:spPr>
        <p:txBody>
          <a:bodyPr/>
          <a:lstStyle/>
          <a:p>
            <a:pPr eaLnBrk="1" hangingPunct="1"/>
            <a:r>
              <a:rPr lang="en-US" dirty="0"/>
              <a:t>Degree of Operating Leverage (3 of 3)</a:t>
            </a:r>
          </a:p>
        </p:txBody>
      </p:sp>
      <p:sp>
        <p:nvSpPr>
          <p:cNvPr id="3" name="Content Placeholder 2"/>
          <p:cNvSpPr>
            <a:spLocks noGrp="1"/>
          </p:cNvSpPr>
          <p:nvPr>
            <p:ph type="body" sz="quarter" idx="10"/>
          </p:nvPr>
        </p:nvSpPr>
        <p:spPr>
          <a:xfrm>
            <a:off x="457200" y="1371600"/>
            <a:ext cx="8229600" cy="1676400"/>
          </a:xfrm>
        </p:spPr>
        <p:txBody>
          <a:bodyPr/>
          <a:lstStyle/>
          <a:p>
            <a:pPr>
              <a:spcBef>
                <a:spcPts val="600"/>
              </a:spcBef>
            </a:pPr>
            <a:r>
              <a:rPr lang="en-US" sz="2000" dirty="0"/>
              <a:t>The degree of operating leverage is a multiplier we can use to predict how a percentage change in sales revenue will translate into a percentage change in profit.  In this example, if sales revenue increases by 10%, profit will increase by 16.7% without automation or 24.4% with automation. </a:t>
            </a:r>
          </a:p>
        </p:txBody>
      </p:sp>
      <p:sp>
        <p:nvSpPr>
          <p:cNvPr id="6"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graphicFrame>
        <p:nvGraphicFramePr>
          <p:cNvPr id="8" name="Table 7" descr="Sales revenue: No automation, base cost $50,000; 10 percent increase equals $55,000. Automation base cost $50,000; 10 percent increase equals $55,000.&#10;Less variable costs: No automation base cost 20,000; 10 percent increase equals $22,000. Automation cost $6,000; 10 percent increase equals $6,600.&#10;Contribution margin: No automation base $30,000; 10 percent increase equals $33,000. With Automation, base cost $44,000; 10 percent increase equals $48,400.&#10;Less fixed costs: No automation base cost 12,000; 10 percent increase remains at $12,000. With automation: base cost of $26,000 stays the same even if 10 percent increase.&#10;Net operating income: no automation base is $18,000; with 10 percent increase equals $21,000. With automation base cost $18,000; 10 percent increase equals $22,400." title="Table of No Automation versus Automation with price increase"/>
          <p:cNvGraphicFramePr>
            <a:graphicFrameLocks noGrp="1"/>
          </p:cNvGraphicFramePr>
          <p:nvPr>
            <p:extLst>
              <p:ext uri="{D42A27DB-BD31-4B8C-83A1-F6EECF244321}">
                <p14:modId xmlns:p14="http://schemas.microsoft.com/office/powerpoint/2010/main" val="2262046526"/>
              </p:ext>
            </p:extLst>
          </p:nvPr>
        </p:nvGraphicFramePr>
        <p:xfrm>
          <a:off x="762000" y="3124200"/>
          <a:ext cx="7579665" cy="2194560"/>
        </p:xfrm>
        <a:graphic>
          <a:graphicData uri="http://schemas.openxmlformats.org/drawingml/2006/table">
            <a:tbl>
              <a:tblPr firstRow="1" bandRow="1">
                <a:tableStyleId>{5940675A-B579-460E-94D1-54222C63F5DA}</a:tableStyleId>
              </a:tblPr>
              <a:tblGrid>
                <a:gridCol w="2093265">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822960">
                <a:tc>
                  <a:txBody>
                    <a:bodyPr/>
                    <a:lstStyle/>
                    <a:p>
                      <a:pPr algn="ct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solidFill>
                      <a:srgbClr val="000000"/>
                    </a:solidFill>
                  </a:tcPr>
                </a:tc>
                <a:tc>
                  <a:txBody>
                    <a:bodyPr/>
                    <a:lstStyle/>
                    <a:p>
                      <a:pPr algn="ct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(No Automation) Base Case</a:t>
                      </a:r>
                    </a:p>
                  </a:txBody>
                  <a:tcPr>
                    <a:solidFill>
                      <a:srgbClr val="000000"/>
                    </a:solidFill>
                  </a:tcPr>
                </a:tc>
                <a:tc>
                  <a:txBody>
                    <a:bodyPr/>
                    <a:lstStyle/>
                    <a:p>
                      <a:pPr algn="ct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(No Automation) 10 Percent Increase</a:t>
                      </a:r>
                    </a:p>
                  </a:txBody>
                  <a:tcPr>
                    <a:solidFill>
                      <a:srgbClr val="000000"/>
                    </a:solidFill>
                  </a:tcPr>
                </a:tc>
                <a:tc>
                  <a:txBody>
                    <a:bodyPr/>
                    <a:lstStyle/>
                    <a:p>
                      <a:pPr algn="ct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(Automation) Base Case</a:t>
                      </a:r>
                    </a:p>
                  </a:txBody>
                  <a:tcPr>
                    <a:solidFill>
                      <a:srgbClr val="000000"/>
                    </a:solidFill>
                  </a:tcPr>
                </a:tc>
                <a:tc>
                  <a:txBody>
                    <a:bodyPr/>
                    <a:lstStyle/>
                    <a:p>
                      <a:pPr algn="ct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(Automation) 10</a:t>
                      </a:r>
                      <a:r>
                        <a:rPr lang="en-US" sz="1200" b="1" baseline="0" dirty="0">
                          <a:solidFill>
                            <a:schemeClr val="bg1"/>
                          </a:solidFill>
                          <a:latin typeface="Verdana" panose="020B0604030504040204" pitchFamily="34" charset="0"/>
                          <a:ea typeface="Verdana" panose="020B0604030504040204" pitchFamily="34" charset="0"/>
                          <a:cs typeface="Verdana" panose="020B0604030504040204" pitchFamily="34" charset="0"/>
                        </a:rPr>
                        <a:t> Percent Increase</a:t>
                      </a:r>
                      <a:endPar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solidFill>
                      <a:srgbClr val="000000"/>
                    </a:solidFill>
                  </a:tcPr>
                </a:tc>
                <a:extLst>
                  <a:ext uri="{0D108BD9-81ED-4DB2-BD59-A6C34878D82A}">
                    <a16:rowId xmlns:a16="http://schemas.microsoft.com/office/drawing/2014/main" val="10000"/>
                  </a:ext>
                </a:extLst>
              </a:tr>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Sales revenue</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$55,000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$55,000</a:t>
                      </a:r>
                    </a:p>
                  </a:txBody>
                  <a:tcPr/>
                </a:tc>
                <a:extLst>
                  <a:ext uri="{0D108BD9-81ED-4DB2-BD59-A6C34878D82A}">
                    <a16:rowId xmlns:a16="http://schemas.microsoft.com/office/drawing/2014/main" val="10001"/>
                  </a:ext>
                </a:extLst>
              </a:tr>
              <a:tr h="274320">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Less: Variable costs</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20,000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22,000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6,000</a:t>
                      </a:r>
                    </a:p>
                  </a:txBody>
                  <a:tcPr/>
                </a:tc>
                <a:tc>
                  <a:txBody>
                    <a:bodyPr/>
                    <a:lstStyle/>
                    <a:p>
                      <a:pPr algn="r"/>
                      <a:r>
                        <a:rPr lang="en-US" sz="1200" dirty="0">
                          <a:latin typeface="Verdana" panose="020B0604030504040204" pitchFamily="34" charset="0"/>
                          <a:ea typeface="Verdana" panose="020B0604030504040204" pitchFamily="34" charset="0"/>
                          <a:cs typeface="Verdana" panose="020B0604030504040204" pitchFamily="34" charset="0"/>
                        </a:rPr>
                        <a:t>6,600</a:t>
                      </a:r>
                    </a:p>
                  </a:txBody>
                  <a:tcPr/>
                </a:tc>
                <a:extLst>
                  <a:ext uri="{0D108BD9-81ED-4DB2-BD59-A6C34878D82A}">
                    <a16:rowId xmlns:a16="http://schemas.microsoft.com/office/drawing/2014/main" val="10002"/>
                  </a:ext>
                </a:extLst>
              </a:tr>
              <a:tr h="274320">
                <a:tc>
                  <a:txBody>
                    <a:bodyPr/>
                    <a:lstStyle/>
                    <a:p>
                      <a:pPr marL="115888" indent="0"/>
                      <a:r>
                        <a:rPr lang="en-US" sz="1200" dirty="0">
                          <a:latin typeface="Verdana" panose="020B0604030504040204" pitchFamily="34" charset="0"/>
                          <a:ea typeface="Verdana" panose="020B0604030504040204" pitchFamily="34" charset="0"/>
                          <a:cs typeface="Verdana" panose="020B0604030504040204" pitchFamily="34" charset="0"/>
                        </a:rPr>
                        <a:t>Contribution margin</a:t>
                      </a:r>
                    </a:p>
                  </a:txBody>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$30,000</a:t>
                      </a: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$33,000</a:t>
                      </a: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$44,000</a:t>
                      </a: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$48,400</a:t>
                      </a:r>
                    </a:p>
                  </a:txBody>
                  <a:tcPr>
                    <a:noFill/>
                  </a:tcPr>
                </a:tc>
                <a:extLst>
                  <a:ext uri="{0D108BD9-81ED-4DB2-BD59-A6C34878D82A}">
                    <a16:rowId xmlns:a16="http://schemas.microsoft.com/office/drawing/2014/main" val="10003"/>
                  </a:ext>
                </a:extLst>
              </a:tr>
              <a:tr h="274320">
                <a:tc>
                  <a:txBody>
                    <a:bodyPr/>
                    <a:lstStyle/>
                    <a:p>
                      <a:pPr marL="0" indent="0"/>
                      <a:r>
                        <a:rPr lang="en-US" sz="1200" dirty="0">
                          <a:latin typeface="Verdana" panose="020B0604030504040204" pitchFamily="34" charset="0"/>
                          <a:ea typeface="Verdana" panose="020B0604030504040204" pitchFamily="34" charset="0"/>
                          <a:cs typeface="Verdana" panose="020B0604030504040204" pitchFamily="34" charset="0"/>
                        </a:rPr>
                        <a:t>Less: Fixed</a:t>
                      </a:r>
                      <a:r>
                        <a:rPr lang="en-US" sz="1200" baseline="0" dirty="0">
                          <a:latin typeface="Verdana" panose="020B0604030504040204" pitchFamily="34" charset="0"/>
                          <a:ea typeface="Verdana" panose="020B0604030504040204" pitchFamily="34" charset="0"/>
                          <a:cs typeface="Verdana" panose="020B0604030504040204" pitchFamily="34" charset="0"/>
                        </a:rPr>
                        <a:t> costs</a:t>
                      </a:r>
                      <a:endParaRPr lang="en-US" sz="12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12,000</a:t>
                      </a:r>
                    </a:p>
                  </a:txBody>
                  <a:tcPr>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12,000</a:t>
                      </a:r>
                    </a:p>
                  </a:txBody>
                  <a:tcPr>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26,000</a:t>
                      </a:r>
                    </a:p>
                  </a:txBody>
                  <a:tcPr>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26,000</a:t>
                      </a:r>
                    </a:p>
                  </a:txBody>
                  <a:tcPr>
                    <a:noFill/>
                  </a:tcPr>
                </a:tc>
                <a:extLst>
                  <a:ext uri="{0D108BD9-81ED-4DB2-BD59-A6C34878D82A}">
                    <a16:rowId xmlns:a16="http://schemas.microsoft.com/office/drawing/2014/main" val="10004"/>
                  </a:ext>
                </a:extLst>
              </a:tr>
              <a:tr h="274320">
                <a:tc>
                  <a:txBody>
                    <a:bodyPr/>
                    <a:lstStyle/>
                    <a:p>
                      <a:pPr marL="0" indent="115888"/>
                      <a:r>
                        <a:rPr lang="en-US" sz="1200" dirty="0">
                          <a:latin typeface="Verdana" panose="020B0604030504040204" pitchFamily="34" charset="0"/>
                          <a:ea typeface="Verdana" panose="020B0604030504040204" pitchFamily="34" charset="0"/>
                          <a:cs typeface="Verdana" panose="020B0604030504040204" pitchFamily="34" charset="0"/>
                        </a:rPr>
                        <a:t>Net operating income</a:t>
                      </a:r>
                    </a:p>
                  </a:txBody>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$18,000</a:t>
                      </a: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$21,000</a:t>
                      </a: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$18,000</a:t>
                      </a:r>
                    </a:p>
                  </a:txBody>
                  <a:tcPr>
                    <a:noFill/>
                  </a:tcPr>
                </a:tc>
                <a:tc>
                  <a:txBody>
                    <a:bodyPr/>
                    <a:lstStyle/>
                    <a:p>
                      <a:pPr algn="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$22,400</a:t>
                      </a:r>
                    </a:p>
                  </a:txBody>
                  <a:tcPr>
                    <a:noFill/>
                  </a:tcPr>
                </a:tc>
                <a:extLst>
                  <a:ext uri="{0D108BD9-81ED-4DB2-BD59-A6C34878D82A}">
                    <a16:rowId xmlns:a16="http://schemas.microsoft.com/office/drawing/2014/main" val="10005"/>
                  </a:ext>
                </a:extLst>
              </a:tr>
            </a:tbl>
          </a:graphicData>
        </a:graphic>
      </p:graphicFrame>
      <p:graphicFrame>
        <p:nvGraphicFramePr>
          <p:cNvPr id="2" name="Object 1" descr="No automation equals $21,000 minus 18,000, divided by 18,000 equals 16.7 percent.&#10;Automatino equals $22,400 minus 18,000; divided by 18,000 equals 24.4 percent." title="Formulas for Percent change in Net Operating Income on Nonautomation versus Automation"/>
          <p:cNvGraphicFramePr>
            <a:graphicFrameLocks noChangeAspect="1"/>
          </p:cNvGraphicFramePr>
          <p:nvPr>
            <p:extLst>
              <p:ext uri="{D42A27DB-BD31-4B8C-83A1-F6EECF244321}">
                <p14:modId xmlns:p14="http://schemas.microsoft.com/office/powerpoint/2010/main" val="3345003770"/>
              </p:ext>
            </p:extLst>
          </p:nvPr>
        </p:nvGraphicFramePr>
        <p:xfrm>
          <a:off x="787400" y="5486400"/>
          <a:ext cx="7620000" cy="1003300"/>
        </p:xfrm>
        <a:graphic>
          <a:graphicData uri="http://schemas.openxmlformats.org/presentationml/2006/ole">
            <mc:AlternateContent xmlns:mc="http://schemas.openxmlformats.org/markup-compatibility/2006">
              <mc:Choice xmlns:v="urn:schemas-microsoft-com:vml" Requires="v">
                <p:oleObj spid="_x0000_s16681" name="Equation" r:id="rId4" imgW="7619760" imgH="1002960" progId="Equation.3">
                  <p:embed/>
                </p:oleObj>
              </mc:Choice>
              <mc:Fallback>
                <p:oleObj name="Equation" r:id="rId4" imgW="7619760" imgH="1002960" progId="Equation.3">
                  <p:embed/>
                  <p:pic>
                    <p:nvPicPr>
                      <p:cNvPr id="0" name="Object 1" descr="All text will be entered here."/>
                      <p:cNvPicPr>
                        <a:picLocks noChangeAspect="1" noChangeArrowheads="1"/>
                      </p:cNvPicPr>
                      <p:nvPr/>
                    </p:nvPicPr>
                    <p:blipFill>
                      <a:blip r:embed="rId5"/>
                      <a:srcRect/>
                      <a:stretch>
                        <a:fillRect/>
                      </a:stretch>
                    </p:blipFill>
                    <p:spPr bwMode="auto">
                      <a:xfrm>
                        <a:off x="787400" y="5486400"/>
                        <a:ext cx="7620000" cy="1003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41383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8" name="Picture 77">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9333" name="Title 5"/>
          <p:cNvSpPr>
            <a:spLocks noGrp="1"/>
          </p:cNvSpPr>
          <p:nvPr>
            <p:ph type="title"/>
          </p:nvPr>
        </p:nvSpPr>
        <p:spPr>
          <a:xfrm>
            <a:off x="480059" y="2053641"/>
            <a:ext cx="2751871" cy="2760098"/>
          </a:xfrm>
        </p:spPr>
        <p:txBody>
          <a:bodyPr>
            <a:normAutofit/>
          </a:bodyPr>
          <a:lstStyle/>
          <a:p>
            <a:pPr eaLnBrk="1" hangingPunct="1"/>
            <a:r>
              <a:rPr lang="en-US">
                <a:solidFill>
                  <a:srgbClr val="FFFFFF"/>
                </a:solidFill>
              </a:rPr>
              <a:t>Learning Objective 6-6</a:t>
            </a:r>
          </a:p>
        </p:txBody>
      </p:sp>
      <p:sp>
        <p:nvSpPr>
          <p:cNvPr id="2" name="Content Placeholder 1"/>
          <p:cNvSpPr>
            <a:spLocks noGrp="1"/>
          </p:cNvSpPr>
          <p:nvPr>
            <p:ph idx="1"/>
          </p:nvPr>
        </p:nvSpPr>
        <p:spPr>
          <a:xfrm>
            <a:off x="4567930" y="801866"/>
            <a:ext cx="3979563" cy="5230634"/>
          </a:xfrm>
        </p:spPr>
        <p:txBody>
          <a:bodyPr anchor="ctr">
            <a:normAutofit/>
          </a:bodyPr>
          <a:lstStyle/>
          <a:p>
            <a:pPr marL="0" indent="0">
              <a:buNone/>
            </a:pPr>
            <a:r>
              <a:rPr lang="en-US">
                <a:solidFill>
                  <a:srgbClr val="000000"/>
                </a:solidFill>
              </a:rPr>
              <a:t>Perform multiproduct cost-volume-profit analysis and explain how the product or sales mix affects the analysis.</a:t>
            </a:r>
          </a:p>
        </p:txBody>
      </p:sp>
    </p:spTree>
    <p:extLst>
      <p:ext uri="{BB962C8B-B14F-4D97-AF65-F5344CB8AC3E}">
        <p14:creationId xmlns:p14="http://schemas.microsoft.com/office/powerpoint/2010/main" val="5771009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0323" y="0"/>
            <a:ext cx="4703677"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3" name="Title 2"/>
          <p:cNvSpPr>
            <a:spLocks noGrp="1"/>
          </p:cNvSpPr>
          <p:nvPr>
            <p:ph type="title"/>
          </p:nvPr>
        </p:nvSpPr>
        <p:spPr>
          <a:xfrm>
            <a:off x="603748" y="798445"/>
            <a:ext cx="3602727" cy="1311664"/>
          </a:xfrm>
        </p:spPr>
        <p:txBody>
          <a:bodyPr>
            <a:normAutofit/>
          </a:bodyPr>
          <a:lstStyle/>
          <a:p>
            <a:r>
              <a:rPr lang="en-US" sz="2800">
                <a:solidFill>
                  <a:srgbClr val="000000"/>
                </a:solidFill>
              </a:rPr>
              <a:t>Multi-Product Cost-Volume-Profit Analysis</a:t>
            </a:r>
          </a:p>
        </p:txBody>
      </p:sp>
      <p:sp>
        <p:nvSpPr>
          <p:cNvPr id="2" name="Content Placeholder 1"/>
          <p:cNvSpPr>
            <a:spLocks noGrp="1"/>
          </p:cNvSpPr>
          <p:nvPr>
            <p:ph idx="1"/>
          </p:nvPr>
        </p:nvSpPr>
        <p:spPr>
          <a:xfrm>
            <a:off x="603747" y="2272143"/>
            <a:ext cx="3530103" cy="3788830"/>
          </a:xfrm>
        </p:spPr>
        <p:txBody>
          <a:bodyPr anchor="ctr">
            <a:normAutofit/>
          </a:bodyPr>
          <a:lstStyle/>
          <a:p>
            <a:pPr fontAlgn="auto">
              <a:spcBef>
                <a:spcPts val="600"/>
              </a:spcBef>
              <a:spcAft>
                <a:spcPts val="0"/>
              </a:spcAft>
              <a:defRPr/>
            </a:pPr>
            <a:r>
              <a:rPr lang="en-US" sz="1700" dirty="0">
                <a:solidFill>
                  <a:srgbClr val="000000"/>
                </a:solidFill>
                <a:ea typeface="ＭＳ Ｐゴシック" pitchFamily="-110" charset="-128"/>
              </a:rPr>
              <a:t>Product mix is the relative mix of products or services stated in terms of the number of units sold.</a:t>
            </a:r>
          </a:p>
          <a:p>
            <a:pPr fontAlgn="auto">
              <a:spcBef>
                <a:spcPts val="600"/>
              </a:spcBef>
              <a:spcAft>
                <a:spcPts val="0"/>
              </a:spcAft>
              <a:defRPr/>
            </a:pPr>
            <a:r>
              <a:rPr lang="en-US" sz="1700" dirty="0">
                <a:solidFill>
                  <a:srgbClr val="000000"/>
                </a:solidFill>
              </a:rPr>
              <a:t>The product mix is used to compute the weighted-average contribution margin per unit.</a:t>
            </a:r>
            <a:endParaRPr lang="en-US" sz="1700" dirty="0">
              <a:solidFill>
                <a:srgbClr val="000000"/>
              </a:solidFill>
              <a:ea typeface="ＭＳ Ｐゴシック" pitchFamily="-110" charset="-128"/>
            </a:endParaRPr>
          </a:p>
          <a:p>
            <a:pPr fontAlgn="auto">
              <a:spcBef>
                <a:spcPts val="600"/>
              </a:spcBef>
              <a:spcAft>
                <a:spcPts val="0"/>
              </a:spcAft>
              <a:defRPr/>
            </a:pPr>
            <a:r>
              <a:rPr lang="en-US" sz="1700" dirty="0">
                <a:solidFill>
                  <a:srgbClr val="000000"/>
                </a:solidFill>
                <a:ea typeface="ＭＳ Ｐゴシック" pitchFamily="-110" charset="-128"/>
              </a:rPr>
              <a:t>Sales mix is the relative mix of  products or services as a percentage of total sales revenue.</a:t>
            </a:r>
          </a:p>
          <a:p>
            <a:pPr fontAlgn="auto">
              <a:spcBef>
                <a:spcPts val="600"/>
              </a:spcBef>
              <a:spcAft>
                <a:spcPts val="0"/>
              </a:spcAft>
              <a:defRPr/>
            </a:pPr>
            <a:r>
              <a:rPr lang="en-US" sz="1700" dirty="0">
                <a:solidFill>
                  <a:srgbClr val="000000"/>
                </a:solidFill>
                <a:ea typeface="ＭＳ Ｐゴシック" pitchFamily="-110" charset="-128"/>
              </a:rPr>
              <a:t>The </a:t>
            </a:r>
            <a:r>
              <a:rPr lang="en-US" sz="1700" dirty="0">
                <a:solidFill>
                  <a:srgbClr val="000000"/>
                </a:solidFill>
              </a:rPr>
              <a:t>sales mix is used to compute the weighted-average contribution margin ratio, or contribution margin as a percentage of sales.</a:t>
            </a:r>
          </a:p>
        </p:txBody>
      </p:sp>
      <p:sp>
        <p:nvSpPr>
          <p:cNvPr id="13"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35436" y="590635"/>
            <a:ext cx="4108564"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Stock numbers on a digital display">
            <a:extLst>
              <a:ext uri="{FF2B5EF4-FFF2-40B4-BE49-F238E27FC236}">
                <a16:creationId xmlns:a16="http://schemas.microsoft.com/office/drawing/2014/main" id="{986627AB-C36C-410F-B2D8-5E26DA18A1B5}"/>
              </a:ext>
            </a:extLst>
          </p:cNvPr>
          <p:cNvPicPr>
            <a:picLocks noChangeAspect="1"/>
          </p:cNvPicPr>
          <p:nvPr/>
        </p:nvPicPr>
        <p:blipFill rotWithShape="1">
          <a:blip r:embed="rId4"/>
          <a:srcRect l="42793" r="19242" b="-1"/>
          <a:stretch/>
        </p:blipFill>
        <p:spPr>
          <a:xfrm>
            <a:off x="5169988" y="770037"/>
            <a:ext cx="3974012"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Tree>
    <p:extLst>
      <p:ext uri="{BB962C8B-B14F-4D97-AF65-F5344CB8AC3E}">
        <p14:creationId xmlns:p14="http://schemas.microsoft.com/office/powerpoint/2010/main" val="269318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228600"/>
            <a:ext cx="8534400" cy="1143000"/>
          </a:xfrm>
        </p:spPr>
        <p:txBody>
          <a:bodyPr/>
          <a:lstStyle/>
          <a:p>
            <a:r>
              <a:rPr lang="en-US" dirty="0"/>
              <a:t>Weighted-Average Contribution Margin</a:t>
            </a:r>
          </a:p>
        </p:txBody>
      </p:sp>
      <p:sp>
        <p:nvSpPr>
          <p:cNvPr id="2" name="Content Placeholder 1"/>
          <p:cNvSpPr>
            <a:spLocks noGrp="1"/>
          </p:cNvSpPr>
          <p:nvPr>
            <p:ph type="body" sz="quarter" idx="10"/>
          </p:nvPr>
        </p:nvSpPr>
        <p:spPr>
          <a:xfrm>
            <a:off x="381000" y="1600200"/>
            <a:ext cx="8382000" cy="838200"/>
          </a:xfrm>
        </p:spPr>
        <p:txBody>
          <a:bodyPr/>
          <a:lstStyle/>
          <a:p>
            <a:pPr>
              <a:buClr>
                <a:srgbClr val="000000"/>
              </a:buClr>
              <a:buSzPct val="100000"/>
            </a:pPr>
            <a:r>
              <a:rPr lang="en-US" sz="2400" dirty="0"/>
              <a:t>Let’s extend our example by assuming that Starbucks sells two products: coffee and pastries.</a:t>
            </a:r>
          </a:p>
        </p:txBody>
      </p:sp>
      <p:sp>
        <p:nvSpPr>
          <p:cNvPr id="6"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sp>
        <p:nvSpPr>
          <p:cNvPr id="3" name="Content Placeholder 2"/>
          <p:cNvSpPr>
            <a:spLocks noGrp="1"/>
          </p:cNvSpPr>
          <p:nvPr>
            <p:ph type="body" sz="quarter" idx="12"/>
          </p:nvPr>
        </p:nvSpPr>
        <p:spPr>
          <a:xfrm>
            <a:off x="533400" y="4114800"/>
            <a:ext cx="8077200" cy="2286000"/>
          </a:xfrm>
        </p:spPr>
        <p:txBody>
          <a:bodyPr/>
          <a:lstStyle/>
          <a:p>
            <a:pPr>
              <a:buClr>
                <a:srgbClr val="000000"/>
              </a:buClr>
              <a:buSzPct val="100000"/>
            </a:pPr>
            <a:r>
              <a:rPr lang="en-US" sz="2400" dirty="0"/>
              <a:t>Notice a lower unit contribution margin for coffee, $1.50, than pastries, $2.75.</a:t>
            </a:r>
          </a:p>
        </p:txBody>
      </p:sp>
      <p:graphicFrame>
        <p:nvGraphicFramePr>
          <p:cNvPr id="9" name="Table 8" descr="Sales price of Coffee is $2.50; pastries $4.00&#10;Less variable costs: Coffee is 1.00, pastries are 1.25&#10;Unit contribution margin: Coffee is $1.50; pastries are $2.75." title="Table of Weighted-Average Contribution Margin"/>
          <p:cNvGraphicFramePr>
            <a:graphicFrameLocks noGrp="1"/>
          </p:cNvGraphicFramePr>
          <p:nvPr>
            <p:extLst>
              <p:ext uri="{D42A27DB-BD31-4B8C-83A1-F6EECF244321}">
                <p14:modId xmlns:p14="http://schemas.microsoft.com/office/powerpoint/2010/main" val="1916377587"/>
              </p:ext>
            </p:extLst>
          </p:nvPr>
        </p:nvGraphicFramePr>
        <p:xfrm>
          <a:off x="1371600" y="2590800"/>
          <a:ext cx="6324600" cy="1285240"/>
        </p:xfrm>
        <a:graphic>
          <a:graphicData uri="http://schemas.openxmlformats.org/drawingml/2006/table">
            <a:tbl>
              <a:tblPr firstRow="1" bandRow="1">
                <a:tableStyleId>{5940675A-B579-460E-94D1-54222C63F5DA}</a:tableStyleId>
              </a:tblPr>
              <a:tblGrid>
                <a:gridCol w="3385529">
                  <a:extLst>
                    <a:ext uri="{9D8B030D-6E8A-4147-A177-3AD203B41FA5}">
                      <a16:colId xmlns:a16="http://schemas.microsoft.com/office/drawing/2014/main" val="20000"/>
                    </a:ext>
                  </a:extLst>
                </a:gridCol>
                <a:gridCol w="1403097">
                  <a:extLst>
                    <a:ext uri="{9D8B030D-6E8A-4147-A177-3AD203B41FA5}">
                      <a16:colId xmlns:a16="http://schemas.microsoft.com/office/drawing/2014/main" val="20001"/>
                    </a:ext>
                  </a:extLst>
                </a:gridCol>
                <a:gridCol w="1535974">
                  <a:extLst>
                    <a:ext uri="{9D8B030D-6E8A-4147-A177-3AD203B41FA5}">
                      <a16:colId xmlns:a16="http://schemas.microsoft.com/office/drawing/2014/main" val="20002"/>
                    </a:ext>
                  </a:extLst>
                </a:gridCol>
              </a:tblGrid>
              <a:tr h="370840">
                <a:tc>
                  <a:txBody>
                    <a:bodyPr/>
                    <a:lstStyle/>
                    <a:p>
                      <a:pPr algn="ctr"/>
                      <a:endParaRPr lang="en-US"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solidFill>
                      <a:srgbClr val="000000"/>
                    </a:solidFill>
                  </a:tcPr>
                </a:tc>
                <a:tc>
                  <a:txBody>
                    <a:bodyPr/>
                    <a:lstStyle/>
                    <a:p>
                      <a:pPr algn="ctr"/>
                      <a:r>
                        <a:rPr lang="en-US" sz="1500" b="1" dirty="0">
                          <a:solidFill>
                            <a:schemeClr val="bg1"/>
                          </a:solidFill>
                          <a:latin typeface="Verdana" panose="020B0604030504040204" pitchFamily="34" charset="0"/>
                          <a:ea typeface="Verdana" panose="020B0604030504040204" pitchFamily="34" charset="0"/>
                          <a:cs typeface="Verdana" panose="020B0604030504040204" pitchFamily="34" charset="0"/>
                        </a:rPr>
                        <a:t>Coffee</a:t>
                      </a:r>
                    </a:p>
                  </a:txBody>
                  <a:tcPr>
                    <a:solidFill>
                      <a:srgbClr val="000000"/>
                    </a:solidFill>
                  </a:tcPr>
                </a:tc>
                <a:tc>
                  <a:txBody>
                    <a:bodyPr/>
                    <a:lstStyle/>
                    <a:p>
                      <a:pPr algn="ctr"/>
                      <a:r>
                        <a:rPr lang="en-US" sz="1500" b="1" dirty="0">
                          <a:solidFill>
                            <a:schemeClr val="bg1"/>
                          </a:solidFill>
                          <a:latin typeface="Verdana" panose="020B0604030504040204" pitchFamily="34" charset="0"/>
                          <a:ea typeface="Verdana" panose="020B0604030504040204" pitchFamily="34" charset="0"/>
                          <a:cs typeface="Verdana" panose="020B0604030504040204" pitchFamily="34" charset="0"/>
                        </a:rPr>
                        <a:t>Pastries</a:t>
                      </a:r>
                    </a:p>
                  </a:txBody>
                  <a:tcPr>
                    <a:solidFill>
                      <a:srgbClr val="000000"/>
                    </a:solidFill>
                  </a:tcPr>
                </a:tc>
                <a:extLst>
                  <a:ext uri="{0D108BD9-81ED-4DB2-BD59-A6C34878D82A}">
                    <a16:rowId xmlns:a16="http://schemas.microsoft.com/office/drawing/2014/main" val="10000"/>
                  </a:ext>
                </a:extLst>
              </a:tr>
              <a:tr h="304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Verdana" panose="020B0604030504040204" pitchFamily="34" charset="0"/>
                          <a:ea typeface="Verdana" panose="020B0604030504040204" pitchFamily="34" charset="0"/>
                          <a:cs typeface="Verdana" panose="020B0604030504040204" pitchFamily="34" charset="0"/>
                        </a:rPr>
                        <a:t>Sales price</a:t>
                      </a:r>
                    </a:p>
                  </a:txBody>
                  <a:tcP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$2.50</a:t>
                      </a:r>
                    </a:p>
                  </a:txBody>
                  <a:tcP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$4.00</a:t>
                      </a:r>
                    </a:p>
                  </a:txBody>
                  <a:tcPr/>
                </a:tc>
                <a:extLst>
                  <a:ext uri="{0D108BD9-81ED-4DB2-BD59-A6C34878D82A}">
                    <a16:rowId xmlns:a16="http://schemas.microsoft.com/office/drawing/2014/main" val="10001"/>
                  </a:ext>
                </a:extLst>
              </a:tr>
              <a:tr h="304800">
                <a:tc>
                  <a:txBody>
                    <a:bodyPr/>
                    <a:lstStyle/>
                    <a:p>
                      <a:r>
                        <a:rPr lang="en-US" sz="1400" dirty="0">
                          <a:latin typeface="Verdana" panose="020B0604030504040204" pitchFamily="34" charset="0"/>
                          <a:ea typeface="Verdana" panose="020B0604030504040204" pitchFamily="34" charset="0"/>
                          <a:cs typeface="Verdana" panose="020B0604030504040204" pitchFamily="34" charset="0"/>
                        </a:rPr>
                        <a:t>Less: Variable costs</a:t>
                      </a:r>
                    </a:p>
                  </a:txBody>
                  <a:tcP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 </a:t>
                      </a:r>
                      <a:r>
                        <a:rPr lang="en-US" sz="1400" baseline="0" dirty="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1.00</a:t>
                      </a:r>
                    </a:p>
                  </a:txBody>
                  <a:tcP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 </a:t>
                      </a:r>
                      <a:r>
                        <a:rPr lang="en-US" sz="1400" baseline="0" dirty="0">
                          <a:latin typeface="Verdana" panose="020B0604030504040204" pitchFamily="34" charset="0"/>
                          <a:ea typeface="Verdana" panose="020B0604030504040204" pitchFamily="34" charset="0"/>
                          <a:cs typeface="Verdana" panose="020B0604030504040204" pitchFamily="34" charset="0"/>
                        </a:rPr>
                        <a:t> </a:t>
                      </a:r>
                      <a:r>
                        <a:rPr lang="en-US" sz="1400" dirty="0">
                          <a:latin typeface="Verdana" panose="020B0604030504040204" pitchFamily="34" charset="0"/>
                          <a:ea typeface="Verdana" panose="020B0604030504040204" pitchFamily="34" charset="0"/>
                          <a:cs typeface="Verdana" panose="020B0604030504040204" pitchFamily="34" charset="0"/>
                        </a:rPr>
                        <a:t>1.25</a:t>
                      </a:r>
                    </a:p>
                  </a:txBody>
                  <a:tcPr/>
                </a:tc>
                <a:extLst>
                  <a:ext uri="{0D108BD9-81ED-4DB2-BD59-A6C34878D82A}">
                    <a16:rowId xmlns:a16="http://schemas.microsoft.com/office/drawing/2014/main" val="10002"/>
                  </a:ext>
                </a:extLst>
              </a:tr>
              <a:tr h="304800">
                <a:tc>
                  <a:txBody>
                    <a:bodyPr/>
                    <a:lstStyle/>
                    <a:p>
                      <a:pPr marL="0" indent="0"/>
                      <a:r>
                        <a:rPr lang="en-US" sz="1400" dirty="0">
                          <a:latin typeface="Verdana" panose="020B0604030504040204" pitchFamily="34" charset="0"/>
                          <a:ea typeface="Verdana" panose="020B0604030504040204" pitchFamily="34" charset="0"/>
                          <a:cs typeface="Verdana" panose="020B0604030504040204" pitchFamily="34" charset="0"/>
                        </a:rPr>
                        <a:t>Unit contribution margin</a:t>
                      </a:r>
                    </a:p>
                  </a:txBody>
                  <a:tcPr/>
                </a:tc>
                <a:tc>
                  <a:txBody>
                    <a:bodyPr/>
                    <a:lstStyle/>
                    <a:p>
                      <a:pPr algn="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$1.50</a:t>
                      </a:r>
                    </a:p>
                  </a:txBody>
                  <a:tcPr>
                    <a:noFill/>
                  </a:tcPr>
                </a:tc>
                <a:tc>
                  <a:txBody>
                    <a:bodyPr/>
                    <a:lstStyle/>
                    <a:p>
                      <a:pPr algn="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$2.75</a:t>
                      </a:r>
                    </a:p>
                  </a:txBody>
                  <a:tcP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652545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1"/>
          <p:cNvSpPr>
            <a:spLocks noGrp="1"/>
          </p:cNvSpPr>
          <p:nvPr>
            <p:ph type="title"/>
          </p:nvPr>
        </p:nvSpPr>
        <p:spPr>
          <a:xfrm>
            <a:off x="304800" y="228600"/>
            <a:ext cx="8534400" cy="1143000"/>
          </a:xfrm>
        </p:spPr>
        <p:txBody>
          <a:bodyPr>
            <a:noAutofit/>
          </a:bodyPr>
          <a:lstStyle/>
          <a:p>
            <a:pPr eaLnBrk="1" fontAlgn="auto" hangingPunct="1">
              <a:spcAft>
                <a:spcPts val="0"/>
              </a:spcAft>
              <a:defRPr/>
            </a:pPr>
            <a:r>
              <a:rPr lang="en-US" dirty="0"/>
              <a:t>Weighted-Average Contribution Margin</a:t>
            </a:r>
          </a:p>
        </p:txBody>
      </p:sp>
      <p:sp>
        <p:nvSpPr>
          <p:cNvPr id="2" name="Content Placeholder 1"/>
          <p:cNvSpPr>
            <a:spLocks noGrp="1"/>
          </p:cNvSpPr>
          <p:nvPr>
            <p:ph type="body" sz="quarter" idx="10"/>
          </p:nvPr>
        </p:nvSpPr>
        <p:spPr>
          <a:xfrm>
            <a:off x="457200" y="1589087"/>
            <a:ext cx="8229600" cy="1611313"/>
          </a:xfrm>
        </p:spPr>
        <p:txBody>
          <a:bodyPr/>
          <a:lstStyle/>
          <a:p>
            <a:r>
              <a:rPr lang="en-US" sz="2400" dirty="0"/>
              <a:t>The management at Starbucks estimates that 60% of units sold are coffee and 40% pastries.  Based on this product mix, we can calculate the weighted-average unit contribution margin.</a:t>
            </a:r>
          </a:p>
        </p:txBody>
      </p:sp>
      <p:sp>
        <p:nvSpPr>
          <p:cNvPr id="6"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sp>
        <p:nvSpPr>
          <p:cNvPr id="9" name="Content Placeholder 3"/>
          <p:cNvSpPr>
            <a:spLocks noGrp="1"/>
          </p:cNvSpPr>
          <p:nvPr>
            <p:ph type="body" sz="quarter" idx="12"/>
          </p:nvPr>
        </p:nvSpPr>
        <p:spPr>
          <a:xfrm>
            <a:off x="457200" y="5257800"/>
            <a:ext cx="8229600" cy="914400"/>
          </a:xfr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sz="2400" dirty="0"/>
              <a:t>Weighted–average unit contribution margin = $0.90 + $1.10 = $2.00</a:t>
            </a:r>
          </a:p>
        </p:txBody>
      </p:sp>
      <p:graphicFrame>
        <p:nvGraphicFramePr>
          <p:cNvPr id="7" name="Table 6" descr="Unit contribution margin for coffee $1.50, pastries $2.75&#10;Unit mix by weight: Coffee, multiply by 60% and total is 90 cents.  Pastries are multiplied by 40% and total $1.10." title="Table of Weighted Average per unit"/>
          <p:cNvGraphicFramePr>
            <a:graphicFrameLocks noGrp="1"/>
          </p:cNvGraphicFramePr>
          <p:nvPr>
            <p:extLst>
              <p:ext uri="{D42A27DB-BD31-4B8C-83A1-F6EECF244321}">
                <p14:modId xmlns:p14="http://schemas.microsoft.com/office/powerpoint/2010/main" val="3009336490"/>
              </p:ext>
            </p:extLst>
          </p:nvPr>
        </p:nvGraphicFramePr>
        <p:xfrm>
          <a:off x="1676400" y="3352800"/>
          <a:ext cx="5715001" cy="1600200"/>
        </p:xfrm>
        <a:graphic>
          <a:graphicData uri="http://schemas.openxmlformats.org/drawingml/2006/table">
            <a:tbl>
              <a:tblPr firstRow="1" bandRow="1">
                <a:tableStyleId>{5940675A-B579-460E-94D1-54222C63F5DA}</a:tableStyleId>
              </a:tblPr>
              <a:tblGrid>
                <a:gridCol w="3059213">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12788">
                  <a:extLst>
                    <a:ext uri="{9D8B030D-6E8A-4147-A177-3AD203B41FA5}">
                      <a16:colId xmlns:a16="http://schemas.microsoft.com/office/drawing/2014/main" val="20002"/>
                    </a:ext>
                  </a:extLst>
                </a:gridCol>
              </a:tblGrid>
              <a:tr h="458096">
                <a:tc>
                  <a:txBody>
                    <a:bodyPr/>
                    <a:lstStyle/>
                    <a:p>
                      <a:pPr algn="ctr"/>
                      <a:endPar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solidFill>
                      <a:srgbClr val="000000"/>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rPr>
                        <a:t>Coffee</a:t>
                      </a:r>
                    </a:p>
                  </a:txBody>
                  <a:tcPr anchor="ctr">
                    <a:solidFill>
                      <a:srgbClr val="000000"/>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rPr>
                        <a:t>Pastries</a:t>
                      </a:r>
                    </a:p>
                  </a:txBody>
                  <a:tcPr anchor="ctr">
                    <a:solidFill>
                      <a:srgbClr val="000000"/>
                    </a:solidFill>
                  </a:tcPr>
                </a:tc>
                <a:extLst>
                  <a:ext uri="{0D108BD9-81ED-4DB2-BD59-A6C34878D82A}">
                    <a16:rowId xmlns:a16="http://schemas.microsoft.com/office/drawing/2014/main" val="10000"/>
                  </a:ext>
                </a:extLst>
              </a:tr>
              <a:tr h="37651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Verdana" panose="020B0604030504040204" pitchFamily="34" charset="0"/>
                          <a:ea typeface="Verdana" panose="020B0604030504040204" pitchFamily="34" charset="0"/>
                          <a:cs typeface="Verdana" panose="020B0604030504040204" pitchFamily="34" charset="0"/>
                        </a:rPr>
                        <a:t>Unit contribution</a:t>
                      </a:r>
                      <a:r>
                        <a:rPr lang="en-US" sz="1400" baseline="0" dirty="0">
                          <a:latin typeface="Verdana" panose="020B0604030504040204" pitchFamily="34" charset="0"/>
                          <a:ea typeface="Verdana" panose="020B0604030504040204" pitchFamily="34" charset="0"/>
                          <a:cs typeface="Verdana" panose="020B0604030504040204" pitchFamily="34" charset="0"/>
                        </a:rPr>
                        <a:t> margin</a:t>
                      </a:r>
                      <a:endParaRPr lang="en-US" sz="1400" dirty="0">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$1.50</a:t>
                      </a:r>
                    </a:p>
                  </a:txBody>
                  <a:tcPr anchor="ct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$2.75</a:t>
                      </a:r>
                    </a:p>
                  </a:txBody>
                  <a:tcPr anchor="ctr"/>
                </a:tc>
                <a:extLst>
                  <a:ext uri="{0D108BD9-81ED-4DB2-BD59-A6C34878D82A}">
                    <a16:rowId xmlns:a16="http://schemas.microsoft.com/office/drawing/2014/main" val="10001"/>
                  </a:ext>
                </a:extLst>
              </a:tr>
              <a:tr h="376518">
                <a:tc>
                  <a:txBody>
                    <a:bodyPr/>
                    <a:lstStyle/>
                    <a:p>
                      <a:r>
                        <a:rPr lang="en-US" sz="1400" dirty="0">
                          <a:latin typeface="Verdana" panose="020B0604030504040204" pitchFamily="34" charset="0"/>
                          <a:ea typeface="Verdana" panose="020B0604030504040204" pitchFamily="34" charset="0"/>
                          <a:cs typeface="Verdana" panose="020B0604030504040204" pitchFamily="34" charset="0"/>
                        </a:rPr>
                        <a:t>Unit mix (weight)</a:t>
                      </a:r>
                    </a:p>
                  </a:txBody>
                  <a:tcPr anchor="ctr">
                    <a:lnB w="12700" cap="flat" cmpd="sng" algn="ctr">
                      <a:solidFill>
                        <a:schemeClr val="tx1"/>
                      </a:solidFill>
                      <a:prstDash val="solid"/>
                      <a:round/>
                      <a:headEnd type="none" w="med" len="med"/>
                      <a:tailEnd type="none" w="med" len="med"/>
                    </a:lnB>
                  </a:tcP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 60%</a:t>
                      </a:r>
                    </a:p>
                  </a:txBody>
                  <a:tcPr anchor="ctr">
                    <a:lnB w="12700" cap="flat" cmpd="sng" algn="ctr">
                      <a:solidFill>
                        <a:schemeClr val="tx1"/>
                      </a:solidFill>
                      <a:prstDash val="solid"/>
                      <a:round/>
                      <a:headEnd type="none" w="med" len="med"/>
                      <a:tailEnd type="none" w="med" len="med"/>
                    </a:lnB>
                  </a:tcPr>
                </a:tc>
                <a:tc>
                  <a:txBody>
                    <a:bodyPr/>
                    <a:lstStyle/>
                    <a:p>
                      <a:pPr algn="r"/>
                      <a:r>
                        <a:rPr lang="en-US" sz="1400" dirty="0">
                          <a:latin typeface="Verdana" panose="020B0604030504040204" pitchFamily="34" charset="0"/>
                          <a:ea typeface="Verdana" panose="020B0604030504040204" pitchFamily="34" charset="0"/>
                          <a:cs typeface="Verdana" panose="020B0604030504040204" pitchFamily="34" charset="0"/>
                        </a:rPr>
                        <a:t>× 40%</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9068">
                <a:tc>
                  <a:txBody>
                    <a:bodyPr/>
                    <a:lstStyle/>
                    <a:p>
                      <a:pPr marL="0" indent="0"/>
                      <a:endParaRPr lang="en-US" sz="1400" dirty="0">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b="1" dirty="0">
                          <a:solidFill>
                            <a:srgbClr val="000000"/>
                          </a:solidFill>
                          <a:latin typeface="Verdana" panose="020B0604030504040204" pitchFamily="34" charset="0"/>
                          <a:ea typeface="Verdana" panose="020B0604030504040204" pitchFamily="34" charset="0"/>
                          <a:cs typeface="Verdana" panose="020B0604030504040204" pitchFamily="34" charset="0"/>
                        </a:rPr>
                        <a:t>$0.90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400" b="1" dirty="0">
                          <a:solidFill>
                            <a:srgbClr val="000000"/>
                          </a:solidFill>
                          <a:latin typeface="Verdana" panose="020B0604030504040204" pitchFamily="34" charset="0"/>
                          <a:ea typeface="Verdana" panose="020B0604030504040204" pitchFamily="34" charset="0"/>
                          <a:cs typeface="Verdana" panose="020B0604030504040204" pitchFamily="34" charset="0"/>
                        </a:rPr>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59403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228601"/>
            <a:ext cx="8534400" cy="685799"/>
          </a:xfrm>
        </p:spPr>
        <p:txBody>
          <a:bodyPr/>
          <a:lstStyle/>
          <a:p>
            <a:r>
              <a:rPr lang="en-US" dirty="0"/>
              <a:t>Break-Even Analysis</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457200" y="1524000"/>
                <a:ext cx="8229600" cy="4114800"/>
              </a:xfrm>
            </p:spPr>
            <p:txBody>
              <a:bodyPr/>
              <a:lstStyle/>
              <a:p>
                <a:pPr marL="0" indent="0">
                  <a:buNone/>
                </a:pPr>
                <a14:m>
                  <m:oMathPara xmlns:m="http://schemas.openxmlformats.org/officeDocument/2006/math">
                    <m:oMathParaPr>
                      <m:jc m:val="centerGroup"/>
                    </m:oMathParaPr>
                    <m:oMath xmlns:m="http://schemas.openxmlformats.org/officeDocument/2006/math">
                      <m:f>
                        <m:fPr>
                          <m:ctrlPr>
                            <a:rPr lang="en-US" sz="2100" i="1" smtClean="0">
                              <a:latin typeface="Cambria Math" panose="02040503050406030204" pitchFamily="18" charset="0"/>
                            </a:rPr>
                          </m:ctrlPr>
                        </m:fPr>
                        <m:num>
                          <m:r>
                            <m:rPr>
                              <m:sty m:val="p"/>
                            </m:rPr>
                            <a:rPr lang="en-US" sz="2100">
                              <a:latin typeface="Cambria Math" panose="02040503050406030204" pitchFamily="18" charset="0"/>
                            </a:rPr>
                            <m:t>Total</m:t>
                          </m:r>
                          <m:r>
                            <a:rPr lang="en-US" sz="2100">
                              <a:latin typeface="Cambria Math" panose="02040503050406030204" pitchFamily="18" charset="0"/>
                            </a:rPr>
                            <m:t> </m:t>
                          </m:r>
                          <m:r>
                            <m:rPr>
                              <m:sty m:val="p"/>
                            </m:rPr>
                            <a:rPr lang="en-US" sz="2100">
                              <a:latin typeface="Cambria Math" panose="02040503050406030204" pitchFamily="18" charset="0"/>
                            </a:rPr>
                            <m:t>Fixed</m:t>
                          </m:r>
                          <m:r>
                            <a:rPr lang="en-US" sz="2100">
                              <a:latin typeface="Cambria Math" panose="02040503050406030204" pitchFamily="18" charset="0"/>
                            </a:rPr>
                            <m:t> </m:t>
                          </m:r>
                          <m:r>
                            <m:rPr>
                              <m:sty m:val="p"/>
                            </m:rPr>
                            <a:rPr lang="en-US" sz="2100">
                              <a:latin typeface="Cambria Math" panose="02040503050406030204" pitchFamily="18" charset="0"/>
                            </a:rPr>
                            <m:t>Costs</m:t>
                          </m:r>
                          <m:r>
                            <a:rPr lang="en-US" sz="2100">
                              <a:latin typeface="Cambria Math" panose="02040503050406030204" pitchFamily="18" charset="0"/>
                            </a:rPr>
                            <m:t> </m:t>
                          </m:r>
                        </m:num>
                        <m:den>
                          <m:r>
                            <m:rPr>
                              <m:sty m:val="p"/>
                            </m:rPr>
                            <a:rPr lang="en-US" sz="2100">
                              <a:latin typeface="Cambria Math" panose="02040503050406030204" pitchFamily="18" charset="0"/>
                            </a:rPr>
                            <m:t>Weighted</m:t>
                          </m:r>
                          <m:r>
                            <a:rPr lang="en-US" sz="2100" b="0" i="1" smtClean="0">
                              <a:latin typeface="Cambria Math" panose="02040503050406030204" pitchFamily="18" charset="0"/>
                            </a:rPr>
                            <m:t> </m:t>
                          </m:r>
                          <m:r>
                            <m:rPr>
                              <m:sty m:val="p"/>
                            </m:rPr>
                            <a:rPr lang="en-US" sz="2100">
                              <a:latin typeface="Cambria Math" panose="02040503050406030204" pitchFamily="18" charset="0"/>
                            </a:rPr>
                            <m:t>Average</m:t>
                          </m:r>
                          <m:r>
                            <a:rPr lang="en-US" sz="2100">
                              <a:latin typeface="Cambria Math" panose="02040503050406030204" pitchFamily="18" charset="0"/>
                            </a:rPr>
                            <m:t> </m:t>
                          </m:r>
                          <m:r>
                            <m:rPr>
                              <m:sty m:val="p"/>
                            </m:rPr>
                            <a:rPr lang="en-US" sz="2100">
                              <a:latin typeface="Cambria Math" panose="02040503050406030204" pitchFamily="18" charset="0"/>
                            </a:rPr>
                            <m:t>Unit</m:t>
                          </m:r>
                          <m:r>
                            <a:rPr lang="en-US" sz="2100">
                              <a:latin typeface="Cambria Math" panose="02040503050406030204" pitchFamily="18" charset="0"/>
                            </a:rPr>
                            <m:t> </m:t>
                          </m:r>
                          <m:r>
                            <m:rPr>
                              <m:sty m:val="p"/>
                            </m:rPr>
                            <a:rPr lang="en-US" sz="2100">
                              <a:latin typeface="Cambria Math" panose="02040503050406030204" pitchFamily="18" charset="0"/>
                            </a:rPr>
                            <m:t>Contribution</m:t>
                          </m:r>
                          <m:r>
                            <a:rPr lang="en-US" sz="2100">
                              <a:latin typeface="Cambria Math" panose="02040503050406030204" pitchFamily="18" charset="0"/>
                            </a:rPr>
                            <m:t> </m:t>
                          </m:r>
                          <m:r>
                            <m:rPr>
                              <m:sty m:val="p"/>
                            </m:rPr>
                            <a:rPr lang="en-US" sz="2100">
                              <a:latin typeface="Cambria Math" panose="02040503050406030204" pitchFamily="18" charset="0"/>
                            </a:rPr>
                            <m:t>Margin</m:t>
                          </m:r>
                        </m:den>
                      </m:f>
                      <m:r>
                        <a:rPr lang="en-US" sz="2100">
                          <a:latin typeface="Cambria Math" panose="02040503050406030204" pitchFamily="18" charset="0"/>
                        </a:rPr>
                        <m:t>= </m:t>
                      </m:r>
                      <m:r>
                        <m:rPr>
                          <m:sty m:val="p"/>
                        </m:rPr>
                        <a:rPr lang="en-US" sz="2100">
                          <a:latin typeface="Cambria Math" panose="02040503050406030204" pitchFamily="18" charset="0"/>
                        </a:rPr>
                        <m:t>Break</m:t>
                      </m:r>
                      <m:r>
                        <a:rPr lang="en-US" sz="2100" b="0" i="1" smtClean="0">
                          <a:latin typeface="Cambria Math" panose="02040503050406030204" pitchFamily="18" charset="0"/>
                        </a:rPr>
                        <m:t> </m:t>
                      </m:r>
                      <m:r>
                        <m:rPr>
                          <m:sty m:val="p"/>
                        </m:rPr>
                        <a:rPr lang="en-US" sz="2100">
                          <a:latin typeface="Cambria Math" panose="02040503050406030204" pitchFamily="18" charset="0"/>
                        </a:rPr>
                        <m:t>Even</m:t>
                      </m:r>
                      <m:r>
                        <a:rPr lang="en-US" sz="2100">
                          <a:latin typeface="Cambria Math" panose="02040503050406030204" pitchFamily="18" charset="0"/>
                        </a:rPr>
                        <m:t> </m:t>
                      </m:r>
                      <m:r>
                        <m:rPr>
                          <m:sty m:val="p"/>
                        </m:rPr>
                        <a:rPr lang="en-US" sz="2100">
                          <a:latin typeface="Cambria Math" panose="02040503050406030204" pitchFamily="18" charset="0"/>
                        </a:rPr>
                        <m:t>Units</m:t>
                      </m:r>
                      <m:r>
                        <a:rPr lang="en-US" sz="2100">
                          <a:latin typeface="Cambria Math" panose="02040503050406030204" pitchFamily="18" charset="0"/>
                        </a:rPr>
                        <m:t> </m:t>
                      </m:r>
                    </m:oMath>
                  </m:oMathPara>
                </a14:m>
                <a:endParaRPr lang="en-US" sz="21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$12,000</m:t>
                          </m:r>
                        </m:num>
                        <m:den>
                          <m:r>
                            <a:rPr lang="en-US">
                              <a:latin typeface="Cambria Math" panose="02040503050406030204" pitchFamily="18" charset="0"/>
                            </a:rPr>
                            <m:t>$2.00</m:t>
                          </m:r>
                        </m:den>
                      </m:f>
                      <m:r>
                        <a:rPr lang="en-US">
                          <a:latin typeface="Cambria Math" panose="02040503050406030204" pitchFamily="18" charset="0"/>
                        </a:rPr>
                        <m:t>=</m:t>
                      </m:r>
                      <m:r>
                        <a:rPr lang="en-US" b="0" i="1" smtClean="0">
                          <a:latin typeface="Cambria Math" panose="02040503050406030204" pitchFamily="18" charset="0"/>
                        </a:rPr>
                        <m:t>6,000 </m:t>
                      </m:r>
                      <m:r>
                        <m:rPr>
                          <m:sty m:val="p"/>
                        </m:rPr>
                        <a:rPr lang="en-US">
                          <a:latin typeface="Cambria Math" panose="02040503050406030204" pitchFamily="18" charset="0"/>
                        </a:rPr>
                        <m:t>Units</m:t>
                      </m:r>
                      <m:r>
                        <a:rPr lang="en-US">
                          <a:latin typeface="Cambria Math" panose="02040503050406030204" pitchFamily="18" charset="0"/>
                        </a:rPr>
                        <m:t> </m:t>
                      </m:r>
                    </m:oMath>
                  </m:oMathPara>
                </a14:m>
                <a:endParaRPr lang="en-US" dirty="0"/>
              </a:p>
              <a:p>
                <a:pPr marL="0" indent="0">
                  <a:buNone/>
                </a:pPr>
                <a:endParaRPr lang="en-US" sz="2400" dirty="0"/>
              </a:p>
              <a:p>
                <a:pPr marL="0" indent="0">
                  <a:buNone/>
                </a:pPr>
                <a:r>
                  <a:rPr lang="en-US" sz="2400" dirty="0"/>
                  <a:t>Coffee Units = 6,000 × 60% = 3,600</a:t>
                </a:r>
              </a:p>
              <a:p>
                <a:pPr marL="0" indent="0">
                  <a:buNone/>
                </a:pPr>
                <a:r>
                  <a:rPr lang="en-US" sz="2400" dirty="0"/>
                  <a:t>Pastry Units = 6,000 × 40% = 2,400</a:t>
                </a:r>
              </a:p>
              <a:p>
                <a:pPr marL="0" indent="0">
                  <a:buNone/>
                </a:pPr>
                <a:endParaRPr lang="en-US" sz="2400" dirty="0"/>
              </a:p>
              <a:p>
                <a:pPr marL="0" indent="0">
                  <a:buNone/>
                </a:pPr>
                <a:endParaRPr lang="en-US" sz="2400" dirty="0"/>
              </a:p>
              <a:p>
                <a:pPr marL="0" indent="0">
                  <a:buNone/>
                </a:pPr>
                <a:endParaRPr lang="en-US" sz="2400" dirty="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457200" y="1524000"/>
                <a:ext cx="8229600" cy="4114800"/>
              </a:xfrm>
              <a:blipFill>
                <a:blip r:embed="rId3"/>
                <a:stretch>
                  <a:fillRect l="-1235"/>
                </a:stretch>
              </a:blipFill>
            </p:spPr>
            <p:txBody>
              <a:bodyPr/>
              <a:lstStyle/>
              <a:p>
                <a:r>
                  <a:rPr lang="en-CN">
                    <a:noFill/>
                  </a:rPr>
                  <a:t> </a:t>
                </a:r>
              </a:p>
            </p:txBody>
          </p:sp>
        </mc:Fallback>
      </mc:AlternateContent>
    </p:spTree>
    <p:extLst>
      <p:ext uri="{BB962C8B-B14F-4D97-AF65-F5344CB8AC3E}">
        <p14:creationId xmlns:p14="http://schemas.microsoft.com/office/powerpoint/2010/main" val="237669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1"/>
          <p:cNvSpPr>
            <a:spLocks noGrp="1"/>
          </p:cNvSpPr>
          <p:nvPr>
            <p:ph type="title"/>
          </p:nvPr>
        </p:nvSpPr>
        <p:spPr>
          <a:xfrm>
            <a:off x="304800" y="228600"/>
            <a:ext cx="8534400" cy="685800"/>
          </a:xfrm>
        </p:spPr>
        <p:txBody>
          <a:bodyPr>
            <a:noAutofit/>
          </a:bodyPr>
          <a:lstStyle/>
          <a:p>
            <a:pPr eaLnBrk="1" fontAlgn="auto" hangingPunct="1">
              <a:spcAft>
                <a:spcPts val="0"/>
              </a:spcAft>
              <a:defRPr/>
            </a:pPr>
            <a:r>
              <a:rPr lang="en-US" dirty="0"/>
              <a:t>Target Profit Analysis</a:t>
            </a:r>
          </a:p>
        </p:txBody>
      </p:sp>
      <p:sp>
        <p:nvSpPr>
          <p:cNvPr id="2" name="Content Placeholder 1"/>
          <p:cNvSpPr>
            <a:spLocks noGrp="1"/>
          </p:cNvSpPr>
          <p:nvPr>
            <p:ph type="body" sz="quarter" idx="10"/>
          </p:nvPr>
        </p:nvSpPr>
        <p:spPr>
          <a:xfrm>
            <a:off x="457200" y="1055687"/>
            <a:ext cx="8229600" cy="1916113"/>
          </a:xfrm>
        </p:spPr>
        <p:txBody>
          <a:bodyPr/>
          <a:lstStyle/>
          <a:p>
            <a:r>
              <a:rPr lang="en-US" sz="2400" dirty="0"/>
              <a:t>Let’s assume that four coffee drinks are served for every one pastry (or a 4 to 1 ratio). The new product mix is 80% coffee units and 20% pastry units.  Based on this product mix, we can calculate the weighted-average unit contribution margin.</a:t>
            </a:r>
          </a:p>
        </p:txBody>
      </p:sp>
      <p:sp>
        <p:nvSpPr>
          <p:cNvPr id="6" name="Text Placeholder 6"/>
          <p:cNvSpPr>
            <a:spLocks noGrp="1"/>
          </p:cNvSpPr>
          <p:nvPr>
            <p:ph type="body" sz="quarter" idx="11"/>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sp>
        <p:nvSpPr>
          <p:cNvPr id="9" name="Content Placeholder 3"/>
          <p:cNvSpPr>
            <a:spLocks noGrp="1"/>
          </p:cNvSpPr>
          <p:nvPr>
            <p:ph type="body" sz="quarter" idx="12"/>
          </p:nvPr>
        </p:nvSpPr>
        <p:spPr>
          <a:xfrm>
            <a:off x="457200" y="4876800"/>
            <a:ext cx="8229600" cy="914400"/>
          </a:xfr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sz="2400" dirty="0"/>
              <a:t>Weighted–average unit contribution margin = $1.20 + $0.55 = $1.75</a:t>
            </a:r>
          </a:p>
        </p:txBody>
      </p:sp>
      <p:graphicFrame>
        <p:nvGraphicFramePr>
          <p:cNvPr id="7" name="Table 6" descr="Unit contribution margin for coffee is $1.50; pastries are $2.75.&#10;Unit mix by weight: coffee is multiplied by 80% for a total of $1.20. Pastries are multiplied by 20% for a total of 55 cents." title="Table of Target Profit Analysis Coffee versus Pastries"/>
          <p:cNvGraphicFramePr>
            <a:graphicFrameLocks noGrp="1"/>
          </p:cNvGraphicFramePr>
          <p:nvPr>
            <p:extLst>
              <p:ext uri="{D42A27DB-BD31-4B8C-83A1-F6EECF244321}">
                <p14:modId xmlns:p14="http://schemas.microsoft.com/office/powerpoint/2010/main" val="1272177888"/>
              </p:ext>
            </p:extLst>
          </p:nvPr>
        </p:nvGraphicFramePr>
        <p:xfrm>
          <a:off x="1676400" y="3124200"/>
          <a:ext cx="5715001" cy="1600200"/>
        </p:xfrm>
        <a:graphic>
          <a:graphicData uri="http://schemas.openxmlformats.org/drawingml/2006/table">
            <a:tbl>
              <a:tblPr firstRow="1" bandRow="1">
                <a:tableStyleId>{5940675A-B579-460E-94D1-54222C63F5DA}</a:tableStyleId>
              </a:tblPr>
              <a:tblGrid>
                <a:gridCol w="3059213">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12788">
                  <a:extLst>
                    <a:ext uri="{9D8B030D-6E8A-4147-A177-3AD203B41FA5}">
                      <a16:colId xmlns:a16="http://schemas.microsoft.com/office/drawing/2014/main" val="20002"/>
                    </a:ext>
                  </a:extLst>
                </a:gridCol>
              </a:tblGrid>
              <a:tr h="458096">
                <a:tc>
                  <a:txBody>
                    <a:bodyPr/>
                    <a:lstStyle/>
                    <a:p>
                      <a:pPr algn="ctr"/>
                      <a:endPar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solidFill>
                      <a:srgbClr val="000000"/>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rPr>
                        <a:t>Coffee</a:t>
                      </a:r>
                    </a:p>
                  </a:txBody>
                  <a:tcPr anchor="ctr">
                    <a:solidFill>
                      <a:srgbClr val="000000"/>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rPr>
                        <a:t>Pastries</a:t>
                      </a:r>
                    </a:p>
                  </a:txBody>
                  <a:tcPr anchor="ctr">
                    <a:solidFill>
                      <a:srgbClr val="000000"/>
                    </a:solidFill>
                  </a:tcPr>
                </a:tc>
                <a:extLst>
                  <a:ext uri="{0D108BD9-81ED-4DB2-BD59-A6C34878D82A}">
                    <a16:rowId xmlns:a16="http://schemas.microsoft.com/office/drawing/2014/main" val="10000"/>
                  </a:ext>
                </a:extLst>
              </a:tr>
              <a:tr h="37651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Verdana" panose="020B0604030504040204" pitchFamily="34" charset="0"/>
                          <a:ea typeface="Verdana" panose="020B0604030504040204" pitchFamily="34" charset="0"/>
                          <a:cs typeface="Verdana" panose="020B0604030504040204" pitchFamily="34" charset="0"/>
                        </a:rPr>
                        <a:t>Unit contribution</a:t>
                      </a:r>
                      <a:r>
                        <a:rPr lang="en-US" sz="1800" baseline="0" dirty="0">
                          <a:latin typeface="Verdana" panose="020B0604030504040204" pitchFamily="34" charset="0"/>
                          <a:ea typeface="Verdana" panose="020B0604030504040204" pitchFamily="34" charset="0"/>
                          <a:cs typeface="Verdana" panose="020B0604030504040204" pitchFamily="34" charset="0"/>
                        </a:rPr>
                        <a:t> margin</a:t>
                      </a:r>
                      <a:endParaRPr lang="en-US" sz="1800" dirty="0">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algn="r"/>
                      <a:r>
                        <a:rPr lang="en-US" sz="1800" dirty="0">
                          <a:latin typeface="Verdana" panose="020B0604030504040204" pitchFamily="34" charset="0"/>
                          <a:ea typeface="Verdana" panose="020B0604030504040204" pitchFamily="34" charset="0"/>
                          <a:cs typeface="Verdana" panose="020B0604030504040204" pitchFamily="34" charset="0"/>
                        </a:rPr>
                        <a:t>$1.50</a:t>
                      </a:r>
                    </a:p>
                  </a:txBody>
                  <a:tcPr anchor="ctr"/>
                </a:tc>
                <a:tc>
                  <a:txBody>
                    <a:bodyPr/>
                    <a:lstStyle/>
                    <a:p>
                      <a:pPr algn="r"/>
                      <a:r>
                        <a:rPr lang="en-US" sz="1800" dirty="0">
                          <a:latin typeface="Verdana" panose="020B0604030504040204" pitchFamily="34" charset="0"/>
                          <a:ea typeface="Verdana" panose="020B0604030504040204" pitchFamily="34" charset="0"/>
                          <a:cs typeface="Verdana" panose="020B0604030504040204" pitchFamily="34" charset="0"/>
                        </a:rPr>
                        <a:t>$2.75</a:t>
                      </a:r>
                    </a:p>
                  </a:txBody>
                  <a:tcPr anchor="ctr"/>
                </a:tc>
                <a:extLst>
                  <a:ext uri="{0D108BD9-81ED-4DB2-BD59-A6C34878D82A}">
                    <a16:rowId xmlns:a16="http://schemas.microsoft.com/office/drawing/2014/main" val="10001"/>
                  </a:ext>
                </a:extLst>
              </a:tr>
              <a:tr h="376518">
                <a:tc>
                  <a:txBody>
                    <a:bodyPr/>
                    <a:lstStyle/>
                    <a:p>
                      <a:r>
                        <a:rPr lang="en-US" sz="1800" dirty="0">
                          <a:latin typeface="Verdana" panose="020B0604030504040204" pitchFamily="34" charset="0"/>
                          <a:ea typeface="Verdana" panose="020B0604030504040204" pitchFamily="34" charset="0"/>
                          <a:cs typeface="Verdana" panose="020B0604030504040204" pitchFamily="34" charset="0"/>
                        </a:rPr>
                        <a:t>Unit mix (weight)</a:t>
                      </a:r>
                    </a:p>
                  </a:txBody>
                  <a:tcPr anchor="ctr">
                    <a:lnB w="12700" cap="flat" cmpd="sng" algn="ctr">
                      <a:solidFill>
                        <a:schemeClr val="tx1"/>
                      </a:solidFill>
                      <a:prstDash val="solid"/>
                      <a:round/>
                      <a:headEnd type="none" w="med" len="med"/>
                      <a:tailEnd type="none" w="med" len="med"/>
                    </a:lnB>
                  </a:tcPr>
                </a:tc>
                <a:tc>
                  <a:txBody>
                    <a:bodyPr/>
                    <a:lstStyle/>
                    <a:p>
                      <a:pPr algn="r"/>
                      <a:r>
                        <a:rPr lang="en-US" sz="1800" dirty="0">
                          <a:latin typeface="Verdana" panose="020B0604030504040204" pitchFamily="34" charset="0"/>
                          <a:ea typeface="Verdana" panose="020B0604030504040204" pitchFamily="34" charset="0"/>
                          <a:cs typeface="Verdana" panose="020B0604030504040204" pitchFamily="34" charset="0"/>
                        </a:rPr>
                        <a:t>× 80%</a:t>
                      </a:r>
                    </a:p>
                  </a:txBody>
                  <a:tcPr anchor="ctr">
                    <a:lnB w="12700" cap="flat" cmpd="sng" algn="ctr">
                      <a:solidFill>
                        <a:schemeClr val="tx1"/>
                      </a:solidFill>
                      <a:prstDash val="solid"/>
                      <a:round/>
                      <a:headEnd type="none" w="med" len="med"/>
                      <a:tailEnd type="none" w="med" len="med"/>
                    </a:lnB>
                  </a:tcPr>
                </a:tc>
                <a:tc>
                  <a:txBody>
                    <a:bodyPr/>
                    <a:lstStyle/>
                    <a:p>
                      <a:pPr algn="r"/>
                      <a:r>
                        <a:rPr lang="en-US" sz="1800" dirty="0">
                          <a:latin typeface="Verdana" panose="020B0604030504040204" pitchFamily="34" charset="0"/>
                          <a:ea typeface="Verdana" panose="020B0604030504040204" pitchFamily="34" charset="0"/>
                          <a:cs typeface="Verdana" panose="020B0604030504040204" pitchFamily="34" charset="0"/>
                        </a:rPr>
                        <a:t>× 20%</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9068">
                <a:tc>
                  <a:txBody>
                    <a:bodyPr/>
                    <a:lstStyle/>
                    <a:p>
                      <a:pPr marL="0" indent="0"/>
                      <a:endParaRPr lang="en-US" sz="1800" dirty="0">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800" b="1" dirty="0">
                          <a:solidFill>
                            <a:srgbClr val="000000"/>
                          </a:solidFill>
                          <a:latin typeface="Verdana" panose="020B0604030504040204" pitchFamily="34" charset="0"/>
                          <a:ea typeface="Verdana" panose="020B0604030504040204" pitchFamily="34" charset="0"/>
                          <a:cs typeface="Verdana" panose="020B0604030504040204" pitchFamily="34" charset="0"/>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1" dirty="0">
                          <a:solidFill>
                            <a:srgbClr val="000000"/>
                          </a:solidFill>
                          <a:latin typeface="Verdana" panose="020B0604030504040204" pitchFamily="34" charset="0"/>
                          <a:ea typeface="Verdana" panose="020B0604030504040204" pitchFamily="34" charset="0"/>
                          <a:cs typeface="Verdana" panose="020B0604030504040204" pitchFamily="34" charset="0"/>
                        </a:rPr>
                        <a:t>$0.55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365651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
          <p:cNvSpPr>
            <a:spLocks noGrp="1"/>
          </p:cNvSpPr>
          <p:nvPr>
            <p:ph type="title"/>
          </p:nvPr>
        </p:nvSpPr>
        <p:spPr>
          <a:xfrm>
            <a:off x="304800" y="228601"/>
            <a:ext cx="8534400" cy="685800"/>
          </a:xfrm>
        </p:spPr>
        <p:txBody>
          <a:bodyPr/>
          <a:lstStyle/>
          <a:p>
            <a:pPr eaLnBrk="1" hangingPunct="1"/>
            <a:r>
              <a:rPr lang="en-US" dirty="0"/>
              <a:t>Target Profit Analysis</a:t>
            </a:r>
          </a:p>
        </p:txBody>
      </p:sp>
      <p:sp>
        <p:nvSpPr>
          <p:cNvPr id="4" name="Content Placeholder 3"/>
          <p:cNvSpPr>
            <a:spLocks noGrp="1"/>
          </p:cNvSpPr>
          <p:nvPr>
            <p:ph type="body" sz="quarter" idx="10"/>
          </p:nvPr>
        </p:nvSpPr>
        <p:spPr>
          <a:xfrm>
            <a:off x="457200" y="1066800"/>
            <a:ext cx="8229600" cy="1524000"/>
          </a:xfrm>
        </p:spPr>
        <p:txBody>
          <a:bodyPr/>
          <a:lstStyle/>
          <a:p>
            <a:r>
              <a:rPr lang="en-US" sz="2400" dirty="0"/>
              <a:t>If the Starbucks manager wants to earn a monthly profit of $9,000 and monthly fixed costs remain at $12,000, how many coffee and pastry units must be sold? </a:t>
            </a:r>
          </a:p>
        </p:txBody>
      </p:sp>
      <mc:AlternateContent xmlns:mc="http://schemas.openxmlformats.org/markup-compatibility/2006" xmlns:a14="http://schemas.microsoft.com/office/drawing/2010/main">
        <mc:Choice Requires="a14">
          <p:sp>
            <p:nvSpPr>
              <p:cNvPr id="6" name="Content Placeholder 5"/>
              <p:cNvSpPr>
                <a:spLocks noGrp="1"/>
              </p:cNvSpPr>
              <p:nvPr>
                <p:ph type="body" sz="quarter" idx="11"/>
              </p:nvPr>
            </p:nvSpPr>
            <p:spPr>
              <a:xfrm>
                <a:off x="304800" y="2738334"/>
                <a:ext cx="8534400" cy="3433865"/>
              </a:xfr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14:m>
                  <m:oMathPara xmlns:m="http://schemas.openxmlformats.org/officeDocument/2006/math">
                    <m:oMathParaPr>
                      <m:jc m:val="centerGroup"/>
                    </m:oMathParaPr>
                    <m:oMath xmlns:m="http://schemas.openxmlformats.org/officeDocument/2006/math">
                      <m:f>
                        <m:fPr>
                          <m:ctrlPr>
                            <a:rPr lang="en-US" sz="2100" i="1" smtClean="0">
                              <a:latin typeface="Cambria Math" panose="02040503050406030204" pitchFamily="18" charset="0"/>
                            </a:rPr>
                          </m:ctrlPr>
                        </m:fPr>
                        <m:num>
                          <m:r>
                            <m:rPr>
                              <m:sty m:val="p"/>
                            </m:rPr>
                            <a:rPr lang="en-US" sz="2100">
                              <a:latin typeface="Cambria Math" panose="02040503050406030204" pitchFamily="18" charset="0"/>
                            </a:rPr>
                            <m:t>Total</m:t>
                          </m:r>
                          <m:r>
                            <a:rPr lang="en-US" sz="2100">
                              <a:latin typeface="Cambria Math" panose="02040503050406030204" pitchFamily="18" charset="0"/>
                            </a:rPr>
                            <m:t> </m:t>
                          </m:r>
                          <m:r>
                            <m:rPr>
                              <m:sty m:val="p"/>
                            </m:rPr>
                            <a:rPr lang="en-US" sz="2100">
                              <a:latin typeface="Cambria Math" panose="02040503050406030204" pitchFamily="18" charset="0"/>
                            </a:rPr>
                            <m:t>Fixed</m:t>
                          </m:r>
                          <m:r>
                            <a:rPr lang="en-US" sz="2100">
                              <a:latin typeface="Cambria Math" panose="02040503050406030204" pitchFamily="18" charset="0"/>
                            </a:rPr>
                            <m:t> </m:t>
                          </m:r>
                          <m:r>
                            <m:rPr>
                              <m:sty m:val="p"/>
                            </m:rPr>
                            <a:rPr lang="en-US" sz="2100">
                              <a:latin typeface="Cambria Math" panose="02040503050406030204" pitchFamily="18" charset="0"/>
                            </a:rPr>
                            <m:t>Costs</m:t>
                          </m:r>
                          <m:r>
                            <a:rPr lang="en-US" sz="2100">
                              <a:latin typeface="Cambria Math" panose="02040503050406030204" pitchFamily="18" charset="0"/>
                            </a:rPr>
                            <m:t> </m:t>
                          </m:r>
                        </m:num>
                        <m:den>
                          <m:r>
                            <m:rPr>
                              <m:sty m:val="p"/>
                            </m:rPr>
                            <a:rPr lang="en-US" sz="2100">
                              <a:latin typeface="Cambria Math" panose="02040503050406030204" pitchFamily="18" charset="0"/>
                            </a:rPr>
                            <m:t>Weighted</m:t>
                          </m:r>
                          <m:r>
                            <a:rPr lang="en-US" sz="2100" i="1">
                              <a:latin typeface="Cambria Math" panose="02040503050406030204" pitchFamily="18" charset="0"/>
                            </a:rPr>
                            <m:t>−</m:t>
                          </m:r>
                          <m:r>
                            <m:rPr>
                              <m:sty m:val="p"/>
                            </m:rPr>
                            <a:rPr lang="en-US" sz="2100">
                              <a:latin typeface="Cambria Math" panose="02040503050406030204" pitchFamily="18" charset="0"/>
                            </a:rPr>
                            <m:t>Average</m:t>
                          </m:r>
                          <m:r>
                            <a:rPr lang="en-US" sz="2100">
                              <a:latin typeface="Cambria Math" panose="02040503050406030204" pitchFamily="18" charset="0"/>
                            </a:rPr>
                            <m:t> </m:t>
                          </m:r>
                          <m:r>
                            <m:rPr>
                              <m:sty m:val="p"/>
                            </m:rPr>
                            <a:rPr lang="en-US" sz="2100">
                              <a:latin typeface="Cambria Math" panose="02040503050406030204" pitchFamily="18" charset="0"/>
                            </a:rPr>
                            <m:t>Unit</m:t>
                          </m:r>
                          <m:r>
                            <a:rPr lang="en-US" sz="2100">
                              <a:latin typeface="Cambria Math" panose="02040503050406030204" pitchFamily="18" charset="0"/>
                            </a:rPr>
                            <m:t> </m:t>
                          </m:r>
                          <m:r>
                            <m:rPr>
                              <m:sty m:val="p"/>
                            </m:rPr>
                            <a:rPr lang="en-US" sz="2100">
                              <a:latin typeface="Cambria Math" panose="02040503050406030204" pitchFamily="18" charset="0"/>
                            </a:rPr>
                            <m:t>Contribution</m:t>
                          </m:r>
                          <m:r>
                            <a:rPr lang="en-US" sz="2100">
                              <a:latin typeface="Cambria Math" panose="02040503050406030204" pitchFamily="18" charset="0"/>
                            </a:rPr>
                            <m:t> </m:t>
                          </m:r>
                          <m:r>
                            <m:rPr>
                              <m:sty m:val="p"/>
                            </m:rPr>
                            <a:rPr lang="en-US" sz="2100">
                              <a:latin typeface="Cambria Math" panose="02040503050406030204" pitchFamily="18" charset="0"/>
                            </a:rPr>
                            <m:t>Margin</m:t>
                          </m:r>
                        </m:den>
                      </m:f>
                      <m:r>
                        <a:rPr lang="en-US" sz="2100">
                          <a:latin typeface="Cambria Math" panose="02040503050406030204" pitchFamily="18" charset="0"/>
                        </a:rPr>
                        <m:t>= </m:t>
                      </m:r>
                      <m:r>
                        <m:rPr>
                          <m:sty m:val="p"/>
                        </m:rPr>
                        <a:rPr lang="en-US" sz="2100">
                          <a:latin typeface="Cambria Math" panose="02040503050406030204" pitchFamily="18" charset="0"/>
                        </a:rPr>
                        <m:t>Break</m:t>
                      </m:r>
                      <m:r>
                        <a:rPr lang="en-US" sz="2100" i="1">
                          <a:latin typeface="Cambria Math" panose="02040503050406030204" pitchFamily="18" charset="0"/>
                        </a:rPr>
                        <m:t>−</m:t>
                      </m:r>
                      <m:r>
                        <m:rPr>
                          <m:sty m:val="p"/>
                        </m:rPr>
                        <a:rPr lang="en-US" sz="2100">
                          <a:latin typeface="Cambria Math" panose="02040503050406030204" pitchFamily="18" charset="0"/>
                        </a:rPr>
                        <m:t>Even</m:t>
                      </m:r>
                      <m:r>
                        <a:rPr lang="en-US" sz="2100">
                          <a:latin typeface="Cambria Math" panose="02040503050406030204" pitchFamily="18" charset="0"/>
                        </a:rPr>
                        <m:t> </m:t>
                      </m:r>
                      <m:r>
                        <m:rPr>
                          <m:sty m:val="p"/>
                        </m:rPr>
                        <a:rPr lang="en-US" sz="2100">
                          <a:latin typeface="Cambria Math" panose="02040503050406030204" pitchFamily="18" charset="0"/>
                        </a:rPr>
                        <m:t>Units</m:t>
                      </m:r>
                      <m:r>
                        <a:rPr lang="en-US" sz="2100">
                          <a:latin typeface="Cambria Math" panose="02040503050406030204" pitchFamily="18" charset="0"/>
                        </a:rPr>
                        <m:t> </m:t>
                      </m:r>
                    </m:oMath>
                  </m:oMathPara>
                </a14:m>
                <a:endParaRPr lang="en-US" sz="2100" dirty="0"/>
              </a:p>
              <a:p>
                <a:endParaRPr lang="en-US" sz="1800" dirty="0"/>
              </a:p>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$12,000</m:t>
                          </m:r>
                          <m:r>
                            <a:rPr lang="en-US" sz="2400" b="0" i="1" smtClean="0">
                              <a:latin typeface="Cambria Math" panose="02040503050406030204" pitchFamily="18" charset="0"/>
                            </a:rPr>
                            <m:t>+$9,000</m:t>
                          </m:r>
                        </m:num>
                        <m:den>
                          <m:r>
                            <a:rPr lang="en-US" sz="2400">
                              <a:latin typeface="Cambria Math" panose="02040503050406030204" pitchFamily="18" charset="0"/>
                            </a:rPr>
                            <m:t>$</m:t>
                          </m:r>
                          <m:r>
                            <a:rPr lang="en-US" sz="2400" b="0" i="0" smtClean="0">
                              <a:latin typeface="Cambria Math" panose="02040503050406030204" pitchFamily="18" charset="0"/>
                            </a:rPr>
                            <m:t>1.75</m:t>
                          </m:r>
                        </m:den>
                      </m:f>
                      <m:r>
                        <a:rPr lang="en-US" sz="2400">
                          <a:latin typeface="Cambria Math" panose="02040503050406030204" pitchFamily="18" charset="0"/>
                        </a:rPr>
                        <m:t>=</m:t>
                      </m:r>
                      <m:r>
                        <a:rPr lang="en-US" sz="2400" b="0" i="1" smtClean="0">
                          <a:latin typeface="Cambria Math" panose="02040503050406030204" pitchFamily="18" charset="0"/>
                        </a:rPr>
                        <m:t>12</m:t>
                      </m:r>
                      <m:r>
                        <a:rPr lang="en-US" sz="2400" i="1">
                          <a:latin typeface="Cambria Math" panose="02040503050406030204" pitchFamily="18" charset="0"/>
                        </a:rPr>
                        <m:t>,000 </m:t>
                      </m:r>
                      <m:r>
                        <m:rPr>
                          <m:sty m:val="p"/>
                        </m:rPr>
                        <a:rPr lang="en-US" sz="2400">
                          <a:latin typeface="Cambria Math" panose="02040503050406030204" pitchFamily="18" charset="0"/>
                        </a:rPr>
                        <m:t>Units</m:t>
                      </m:r>
                      <m:r>
                        <a:rPr lang="en-US" sz="2400">
                          <a:latin typeface="Cambria Math" panose="02040503050406030204" pitchFamily="18" charset="0"/>
                        </a:rPr>
                        <m:t> </m:t>
                      </m:r>
                    </m:oMath>
                  </m:oMathPara>
                </a14:m>
                <a:endParaRPr lang="en-US" sz="2400" dirty="0"/>
              </a:p>
              <a:p>
                <a:endParaRPr lang="en-US" sz="2400" dirty="0"/>
              </a:p>
              <a:p>
                <a:r>
                  <a:rPr lang="en-US" sz="2400" dirty="0"/>
                  <a:t>Coffee Units = 12,000 × 80% = 9,600</a:t>
                </a:r>
              </a:p>
              <a:p>
                <a:r>
                  <a:rPr lang="en-US" sz="2400" dirty="0"/>
                  <a:t>Pastry Units = 12,000 × 20% = 2,400</a:t>
                </a:r>
              </a:p>
              <a:p>
                <a:endParaRPr lang="en-US" sz="2400" dirty="0"/>
              </a:p>
              <a:p>
                <a:endParaRPr lang="en-US" sz="2400" dirty="0"/>
              </a:p>
            </p:txBody>
          </p:sp>
        </mc:Choice>
        <mc:Fallback xmlns="">
          <p:sp>
            <p:nvSpPr>
              <p:cNvPr id="6" name="Content Placeholder 5"/>
              <p:cNvSpPr>
                <a:spLocks noGrp="1" noRot="1" noChangeAspect="1" noMove="1" noResize="1" noEditPoints="1" noAdjustHandles="1" noChangeArrowheads="1" noChangeShapeType="1" noTextEdit="1"/>
              </p:cNvSpPr>
              <p:nvPr>
                <p:ph type="body" sz="quarter" idx="11"/>
              </p:nvPr>
            </p:nvSpPr>
            <p:spPr>
              <a:xfrm>
                <a:off x="304800" y="2738334"/>
                <a:ext cx="8534400" cy="3433865"/>
              </a:xfrm>
              <a:blipFill>
                <a:blip r:embed="rId3"/>
                <a:stretch>
                  <a:fillRect l="-10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23783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p:cNvSpPr>
            <a:spLocks noGrp="1"/>
          </p:cNvSpPr>
          <p:nvPr>
            <p:ph type="title"/>
          </p:nvPr>
        </p:nvSpPr>
        <p:spPr>
          <a:xfrm>
            <a:off x="304800" y="228601"/>
            <a:ext cx="8534400" cy="609599"/>
          </a:xfrm>
        </p:spPr>
        <p:txBody>
          <a:bodyPr/>
          <a:lstStyle/>
          <a:p>
            <a:pPr eaLnBrk="1" hangingPunct="1"/>
            <a:r>
              <a:rPr lang="en-US" dirty="0"/>
              <a:t>Target Profit Analysis</a:t>
            </a:r>
          </a:p>
        </p:txBody>
      </p:sp>
      <p:sp>
        <p:nvSpPr>
          <p:cNvPr id="4" name="Text Placeholder 6"/>
          <p:cNvSpPr>
            <a:spLocks noGrp="1"/>
          </p:cNvSpPr>
          <p:nvPr>
            <p:ph type="body" sz="quarter" idx="10"/>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pic>
        <p:nvPicPr>
          <p:cNvPr id="6" name="Picture 2" descr="Starbucks Coffee&#10;Contribution Margin Income Statement&#10;Based on target profit of $9,000&#10;Sales revenue for coffee, at 9,600 units sold) was $2.50 per unit for a total of $24,000. Pastries, at 2,400 units sold, were $4.00 per unit for a total of $9,600. Total overall for 12,000 units was $33,600.&#10;Less variable costs: Coffee is 1.00 per unit for a total of $9,600; Pastries, at 1.25 per unit, total $3,000, for a final total of $12,600.&#10;Contribution margin: Coffee is 1.50 per unit for a total of $14,400; pastries are 2.75 per unit for a total of $6,600, for a final total of $21,000.&#10;Less fixed costs of $12,000, the Net operating income is $9,000." title="Starbucks Contribution Margin Income Statement "/>
          <p:cNvPicPr>
            <a:picLocks noChangeAspect="1" noChangeArrowheads="1"/>
          </p:cNvPicPr>
          <p:nvPr/>
        </p:nvPicPr>
        <p:blipFill>
          <a:blip r:embed="rId3" cstate="print"/>
          <a:srcRect/>
          <a:stretch>
            <a:fillRect/>
          </a:stretch>
        </p:blipFill>
        <p:spPr bwMode="auto">
          <a:xfrm>
            <a:off x="606786" y="1437448"/>
            <a:ext cx="7912966" cy="3580534"/>
          </a:xfrm>
          <a:prstGeom prst="rect">
            <a:avLst/>
          </a:prstGeom>
          <a:noFill/>
          <a:ln w="9525">
            <a:noFill/>
            <a:miter lim="800000"/>
            <a:headEnd/>
            <a:tailEnd/>
          </a:ln>
        </p:spPr>
      </p:pic>
    </p:spTree>
    <p:extLst>
      <p:ext uri="{BB962C8B-B14F-4D97-AF65-F5344CB8AC3E}">
        <p14:creationId xmlns:p14="http://schemas.microsoft.com/office/powerpoint/2010/main" val="20418455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5713" name="Title 1"/>
          <p:cNvSpPr>
            <a:spLocks noGrp="1"/>
          </p:cNvSpPr>
          <p:nvPr>
            <p:ph type="title"/>
          </p:nvPr>
        </p:nvSpPr>
        <p:spPr>
          <a:xfrm>
            <a:off x="480059" y="2053641"/>
            <a:ext cx="2751871" cy="2760098"/>
          </a:xfrm>
        </p:spPr>
        <p:txBody>
          <a:bodyPr>
            <a:normAutofit/>
          </a:bodyPr>
          <a:lstStyle/>
          <a:p>
            <a:pPr eaLnBrk="1" hangingPunct="1"/>
            <a:r>
              <a:rPr lang="en-US">
                <a:solidFill>
                  <a:srgbClr val="FFFFFF"/>
                </a:solidFill>
              </a:rPr>
              <a:t>Weighted-Average Contribution Margin Ratio</a:t>
            </a:r>
          </a:p>
        </p:txBody>
      </p:sp>
      <p:sp>
        <p:nvSpPr>
          <p:cNvPr id="2" name="Content Placeholder 1"/>
          <p:cNvSpPr>
            <a:spLocks noGrp="1"/>
          </p:cNvSpPr>
          <p:nvPr>
            <p:ph idx="1"/>
          </p:nvPr>
        </p:nvSpPr>
        <p:spPr>
          <a:xfrm>
            <a:off x="4567930" y="801866"/>
            <a:ext cx="3979563" cy="5230634"/>
          </a:xfrm>
        </p:spPr>
        <p:txBody>
          <a:bodyPr anchor="ctr">
            <a:normAutofit/>
          </a:bodyPr>
          <a:lstStyle/>
          <a:p>
            <a:pPr fontAlgn="auto">
              <a:spcBef>
                <a:spcPts val="0"/>
              </a:spcBef>
              <a:spcAft>
                <a:spcPts val="1500"/>
              </a:spcAft>
              <a:defRPr/>
            </a:pPr>
            <a:r>
              <a:rPr lang="en-US" dirty="0">
                <a:solidFill>
                  <a:srgbClr val="000000"/>
                </a:solidFill>
              </a:rPr>
              <a:t>We can also do multiproduct CVP analysis by using the sales mix (stated in terms of total sales dollars) to compute the weighted-average contribution margin ratio.</a:t>
            </a:r>
          </a:p>
          <a:p>
            <a:pPr fontAlgn="auto">
              <a:spcBef>
                <a:spcPts val="0"/>
              </a:spcBef>
              <a:spcAft>
                <a:spcPts val="0"/>
              </a:spcAft>
              <a:defRPr/>
            </a:pPr>
            <a:r>
              <a:rPr lang="en-US" dirty="0">
                <a:solidFill>
                  <a:srgbClr val="000000"/>
                </a:solidFill>
              </a:rPr>
              <a:t>This approach is commonly used in business because managers often have aggregated information about revenue and costs by product line.</a:t>
            </a:r>
          </a:p>
        </p:txBody>
      </p:sp>
    </p:spTree>
    <p:extLst>
      <p:ext uri="{BB962C8B-B14F-4D97-AF65-F5344CB8AC3E}">
        <p14:creationId xmlns:p14="http://schemas.microsoft.com/office/powerpoint/2010/main" val="244991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p:cNvSpPr>
            <a:spLocks noGrp="1"/>
          </p:cNvSpPr>
          <p:nvPr>
            <p:ph type="title"/>
          </p:nvPr>
        </p:nvSpPr>
        <p:spPr>
          <a:xfrm>
            <a:off x="304800" y="231775"/>
            <a:ext cx="8534400" cy="1139825"/>
          </a:xfrm>
        </p:spPr>
        <p:txBody>
          <a:bodyPr/>
          <a:lstStyle/>
          <a:p>
            <a:pPr eaLnBrk="1" hangingPunct="1"/>
            <a:r>
              <a:rPr lang="en-US" dirty="0"/>
              <a:t>Weighted-Average Contribution Margin Ratio</a:t>
            </a:r>
          </a:p>
        </p:txBody>
      </p:sp>
      <p:sp>
        <p:nvSpPr>
          <p:cNvPr id="5" name="Text Placeholder 6"/>
          <p:cNvSpPr>
            <a:spLocks noGrp="1"/>
          </p:cNvSpPr>
          <p:nvPr>
            <p:ph type="body" sz="quarter" idx="10"/>
          </p:nvPr>
        </p:nvSpPr>
        <p:spPr>
          <a:xfrm>
            <a:off x="609600" y="6629400"/>
            <a:ext cx="8077200" cy="228600"/>
          </a:xfrm>
        </p:spPr>
        <p:txBody>
          <a:bodyPr/>
          <a:lstStyle/>
          <a:p>
            <a:pPr algn="ctr"/>
            <a:r>
              <a:rPr lang="en-US" sz="800" dirty="0"/>
              <a:t>Copyright ©2020 McGraw-Hill Education. All rights reserved. No reproduction or distribution without the prior written consent of McGraw-Hill Education. </a:t>
            </a:r>
          </a:p>
        </p:txBody>
      </p:sp>
      <p:pic>
        <p:nvPicPr>
          <p:cNvPr id="6" name="Picture 3" descr="Starbucks Coffee&#10;Contribution Margin Income Statement&#10;Based on target profit of $9,000&#10;Sales revenue: Coffee was $24,000 at 100%; pastries were $9,600 at 100% for a total revenue of $33,600 at 100%&#10;Less variable costs: Coffee is $9,600 at 40%; pastries are $3,000 at 31.25 percent, for a total of $12,600 at 37.5 percent.&#10;Contribution margin: coffee is $14,000 at 60%; pastries are $6,600 at 68.75 percent for an overall total of $21,000 at 62.5 percent.&#10;Less fixed costs of 12,000, the net operating income is $9,000." title="Weighted Average on Starbucks Income Statement"/>
          <p:cNvPicPr>
            <a:picLocks noChangeAspect="1" noChangeArrowheads="1"/>
          </p:cNvPicPr>
          <p:nvPr/>
        </p:nvPicPr>
        <p:blipFill>
          <a:blip r:embed="rId3" cstate="print"/>
          <a:srcRect/>
          <a:stretch>
            <a:fillRect/>
          </a:stretch>
        </p:blipFill>
        <p:spPr bwMode="auto">
          <a:xfrm>
            <a:off x="699655" y="1774537"/>
            <a:ext cx="7758545" cy="3486727"/>
          </a:xfrm>
          <a:prstGeom prst="rect">
            <a:avLst/>
          </a:prstGeom>
          <a:noFill/>
          <a:ln w="9525">
            <a:noFill/>
            <a:miter lim="800000"/>
            <a:headEnd/>
            <a:tailEnd/>
          </a:ln>
        </p:spPr>
      </p:pic>
      <p:sp>
        <p:nvSpPr>
          <p:cNvPr id="2" name="TextBox 1">
            <a:extLst>
              <a:ext uri="{FF2B5EF4-FFF2-40B4-BE49-F238E27FC236}">
                <a16:creationId xmlns:a16="http://schemas.microsoft.com/office/drawing/2014/main" id="{E1EB452A-F92A-7A48-A4EF-9257CA4F2968}"/>
              </a:ext>
            </a:extLst>
          </p:cNvPr>
          <p:cNvSpPr txBox="1"/>
          <p:nvPr/>
        </p:nvSpPr>
        <p:spPr>
          <a:xfrm>
            <a:off x="838200" y="5261264"/>
            <a:ext cx="7619999" cy="923330"/>
          </a:xfrm>
          <a:prstGeom prst="rect">
            <a:avLst/>
          </a:prstGeom>
          <a:noFill/>
        </p:spPr>
        <p:txBody>
          <a:bodyPr wrap="square" rtlCol="0">
            <a:spAutoFit/>
          </a:bodyPr>
          <a:lstStyle/>
          <a:p>
            <a:r>
              <a:rPr lang="en-CN" dirty="0"/>
              <a:t>Sales Mix:</a:t>
            </a:r>
          </a:p>
          <a:p>
            <a:r>
              <a:rPr lang="en-CN" dirty="0"/>
              <a:t>  Pastries</a:t>
            </a:r>
            <a:r>
              <a:rPr lang="en-CN"/>
              <a:t>:   $</a:t>
            </a:r>
            <a:r>
              <a:rPr lang="en-CN" dirty="0"/>
              <a:t>9,600/$33,600=28.57%</a:t>
            </a:r>
          </a:p>
          <a:p>
            <a:r>
              <a:rPr lang="en-CN" dirty="0"/>
              <a:t>  Coffee:     $24,000/$33,600=71.43%</a:t>
            </a:r>
          </a:p>
        </p:txBody>
      </p:sp>
    </p:spTree>
    <p:extLst>
      <p:ext uri="{BB962C8B-B14F-4D97-AF65-F5344CB8AC3E}">
        <p14:creationId xmlns:p14="http://schemas.microsoft.com/office/powerpoint/2010/main" val="27456024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p:cNvSpPr>
            <a:spLocks noGrp="1"/>
          </p:cNvSpPr>
          <p:nvPr>
            <p:ph type="title"/>
          </p:nvPr>
        </p:nvSpPr>
        <p:spPr>
          <a:xfrm>
            <a:off x="304800" y="228601"/>
            <a:ext cx="8534400" cy="1066799"/>
          </a:xfrm>
        </p:spPr>
        <p:txBody>
          <a:bodyPr>
            <a:normAutofit/>
          </a:bodyPr>
          <a:lstStyle/>
          <a:p>
            <a:pPr eaLnBrk="1" hangingPunct="1"/>
            <a:r>
              <a:rPr lang="en-US" dirty="0"/>
              <a:t>Weighted-Average Contribution </a:t>
            </a:r>
            <a:r>
              <a:rPr lang="en-US"/>
              <a:t>Margin Ratio</a:t>
            </a:r>
            <a:endParaRPr lang="en-US" dirty="0"/>
          </a:p>
        </p:txBody>
      </p:sp>
      <p:sp>
        <p:nvSpPr>
          <p:cNvPr id="2" name="Content Placeholder 1"/>
          <p:cNvSpPr>
            <a:spLocks noGrp="1"/>
          </p:cNvSpPr>
          <p:nvPr>
            <p:ph type="body" sz="quarter" idx="10"/>
          </p:nvPr>
        </p:nvSpPr>
        <p:spPr>
          <a:xfrm>
            <a:off x="457200" y="1524000"/>
            <a:ext cx="8229600" cy="838200"/>
          </a:xfrm>
        </p:spPr>
        <p:txBody>
          <a:bodyPr/>
          <a:lstStyle/>
          <a:p>
            <a:r>
              <a:rPr lang="en-US" sz="2400" dirty="0"/>
              <a:t>Assume that the Starbucks’ manager wants to earn a target profit of $15,000</a:t>
            </a:r>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1"/>
              </p:nvPr>
            </p:nvSpPr>
            <p:spPr>
              <a:xfrm>
                <a:off x="152400" y="2514600"/>
                <a:ext cx="8763000" cy="3810000"/>
              </a:xfr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m:rPr>
                              <m:sty m:val="p"/>
                            </m:rPr>
                            <a:rPr lang="en-US" sz="2000">
                              <a:latin typeface="Cambria Math" panose="02040503050406030204" pitchFamily="18" charset="0"/>
                            </a:rPr>
                            <m:t>Total</m:t>
                          </m:r>
                          <m:r>
                            <a:rPr lang="en-US" sz="2000">
                              <a:latin typeface="Cambria Math" panose="02040503050406030204" pitchFamily="18" charset="0"/>
                            </a:rPr>
                            <m:t> </m:t>
                          </m:r>
                          <m:r>
                            <m:rPr>
                              <m:sty m:val="p"/>
                            </m:rPr>
                            <a:rPr lang="en-US" sz="2000">
                              <a:latin typeface="Cambria Math" panose="02040503050406030204" pitchFamily="18" charset="0"/>
                            </a:rPr>
                            <m:t>Fixed</m:t>
                          </m:r>
                          <m:r>
                            <a:rPr lang="en-US" sz="2000">
                              <a:latin typeface="Cambria Math" panose="02040503050406030204" pitchFamily="18" charset="0"/>
                            </a:rPr>
                            <m:t> </m:t>
                          </m:r>
                          <m:r>
                            <m:rPr>
                              <m:sty m:val="p"/>
                            </m:rPr>
                            <a:rPr lang="en-US" sz="2000">
                              <a:latin typeface="Cambria Math" panose="02040503050406030204" pitchFamily="18" charset="0"/>
                            </a:rPr>
                            <m:t>Costs</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Target</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Profit</m:t>
                          </m:r>
                          <m:r>
                            <a:rPr lang="en-US" sz="2000">
                              <a:latin typeface="Cambria Math" panose="02040503050406030204" pitchFamily="18" charset="0"/>
                            </a:rPr>
                            <m:t> </m:t>
                          </m:r>
                        </m:num>
                        <m:den>
                          <m:r>
                            <m:rPr>
                              <m:sty m:val="p"/>
                            </m:rPr>
                            <a:rPr lang="en-US" sz="2000">
                              <a:latin typeface="Cambria Math" panose="02040503050406030204" pitchFamily="18" charset="0"/>
                            </a:rPr>
                            <m:t>Weighted</m:t>
                          </m:r>
                          <m:r>
                            <a:rPr lang="en-US" sz="2000" i="1">
                              <a:latin typeface="Cambria Math" panose="02040503050406030204" pitchFamily="18" charset="0"/>
                            </a:rPr>
                            <m:t>−</m:t>
                          </m:r>
                          <m:r>
                            <m:rPr>
                              <m:sty m:val="p"/>
                            </m:rPr>
                            <a:rPr lang="en-US" sz="2000">
                              <a:latin typeface="Cambria Math" panose="02040503050406030204" pitchFamily="18" charset="0"/>
                            </a:rPr>
                            <m:t>Average</m:t>
                          </m:r>
                          <m:r>
                            <a:rPr lang="en-US" sz="2000">
                              <a:latin typeface="Cambria Math" panose="02040503050406030204" pitchFamily="18" charset="0"/>
                            </a:rPr>
                            <m:t> </m:t>
                          </m:r>
                          <m:r>
                            <m:rPr>
                              <m:sty m:val="p"/>
                            </m:rPr>
                            <a:rPr lang="en-US" sz="2000">
                              <a:latin typeface="Cambria Math" panose="02040503050406030204" pitchFamily="18" charset="0"/>
                            </a:rPr>
                            <m:t>Unit</m:t>
                          </m:r>
                          <m:r>
                            <a:rPr lang="en-US" sz="2000">
                              <a:latin typeface="Cambria Math" panose="02040503050406030204" pitchFamily="18" charset="0"/>
                            </a:rPr>
                            <m:t> </m:t>
                          </m:r>
                          <m:r>
                            <m:rPr>
                              <m:sty m:val="p"/>
                            </m:rPr>
                            <a:rPr lang="en-US" sz="2000">
                              <a:latin typeface="Cambria Math" panose="02040503050406030204" pitchFamily="18" charset="0"/>
                            </a:rPr>
                            <m:t>Contribution</m:t>
                          </m:r>
                          <m:r>
                            <a:rPr lang="en-US" sz="2000">
                              <a:latin typeface="Cambria Math" panose="02040503050406030204" pitchFamily="18" charset="0"/>
                            </a:rPr>
                            <m:t> </m:t>
                          </m:r>
                          <m:r>
                            <m:rPr>
                              <m:sty m:val="p"/>
                            </m:rPr>
                            <a:rPr lang="en-US" sz="2000">
                              <a:latin typeface="Cambria Math" panose="02040503050406030204" pitchFamily="18" charset="0"/>
                            </a:rPr>
                            <m:t>Margin</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Ratio</m:t>
                          </m:r>
                          <m:r>
                            <a:rPr lang="en-US" sz="2000" b="0" i="0" smtClean="0">
                              <a:latin typeface="Cambria Math" panose="02040503050406030204" pitchFamily="18" charset="0"/>
                            </a:rPr>
                            <m:t> %</m:t>
                          </m:r>
                        </m:den>
                      </m:f>
                      <m:r>
                        <a:rPr lang="en-US" sz="2000">
                          <a:latin typeface="Cambria Math" panose="02040503050406030204" pitchFamily="18" charset="0"/>
                        </a:rPr>
                        <m:t>=</m:t>
                      </m:r>
                      <m:r>
                        <m:rPr>
                          <m:sty m:val="p"/>
                        </m:rPr>
                        <a:rPr lang="en-US" sz="2000" b="0" i="0" smtClean="0">
                          <a:latin typeface="Cambria Math" panose="02040503050406030204" pitchFamily="18" charset="0"/>
                        </a:rPr>
                        <m:t>Target</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Sales</m:t>
                      </m:r>
                      <m:r>
                        <a:rPr lang="en-US" sz="2000" b="0" i="0" smtClean="0">
                          <a:latin typeface="Cambria Math" panose="02040503050406030204" pitchFamily="18" charset="0"/>
                        </a:rPr>
                        <m:t> ($)</m:t>
                      </m:r>
                    </m:oMath>
                  </m:oMathPara>
                </a14:m>
                <a:endParaRPr lang="en-US" sz="2000" dirty="0"/>
              </a:p>
              <a:p>
                <a:endParaRPr lang="en-US" sz="2000" dirty="0"/>
              </a:p>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$12,000</m:t>
                          </m:r>
                          <m:r>
                            <a:rPr lang="en-US" i="1">
                              <a:latin typeface="Cambria Math" panose="02040503050406030204" pitchFamily="18" charset="0"/>
                            </a:rPr>
                            <m:t>+$</m:t>
                          </m:r>
                          <m:r>
                            <a:rPr lang="en-US" b="0" i="1" smtClean="0">
                              <a:latin typeface="Cambria Math" panose="02040503050406030204" pitchFamily="18" charset="0"/>
                            </a:rPr>
                            <m:t>15</m:t>
                          </m:r>
                          <m:r>
                            <a:rPr lang="en-US" i="1">
                              <a:latin typeface="Cambria Math" panose="02040503050406030204" pitchFamily="18" charset="0"/>
                            </a:rPr>
                            <m:t>,000</m:t>
                          </m:r>
                        </m:num>
                        <m:den>
                          <m:r>
                            <a:rPr lang="en-US" b="0" i="0" smtClean="0">
                              <a:latin typeface="Cambria Math" panose="02040503050406030204" pitchFamily="18" charset="0"/>
                            </a:rPr>
                            <m:t>62.5%</m:t>
                          </m:r>
                        </m:den>
                      </m:f>
                      <m:r>
                        <a:rPr lang="en-US">
                          <a:latin typeface="Cambria Math" panose="02040503050406030204" pitchFamily="18" charset="0"/>
                        </a:rPr>
                        <m:t>=</m:t>
                      </m:r>
                      <m:r>
                        <a:rPr lang="en-US" b="0" i="1" smtClean="0">
                          <a:latin typeface="Cambria Math" panose="02040503050406030204" pitchFamily="18" charset="0"/>
                        </a:rPr>
                        <m:t>$43,200</m:t>
                      </m:r>
                    </m:oMath>
                  </m:oMathPara>
                </a14:m>
                <a:endParaRPr lang="en-US" dirty="0"/>
              </a:p>
              <a:p>
                <a:endParaRPr lang="en-US" sz="2400" dirty="0"/>
              </a:p>
              <a:p>
                <a:r>
                  <a:rPr lang="en-US" sz="2400" dirty="0"/>
                  <a:t>Coffee Sales Revenue = $43,200 × 71.43% = $30,858</a:t>
                </a:r>
              </a:p>
              <a:p>
                <a:r>
                  <a:rPr lang="en-US" sz="2400" dirty="0"/>
                  <a:t>Pastry Sales Revenue = $43,200 × 28.57% = $12,342</a:t>
                </a:r>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1"/>
              </p:nvPr>
            </p:nvSpPr>
            <p:spPr>
              <a:xfrm>
                <a:off x="152400" y="2514600"/>
                <a:ext cx="8763000" cy="3810000"/>
              </a:xfrm>
              <a:blipFill>
                <a:blip r:embed="rId3"/>
                <a:stretch>
                  <a:fillRect l="-104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extBox 3"/>
          <p:cNvSpPr txBox="1"/>
          <p:nvPr/>
        </p:nvSpPr>
        <p:spPr>
          <a:xfrm>
            <a:off x="8686800" y="6596390"/>
            <a:ext cx="609600" cy="261610"/>
          </a:xfrm>
          <a:prstGeom prst="rect">
            <a:avLst/>
          </a:prstGeom>
          <a:noFill/>
        </p:spPr>
        <p:txBody>
          <a:bodyPr wrap="square" rtlCol="0">
            <a:spAutoFit/>
          </a:bodyPr>
          <a:lstStyle/>
          <a:p>
            <a:r>
              <a:rPr lang="en-US" sz="1100" dirty="0"/>
              <a:t>6-48</a:t>
            </a:r>
          </a:p>
        </p:txBody>
      </p:sp>
    </p:spTree>
    <p:extLst>
      <p:ext uri="{BB962C8B-B14F-4D97-AF65-F5344CB8AC3E}">
        <p14:creationId xmlns:p14="http://schemas.microsoft.com/office/powerpoint/2010/main" val="1449331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1413968</TotalTime>
  <Words>8453</Words>
  <Application>Microsoft Macintosh PowerPoint</Application>
  <PresentationFormat>On-screen Show (4:3)</PresentationFormat>
  <Paragraphs>547</Paragraphs>
  <Slides>48</Slides>
  <Notes>48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7" baseType="lpstr">
      <vt:lpstr>Arial</vt:lpstr>
      <vt:lpstr>Arial Rounded MT Bold</vt:lpstr>
      <vt:lpstr>Calibri</vt:lpstr>
      <vt:lpstr>Calibri Light</vt:lpstr>
      <vt:lpstr>Cambria Math</vt:lpstr>
      <vt:lpstr>Verdana</vt:lpstr>
      <vt:lpstr>Wingdings</vt:lpstr>
      <vt:lpstr>Office Theme</vt:lpstr>
      <vt:lpstr>Equation</vt:lpstr>
      <vt:lpstr>Chapter 6</vt:lpstr>
      <vt:lpstr>Assumptions of CVP</vt:lpstr>
      <vt:lpstr>Cost-Volume-Profit Graph</vt:lpstr>
      <vt:lpstr>Cost-Volume-Profit Graph</vt:lpstr>
      <vt:lpstr>Cost-Volume-Profit in Graph</vt:lpstr>
      <vt:lpstr>Learning Objective 6-1</vt:lpstr>
      <vt:lpstr>Basic CVP Analysis</vt:lpstr>
      <vt:lpstr>Profit Equation Method</vt:lpstr>
      <vt:lpstr>Profit Equation Method (2 of 2)</vt:lpstr>
      <vt:lpstr>Learning Objective 6-2</vt:lpstr>
      <vt:lpstr>Profit Equation Method</vt:lpstr>
      <vt:lpstr>Unit Contribution Margin Method</vt:lpstr>
      <vt:lpstr>Unit Contribution Margin Method</vt:lpstr>
      <vt:lpstr>Unit Contribution Margin Method</vt:lpstr>
      <vt:lpstr>Unit Contribution Margin Method</vt:lpstr>
      <vt:lpstr>Contribution Margin Ratio Method</vt:lpstr>
      <vt:lpstr>Contribution Margin Ratio Method (2 of 3)</vt:lpstr>
      <vt:lpstr>Contribution Margin Ratio Method (3 of 3)</vt:lpstr>
      <vt:lpstr>Learning Objective 6-3</vt:lpstr>
      <vt:lpstr>Margin of Safety</vt:lpstr>
      <vt:lpstr>Margin of Safety</vt:lpstr>
      <vt:lpstr>Learning Objective 6-4</vt:lpstr>
      <vt:lpstr>Changing Prices</vt:lpstr>
      <vt:lpstr>Changing Prices</vt:lpstr>
      <vt:lpstr>Changing Variable Costs and Volume</vt:lpstr>
      <vt:lpstr>Changing Variable Costs and Volume</vt:lpstr>
      <vt:lpstr>Changing Fixed Costs and Prices</vt:lpstr>
      <vt:lpstr>Changing Fixed Costs and Prices</vt:lpstr>
      <vt:lpstr>Changes in Cost Structure</vt:lpstr>
      <vt:lpstr>Changes in Cost Structure</vt:lpstr>
      <vt:lpstr>Changes in Cost Structure (3 of 3)</vt:lpstr>
      <vt:lpstr>Learning Objective 6-5</vt:lpstr>
      <vt:lpstr>Changes in Cost Structure (1 of 2)</vt:lpstr>
      <vt:lpstr>Changes in Cost Structure</vt:lpstr>
      <vt:lpstr>Degree of Operating Leverage</vt:lpstr>
      <vt:lpstr>Degree of Operating Leverage</vt:lpstr>
      <vt:lpstr>Degree of Operating Leverage (3 of 3)</vt:lpstr>
      <vt:lpstr>Learning Objective 6-6</vt:lpstr>
      <vt:lpstr>Multi-Product Cost-Volume-Profit Analysis</vt:lpstr>
      <vt:lpstr>Weighted-Average Contribution Margin</vt:lpstr>
      <vt:lpstr>Weighted-Average Contribution Margin</vt:lpstr>
      <vt:lpstr>Break-Even Analysis</vt:lpstr>
      <vt:lpstr>Target Profit Analysis</vt:lpstr>
      <vt:lpstr>Target Profit Analysis</vt:lpstr>
      <vt:lpstr>Target Profit Analysis</vt:lpstr>
      <vt:lpstr>Weighted-Average Contribution Margin Ratio</vt:lpstr>
      <vt:lpstr>Weighted-Average Contribution Margin Ratio</vt:lpstr>
      <vt:lpstr>Weighted-Average Contribution Margin Ratio</vt:lpstr>
    </vt:vector>
  </TitlesOfParts>
  <Company>Jon A. Booker, Ph.D., CPA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Cost-Volume-Profit Analysis</dc:title>
  <dc:creator>Whitecotton</dc:creator>
  <cp:lastModifiedBy>Arthur Morris</cp:lastModifiedBy>
  <cp:revision>774</cp:revision>
  <dcterms:created xsi:type="dcterms:W3CDTF">2004-06-28T16:23:55Z</dcterms:created>
  <dcterms:modified xsi:type="dcterms:W3CDTF">2021-03-08T04:54:20Z</dcterms:modified>
</cp:coreProperties>
</file>